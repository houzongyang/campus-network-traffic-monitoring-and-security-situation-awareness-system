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3840480"/>
            <a:ext cx="2286000" cy="1303020"/>
          </a:xfrm>
          <a:prstGeom prst="rect">
            <a:avLst/>
          </a:prstGeom>
          <a:solidFill>
            <a:srgbClr val="142038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3840480"/>
            <a:ext cx="22860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1828800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120"/>
                </a:solidFill>
              </a:rPr>
              <a:t>A19 · 智能计算 · 应用类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F0FE"/>
                </a:solidFill>
              </a:rPr>
              <a:t>面向智慧校园的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21762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D4FF"/>
                </a:solidFill>
              </a:rPr>
              <a:t>细粒度网络流量监控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F0FE"/>
                </a:solidFill>
              </a:rPr>
              <a:t>与安全态势感知系统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99BB"/>
                </a:solidFill>
              </a:rPr>
              <a:t>High-Granularity Network Traffic Monitoring &amp; Security Situational Awareness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4572000" cy="27432"/>
          </a:xfrm>
          <a:prstGeom prst="rect">
            <a:avLst/>
          </a:prstGeom>
          <a:solidFill>
            <a:srgbClr val="00D4FF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931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参赛院校：苏州大学    |    赛道：企业命题（A类）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371600"/>
            <a:ext cx="1371600" cy="13716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903720" y="28346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</a:rPr>
              <a:t>REAL-TIME SECURITY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903720" y="30906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BB"/>
                </a:solidFill>
              </a:rPr>
              <a:t>10Gbps+ · 27协议 · 10种威胁检测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903720" y="334670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B61FF"/>
                </a:solidFill>
              </a:rPr>
              <a:t>Sec / Monitor / Analyze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01  BACKGROUND &amp; PAIN POINTS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项目背景与痛点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9BB"/>
                </a:solidFill>
              </a:rPr>
              <a:t>三大核心挑战：看不清 · 查不到 · 防不住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09728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508760"/>
            <a:ext cx="2697480" cy="2468880"/>
          </a:xfrm>
          <a:prstGeom prst="rect">
            <a:avLst/>
          </a:prstGeom>
          <a:solidFill>
            <a:srgbClr val="142038"/>
          </a:solidFill>
          <a:ln w="7620">
            <a:solidFill>
              <a:srgbClr val="FFB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08760"/>
            <a:ext cx="2697480" cy="54864"/>
          </a:xfrm>
          <a:prstGeom prst="rect">
            <a:avLst/>
          </a:prstGeom>
          <a:solidFill>
            <a:srgbClr val="FFB80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69164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3957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800"/>
                </a:solidFill>
              </a:rPr>
              <a:t>「看不清」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84632" y="2816352"/>
            <a:ext cx="2377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现有监控手段粒度粗（5分钟级SNMP采样），无法实时感知秒级吞吐波动、活跃IP规模及协议构成变化，难以识别突发大流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154680" y="1508760"/>
            <a:ext cx="2697480" cy="2468880"/>
          </a:xfrm>
          <a:prstGeom prst="rect">
            <a:avLst/>
          </a:prstGeom>
          <a:solidFill>
            <a:srgbClr val="142038"/>
          </a:solidFill>
          <a:ln w="762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1508760"/>
            <a:ext cx="2697480" cy="54864"/>
          </a:xfrm>
          <a:prstGeom prst="rect">
            <a:avLst/>
          </a:prstGeom>
          <a:solidFill>
            <a:srgbClr val="7B61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69164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91840" y="23957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B61FF"/>
                </a:solidFill>
              </a:rPr>
              <a:t>「查不到」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319272" y="2816352"/>
            <a:ext cx="2377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面对「间歇性卡顿」投诉，缺乏微观流级检索能力，无法从宏观异常快速下钻定位到单IP、单连接层面的根因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989320" y="1508760"/>
            <a:ext cx="2697480" cy="2468880"/>
          </a:xfrm>
          <a:prstGeom prst="rect">
            <a:avLst/>
          </a:prstGeom>
          <a:solidFill>
            <a:srgbClr val="142038"/>
          </a:solidFill>
          <a:ln w="7620">
            <a:solidFill>
              <a:srgbClr val="FF4D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89320" y="1508760"/>
            <a:ext cx="2697480" cy="54864"/>
          </a:xfrm>
          <a:prstGeom prst="rect">
            <a:avLst/>
          </a:prstGeom>
          <a:solidFill>
            <a:srgbClr val="FF4D6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691640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26480" y="239572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4D6A"/>
                </a:solidFill>
              </a:rPr>
              <a:t>「防不住」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153912" y="2816352"/>
            <a:ext cx="2377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蠕虫攻击、慢速扫描等威胁隐蔽在正常流量中，基于静态阈值的规则引擎误报率高，难以精确识别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20040" y="4160520"/>
            <a:ext cx="8503920" cy="658368"/>
          </a:xfrm>
          <a:prstGeom prst="rect">
            <a:avLst/>
          </a:prstGeom>
          <a:solidFill>
            <a:srgbClr val="1A2A4A"/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57200" y="4206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校园网流量特征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0FE"/>
                </a:solidFill>
              </a:rPr>
              <a:t>高并发  ·  高突发  ·  应用复杂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2038"/>
          </a:solidFill>
          <a:ln/>
        </p:spPr>
      </p:sp>
      <p:sp>
        <p:nvSpPr>
          <p:cNvPr id="26" name="Text 21"/>
          <p:cNvSpPr/>
          <p:nvPr/>
        </p:nvSpPr>
        <p:spPr>
          <a:xfrm>
            <a:off x="27432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</a:rPr>
              <a:t>面向智慧校园的细粒度网络流量监控与安全态势感知系统 | 苏州大学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7772400" y="48737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BB"/>
                </a:solidFill>
              </a:rPr>
              <a:t>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02  SYSTEM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系统概述与核心能力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9BB"/>
                </a:solidFill>
              </a:rPr>
              <a:t>集流量采集、实时分析、可视化展示、安全威胁检测于一体的全栈解决方案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09728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417320"/>
            <a:ext cx="2697480" cy="1600200"/>
          </a:xfrm>
          <a:prstGeom prst="rect">
            <a:avLst/>
          </a:prstGeom>
          <a:solidFill>
            <a:srgbClr val="142038"/>
          </a:solidFill>
          <a:ln w="63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64008" cy="160020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581912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33272" y="1508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D4FF"/>
                </a:solidFill>
              </a:rPr>
              <a:t>秒级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033272" y="18928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</a:rPr>
              <a:t>SAMPLING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84632" y="21945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高频采样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" y="24688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支持10Gbps+链路秒级监控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154680" y="1417320"/>
            <a:ext cx="2697480" cy="1600200"/>
          </a:xfrm>
          <a:prstGeom prst="rect">
            <a:avLst/>
          </a:prstGeom>
          <a:solidFill>
            <a:srgbClr val="142038"/>
          </a:solidFill>
          <a:ln w="635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54680" y="1417320"/>
            <a:ext cx="64008" cy="1600200"/>
          </a:xfrm>
          <a:prstGeom prst="rect">
            <a:avLst/>
          </a:prstGeom>
          <a:solidFill>
            <a:srgbClr val="7B61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1581912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867912" y="1508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B61FF"/>
                </a:solidFill>
              </a:rPr>
              <a:t>27+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3867912" y="18928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</a:rPr>
              <a:t>PROTOCOLS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3319272" y="21945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应用识别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319272" y="24688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精准识别27种应用协议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5989320" y="1417320"/>
            <a:ext cx="2697480" cy="1600200"/>
          </a:xfrm>
          <a:prstGeom prst="rect">
            <a:avLst/>
          </a:prstGeom>
          <a:solidFill>
            <a:srgbClr val="142038"/>
          </a:solidFill>
          <a:ln w="6350">
            <a:solidFill>
              <a:srgbClr val="FF4D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989320" y="1417320"/>
            <a:ext cx="64008" cy="1600200"/>
          </a:xfrm>
          <a:prstGeom prst="rect">
            <a:avLst/>
          </a:prstGeom>
          <a:solidFill>
            <a:srgbClr val="FF4D6A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581912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702552" y="1508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4D6A"/>
                </a:solidFill>
              </a:rPr>
              <a:t>10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6702552" y="18928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</a:rPr>
              <a:t>THREAT TYPES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6153912" y="21945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威胁检测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153912" y="246888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6规则型+4算法型检测能力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20040" y="3154680"/>
            <a:ext cx="2697480" cy="1600200"/>
          </a:xfrm>
          <a:prstGeom prst="rect">
            <a:avLst/>
          </a:prstGeom>
          <a:solidFill>
            <a:srgbClr val="142038"/>
          </a:solidFill>
          <a:ln w="635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20040" y="3154680"/>
            <a:ext cx="64008" cy="1600200"/>
          </a:xfrm>
          <a:prstGeom prst="rect">
            <a:avLst/>
          </a:prstGeom>
          <a:solidFill>
            <a:srgbClr val="00FF88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319272"/>
            <a:ext cx="457200" cy="4572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033272" y="32461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F88"/>
                </a:solidFill>
              </a:rPr>
              <a:t>6层</a:t>
            </a:r>
            <a:endParaRPr lang="en-US" sz="2400" dirty="0"/>
          </a:p>
        </p:txBody>
      </p:sp>
      <p:sp>
        <p:nvSpPr>
          <p:cNvPr id="32" name="Text 26"/>
          <p:cNvSpPr/>
          <p:nvPr/>
        </p:nvSpPr>
        <p:spPr>
          <a:xfrm>
            <a:off x="1033272" y="3630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</a:rPr>
              <a:t>DRILL-DOWN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484632" y="39319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下钻交互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484632" y="4206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全景→单IP完整下钻路径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3154680" y="3154680"/>
            <a:ext cx="2697480" cy="1600200"/>
          </a:xfrm>
          <a:prstGeom prst="rect">
            <a:avLst/>
          </a:prstGeom>
          <a:solidFill>
            <a:srgbClr val="142038"/>
          </a:solidFill>
          <a:ln w="635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3154680" y="3154680"/>
            <a:ext cx="64008" cy="1600200"/>
          </a:xfrm>
          <a:prstGeom prst="rect">
            <a:avLst/>
          </a:prstGeom>
          <a:solidFill>
            <a:srgbClr val="FF8C42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272" y="3319272"/>
            <a:ext cx="457200" cy="45720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867912" y="32461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8C42"/>
                </a:solidFill>
              </a:rPr>
              <a:t>Web</a:t>
            </a:r>
            <a:endParaRPr lang="en-US" sz="2400" dirty="0"/>
          </a:p>
        </p:txBody>
      </p:sp>
      <p:sp>
        <p:nvSpPr>
          <p:cNvPr id="39" name="Text 32"/>
          <p:cNvSpPr/>
          <p:nvPr/>
        </p:nvSpPr>
        <p:spPr>
          <a:xfrm>
            <a:off x="3867912" y="3630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</a:rPr>
              <a:t>RETRIEVAL</a:t>
            </a:r>
            <a:endParaRPr lang="en-US" sz="800" dirty="0"/>
          </a:p>
        </p:txBody>
      </p:sp>
      <p:sp>
        <p:nvSpPr>
          <p:cNvPr id="40" name="Text 33"/>
          <p:cNvSpPr/>
          <p:nvPr/>
        </p:nvSpPr>
        <p:spPr>
          <a:xfrm>
            <a:off x="3319272" y="39319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流检索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3319272" y="4206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类Wireshark Web版精确检索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5989320" y="3154680"/>
            <a:ext cx="2697480" cy="1600200"/>
          </a:xfrm>
          <a:prstGeom prst="rect">
            <a:avLst/>
          </a:prstGeom>
          <a:solidFill>
            <a:srgbClr val="142038"/>
          </a:solidFill>
          <a:ln w="635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5989320" y="3154680"/>
            <a:ext cx="64008" cy="1600200"/>
          </a:xfrm>
          <a:prstGeom prst="rect">
            <a:avLst/>
          </a:prstGeom>
          <a:solidFill>
            <a:srgbClr val="00C2FF"/>
          </a:solidFill>
          <a:ln/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3319272"/>
            <a:ext cx="457200" cy="45720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6702552" y="32461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C2FF"/>
                </a:solidFill>
              </a:rPr>
              <a:t>3D</a:t>
            </a:r>
            <a:endParaRPr lang="en-US" sz="2400" dirty="0"/>
          </a:p>
        </p:txBody>
      </p:sp>
      <p:sp>
        <p:nvSpPr>
          <p:cNvPr id="46" name="Text 38"/>
          <p:cNvSpPr/>
          <p:nvPr/>
        </p:nvSpPr>
        <p:spPr>
          <a:xfrm>
            <a:off x="6702552" y="3630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</a:rPr>
              <a:t>GEO MAPPING</a:t>
            </a:r>
            <a:endParaRPr lang="en-US" sz="800" dirty="0"/>
          </a:p>
        </p:txBody>
      </p:sp>
      <p:sp>
        <p:nvSpPr>
          <p:cNvPr id="47" name="Text 39"/>
          <p:cNvSpPr/>
          <p:nvPr/>
        </p:nvSpPr>
        <p:spPr>
          <a:xfrm>
            <a:off x="6153912" y="39319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攻击溯源</a:t>
            </a:r>
            <a:endParaRPr lang="en-US" sz="1200" dirty="0"/>
          </a:p>
        </p:txBody>
      </p:sp>
      <p:sp>
        <p:nvSpPr>
          <p:cNvPr id="48" name="Text 40"/>
          <p:cNvSpPr/>
          <p:nvPr/>
        </p:nvSpPr>
        <p:spPr>
          <a:xfrm>
            <a:off x="6153912" y="42062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全球攻击源3D地理可视化</a:t>
            </a:r>
            <a:endParaRPr lang="en-US" sz="950" dirty="0"/>
          </a:p>
        </p:txBody>
      </p:sp>
      <p:sp>
        <p:nvSpPr>
          <p:cNvPr id="49" name="Shape 4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2038"/>
          </a:solidFill>
          <a:ln/>
        </p:spPr>
      </p:sp>
      <p:sp>
        <p:nvSpPr>
          <p:cNvPr id="50" name="Text 42"/>
          <p:cNvSpPr/>
          <p:nvPr/>
        </p:nvSpPr>
        <p:spPr>
          <a:xfrm>
            <a:off x="27432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</a:rPr>
              <a:t>面向智慧校园的细粒度网络流量监控与安全态势感知系统 | 苏州大学</a:t>
            </a:r>
            <a:endParaRPr lang="en-US" sz="800" dirty="0"/>
          </a:p>
        </p:txBody>
      </p:sp>
      <p:sp>
        <p:nvSpPr>
          <p:cNvPr id="51" name="Text 43"/>
          <p:cNvSpPr/>
          <p:nvPr/>
        </p:nvSpPr>
        <p:spPr>
          <a:xfrm>
            <a:off x="7772400" y="48737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BB"/>
                </a:solidFill>
              </a:rPr>
              <a:t>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03  SYSTEM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系统架构设计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9BB"/>
                </a:solidFill>
              </a:rPr>
              <a:t>前后端分离 · 实时推送 · 容器化部署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09728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463040"/>
            <a:ext cx="8503920" cy="914400"/>
          </a:xfrm>
          <a:prstGeom prst="rect">
            <a:avLst/>
          </a:prstGeom>
          <a:solidFill>
            <a:srgbClr val="142038"/>
          </a:solidFill>
          <a:ln w="762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63040"/>
            <a:ext cx="64008" cy="9144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1554480"/>
            <a:ext cx="822960" cy="3200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554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120"/>
                </a:solidFill>
              </a:rPr>
              <a:t>展示层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1554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React 18 + Vite 5 + ECharts 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17320" y="190195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Dashboard 全景大屏 · SecurityCenter 安全中心 · FlowSearch 流检索 · IpDetails 单IP画像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514600"/>
            <a:ext cx="8503920" cy="914400"/>
          </a:xfrm>
          <a:prstGeom prst="rect">
            <a:avLst/>
          </a:prstGeom>
          <a:solidFill>
            <a:srgbClr val="142038"/>
          </a:solidFill>
          <a:ln w="762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514600"/>
            <a:ext cx="64008" cy="91440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606040"/>
            <a:ext cx="822960" cy="32004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6060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120"/>
                </a:solidFill>
              </a:rPr>
              <a:t>服务层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17320" y="26060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B61FF"/>
                </a:solidFill>
              </a:rPr>
              <a:t>Spring Boot 3.x + WebSocket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17320" y="295351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DashboardRealtimePushService · ThreatDetectionService · 4套核心算法引擎 · DataImportService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566160"/>
            <a:ext cx="8503920" cy="914400"/>
          </a:xfrm>
          <a:prstGeom prst="rect">
            <a:avLst/>
          </a:prstGeom>
          <a:solidFill>
            <a:srgbClr val="142038"/>
          </a:solidFill>
          <a:ln w="762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566160"/>
            <a:ext cx="64008" cy="91440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" y="3657600"/>
            <a:ext cx="822960" cy="32004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6576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120"/>
                </a:solidFill>
              </a:rPr>
              <a:t>存储层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17320" y="36576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FF88"/>
                </a:solidFill>
              </a:rPr>
              <a:t>PostgreSQL 15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17320" y="400507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network_flow 网络流表 · security_alert 安全告警表 · 7个索引策略 · JSONB 告警上下文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09360" y="1463040"/>
            <a:ext cx="2514600" cy="3017520"/>
          </a:xfrm>
          <a:prstGeom prst="rect">
            <a:avLst/>
          </a:prstGeom>
          <a:solidFill>
            <a:srgbClr val="1A2A4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15361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技术栈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46520" y="1874520"/>
            <a:ext cx="594360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18745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前端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086600" y="187452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React 18 + Zustand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446520" y="2203704"/>
            <a:ext cx="594360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220370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构建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086600" y="220370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Vite 5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46520" y="2532888"/>
            <a:ext cx="594360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6446520" y="25328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图表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086600" y="253288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ECharts 5 + GL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46520" y="2862072"/>
            <a:ext cx="594360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286207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后端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086600" y="286207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Spring Boot 3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446520" y="3191256"/>
            <a:ext cx="594360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0" name="Text 38"/>
          <p:cNvSpPr/>
          <p:nvPr/>
        </p:nvSpPr>
        <p:spPr>
          <a:xfrm>
            <a:off x="6446520" y="319125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ORM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086600" y="319125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Spring Data JPA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46520" y="3520440"/>
            <a:ext cx="594360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3" name="Text 41"/>
          <p:cNvSpPr/>
          <p:nvPr/>
        </p:nvSpPr>
        <p:spPr>
          <a:xfrm>
            <a:off x="6446520" y="352044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数据库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086600" y="35204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PostgreSQL 15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446520" y="3849624"/>
            <a:ext cx="594360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6" name="Text 44"/>
          <p:cNvSpPr/>
          <p:nvPr/>
        </p:nvSpPr>
        <p:spPr>
          <a:xfrm>
            <a:off x="6446520" y="384962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实时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086600" y="384962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WebSocket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446520" y="4178808"/>
            <a:ext cx="594360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9" name="Text 47"/>
          <p:cNvSpPr/>
          <p:nvPr/>
        </p:nvSpPr>
        <p:spPr>
          <a:xfrm>
            <a:off x="6446520" y="417880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容器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086600" y="417880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Docker Compose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2038"/>
          </a:solidFill>
          <a:ln/>
        </p:spPr>
      </p:sp>
      <p:sp>
        <p:nvSpPr>
          <p:cNvPr id="52" name="Text 50"/>
          <p:cNvSpPr/>
          <p:nvPr/>
        </p:nvSpPr>
        <p:spPr>
          <a:xfrm>
            <a:off x="27432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</a:rPr>
              <a:t>面向智慧校园的细粒度网络流量监控与安全态势感知系统 | 苏州大学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772400" y="48737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BB"/>
                </a:solidFill>
              </a:rPr>
              <a:t>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04  CORE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核心功能一：实时全景大屏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9BB"/>
                </a:solidFill>
              </a:rPr>
              <a:t>秒级刷新 · WebSocket全双工推送 · Bytes/PPS双维切换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09728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417320"/>
            <a:ext cx="2011680" cy="1188720"/>
          </a:xfrm>
          <a:prstGeom prst="rect">
            <a:avLst/>
          </a:prstGeom>
          <a:solidFill>
            <a:srgbClr val="142038"/>
          </a:solidFill>
          <a:ln w="63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50876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86968" y="146304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12.5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86968" y="189280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Gbps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0040" y="2359152"/>
            <a:ext cx="2011680" cy="246888"/>
          </a:xfrm>
          <a:prstGeom prst="rect">
            <a:avLst/>
          </a:prstGeom>
          <a:solidFill>
            <a:srgbClr val="00D4FF">
              <a:alpha val="15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320040" y="235915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实时吞吐量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496312" y="1417320"/>
            <a:ext cx="2011680" cy="1188720"/>
          </a:xfrm>
          <a:prstGeom prst="rect">
            <a:avLst/>
          </a:prstGeom>
          <a:solidFill>
            <a:srgbClr val="142038"/>
          </a:solidFill>
          <a:ln w="635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50876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063240" y="146304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B61FF"/>
                </a:solidFill>
              </a:rPr>
              <a:t>892K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3063240" y="189280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PPS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2496312" y="2359152"/>
            <a:ext cx="2011680" cy="246888"/>
          </a:xfrm>
          <a:prstGeom prst="rect">
            <a:avLst/>
          </a:prstGeom>
          <a:solidFill>
            <a:srgbClr val="7B61FF">
              <a:alpha val="15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2496312" y="235915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61FF"/>
                </a:solidFill>
              </a:rPr>
              <a:t>每秒包数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672584" y="1417320"/>
            <a:ext cx="2011680" cy="1188720"/>
          </a:xfrm>
          <a:prstGeom prst="rect">
            <a:avLst/>
          </a:prstGeom>
          <a:solidFill>
            <a:srgbClr val="142038"/>
          </a:solidFill>
          <a:ln w="635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1508760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39512" y="146304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FF88"/>
                </a:solidFill>
              </a:rPr>
              <a:t>20,000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5239512" y="189280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Active IPs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672584" y="2359152"/>
            <a:ext cx="2011680" cy="246888"/>
          </a:xfrm>
          <a:prstGeom prst="rect">
            <a:avLst/>
          </a:prstGeom>
          <a:solidFill>
            <a:srgbClr val="00FF88">
              <a:alpha val="1500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4672584" y="235915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</a:rPr>
              <a:t>活跃IP总数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848856" y="1417320"/>
            <a:ext cx="2011680" cy="1188720"/>
          </a:xfrm>
          <a:prstGeom prst="rect">
            <a:avLst/>
          </a:prstGeom>
          <a:solidFill>
            <a:srgbClr val="142038"/>
          </a:solidFill>
          <a:ln w="6350">
            <a:solidFill>
              <a:srgbClr val="FF4D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584" y="1508760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15784" y="1463040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4D6A"/>
                </a:solidFill>
              </a:rPr>
              <a:t>47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7415784" y="189280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Alerts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6848856" y="2359152"/>
            <a:ext cx="2011680" cy="246888"/>
          </a:xfrm>
          <a:prstGeom prst="rect">
            <a:avLst/>
          </a:prstGeom>
          <a:solidFill>
            <a:srgbClr val="FF4D6A">
              <a:alpha val="1500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6848856" y="235915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D6A"/>
                </a:solidFill>
              </a:rPr>
              <a:t>当前告警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320040" y="2788920"/>
            <a:ext cx="64008" cy="5486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2" name="Text 26"/>
          <p:cNvSpPr/>
          <p:nvPr/>
        </p:nvSpPr>
        <p:spPr>
          <a:xfrm>
            <a:off x="502920" y="2788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吞吐趋势图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02920" y="3044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时间桶对齐折线图，Bytes/Packets双维切换，ECharts实例复用避免重建抖动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4617720" y="2788920"/>
            <a:ext cx="64008" cy="5486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5" name="Text 29"/>
          <p:cNvSpPr/>
          <p:nvPr/>
        </p:nvSpPr>
        <p:spPr>
          <a:xfrm>
            <a:off x="4800600" y="2788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协议分布饼图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4800600" y="3044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27种协议占比展示，实时刷新，支持维度切换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320040" y="3447288"/>
            <a:ext cx="64008" cy="5486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8" name="Text 32"/>
          <p:cNvSpPr/>
          <p:nvPr/>
        </p:nvSpPr>
        <p:spPr>
          <a:xfrm>
            <a:off x="502920" y="3447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Top-K大流监控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502920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按流量排序Top-10突发流，点击跳转IP详情下钻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4617720" y="3447288"/>
            <a:ext cx="64008" cy="5486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1" name="Text 35"/>
          <p:cNvSpPr/>
          <p:nvPr/>
        </p:nvSpPr>
        <p:spPr>
          <a:xfrm>
            <a:off x="4800600" y="3447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区域热力图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4800600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4个网络区域流量差异可视化，支持区域级下钻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320040" y="4105656"/>
            <a:ext cx="64008" cy="5486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4" name="Text 38"/>
          <p:cNvSpPr/>
          <p:nvPr/>
        </p:nvSpPr>
        <p:spPr>
          <a:xfrm>
            <a:off x="502920" y="4105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WebSocket推送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502920" y="43616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全双工实时数据推送，WebSocket状态徽章显示连接状态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4617720" y="4105656"/>
            <a:ext cx="64008" cy="5486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7" name="Text 41"/>
          <p:cNvSpPr/>
          <p:nvPr/>
        </p:nvSpPr>
        <p:spPr>
          <a:xfrm>
            <a:off x="4800600" y="4105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区域透视</a:t>
            </a:r>
            <a:endParaRPr lang="en-US" sz="1000" dirty="0"/>
          </a:p>
        </p:txBody>
      </p:sp>
      <p:sp>
        <p:nvSpPr>
          <p:cNvPr id="48" name="Text 42"/>
          <p:cNvSpPr/>
          <p:nvPr/>
        </p:nvSpPr>
        <p:spPr>
          <a:xfrm>
            <a:off x="4800600" y="43616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区域→楼宇→交换机→端口4级下钻，识别流量热点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2038"/>
          </a:solidFill>
          <a:ln/>
        </p:spPr>
      </p:sp>
      <p:sp>
        <p:nvSpPr>
          <p:cNvPr id="50" name="Text 44"/>
          <p:cNvSpPr/>
          <p:nvPr/>
        </p:nvSpPr>
        <p:spPr>
          <a:xfrm>
            <a:off x="27432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</a:rPr>
              <a:t>面向智慧校园的细粒度网络流量监控与安全态势感知系统 | 苏州大学</a:t>
            </a:r>
            <a:endParaRPr lang="en-US" sz="800" dirty="0"/>
          </a:p>
        </p:txBody>
      </p:sp>
      <p:sp>
        <p:nvSpPr>
          <p:cNvPr id="51" name="Text 45"/>
          <p:cNvSpPr/>
          <p:nvPr/>
        </p:nvSpPr>
        <p:spPr>
          <a:xfrm>
            <a:off x="7772400" y="48737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BB"/>
                </a:solidFill>
              </a:rPr>
              <a:t>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04  CORE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核心功能二：安全威胁感知中心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9BB"/>
                </a:solidFill>
              </a:rPr>
              <a:t>实时检测 · 3D地球溯源 · 多维筛选 · Kill Chain关联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09728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417320"/>
            <a:ext cx="4297680" cy="329184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4813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威胁检测能力矩阵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4023360" cy="274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901952"/>
            <a:ext cx="164592" cy="164592"/>
          </a:xfrm>
          <a:prstGeom prst="rect">
            <a:avLst/>
          </a:prstGeom>
          <a:solidFill>
            <a:srgbClr val="FF4D6A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1901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0FE"/>
                </a:solidFill>
              </a:rPr>
              <a:t>DDoS攻击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011680" y="1901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4D6A"/>
                </a:solidFill>
              </a:rPr>
              <a:t>规则型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560320" y="1901952"/>
            <a:ext cx="164592" cy="16459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4" name="Text 12"/>
          <p:cNvSpPr/>
          <p:nvPr/>
        </p:nvSpPr>
        <p:spPr>
          <a:xfrm>
            <a:off x="2798064" y="1901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0FE"/>
                </a:solidFill>
              </a:rPr>
              <a:t>端口扫描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0" y="1901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B800"/>
                </a:solidFill>
              </a:rPr>
              <a:t>规则型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2194560"/>
            <a:ext cx="164592" cy="164592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21945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0FE"/>
                </a:solidFill>
              </a:rPr>
              <a:t>慢速端口扫描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011680" y="2194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B800"/>
                </a:solidFill>
              </a:rPr>
              <a:t>规则型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560320" y="2194560"/>
            <a:ext cx="164592" cy="164592"/>
          </a:xfrm>
          <a:prstGeom prst="rect">
            <a:avLst/>
          </a:prstGeom>
          <a:solidFill>
            <a:srgbClr val="FF4D6A"/>
          </a:solidFill>
          <a:ln/>
        </p:spPr>
      </p:sp>
      <p:sp>
        <p:nvSpPr>
          <p:cNvPr id="20" name="Text 18"/>
          <p:cNvSpPr/>
          <p:nvPr/>
        </p:nvSpPr>
        <p:spPr>
          <a:xfrm>
            <a:off x="2798064" y="21945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0FE"/>
                </a:solidFill>
              </a:rPr>
              <a:t>蠕虫传播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0" y="2194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4D6A"/>
                </a:solidFill>
              </a:rPr>
              <a:t>规则型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57200" y="2487168"/>
            <a:ext cx="164592" cy="164592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" y="24871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0FE"/>
                </a:solidFill>
              </a:rPr>
              <a:t>钓鱼攻击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011680" y="24871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8C42"/>
                </a:solidFill>
              </a:rPr>
              <a:t>规则型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560320" y="2487168"/>
            <a:ext cx="164592" cy="164592"/>
          </a:xfrm>
          <a:prstGeom prst="rect">
            <a:avLst/>
          </a:prstGeom>
          <a:solidFill>
            <a:srgbClr val="FF4D6A"/>
          </a:solidFill>
          <a:ln/>
        </p:spPr>
      </p:sp>
      <p:sp>
        <p:nvSpPr>
          <p:cNvPr id="26" name="Text 24"/>
          <p:cNvSpPr/>
          <p:nvPr/>
        </p:nvSpPr>
        <p:spPr>
          <a:xfrm>
            <a:off x="2798064" y="24871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0FE"/>
                </a:solidFill>
              </a:rPr>
              <a:t>数据外泄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0" y="24871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4D6A"/>
                </a:solidFill>
              </a:rPr>
              <a:t>规则型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2779776"/>
            <a:ext cx="164592" cy="164592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" y="277977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0FE"/>
                </a:solidFill>
              </a:rPr>
              <a:t>EWMA-EAD熵异常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011680" y="27797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61FF"/>
                </a:solidFill>
              </a:rPr>
              <a:t>算法型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560320" y="2779776"/>
            <a:ext cx="164592" cy="16459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2" name="Text 30"/>
          <p:cNvSpPr/>
          <p:nvPr/>
        </p:nvSpPr>
        <p:spPr>
          <a:xfrm>
            <a:off x="2798064" y="277977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0FE"/>
                </a:solidFill>
              </a:rPr>
              <a:t>MDTCE关联分析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114800" y="27797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D4FF"/>
                </a:solidFill>
              </a:rPr>
              <a:t>算法型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57200" y="3072384"/>
            <a:ext cx="164592" cy="164592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35" name="Text 33"/>
          <p:cNvSpPr/>
          <p:nvPr/>
        </p:nvSpPr>
        <p:spPr>
          <a:xfrm>
            <a:off x="694944" y="30723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0FE"/>
                </a:solidFill>
              </a:rPr>
              <a:t>NBF-RS行为指纹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011680" y="30723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FF88"/>
                </a:solidFill>
              </a:rPr>
              <a:t>算法型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560320" y="3072384"/>
            <a:ext cx="164592" cy="164592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8" name="Text 36"/>
          <p:cNvSpPr/>
          <p:nvPr/>
        </p:nvSpPr>
        <p:spPr>
          <a:xfrm>
            <a:off x="2798064" y="30723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0FE"/>
                </a:solidFill>
              </a:rPr>
              <a:t>TPM-PA预测预警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114800" y="30723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C2FF"/>
                </a:solidFill>
              </a:rPr>
              <a:t>算法型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800600" y="1417320"/>
            <a:ext cx="4023360" cy="731520"/>
          </a:xfrm>
          <a:prstGeom prst="rect">
            <a:avLst/>
          </a:prstGeom>
          <a:solidFill>
            <a:srgbClr val="142038"/>
          </a:solidFill>
          <a:ln w="63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0600" y="1417320"/>
            <a:ext cx="64008" cy="7315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2" name="Text 40"/>
          <p:cNvSpPr/>
          <p:nvPr/>
        </p:nvSpPr>
        <p:spPr>
          <a:xfrm>
            <a:off x="4983480" y="1490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3D地球攻击溯源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83480" y="17647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Canvas内存纹理 + Jitter坐标抖动 + Bloom泛光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全球攻击源地理映射，支持旋转/平移/缩放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00600" y="2240280"/>
            <a:ext cx="4023360" cy="731520"/>
          </a:xfrm>
          <a:prstGeom prst="rect">
            <a:avLst/>
          </a:prstGeom>
          <a:solidFill>
            <a:srgbClr val="142038"/>
          </a:solidFill>
          <a:ln w="635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00600" y="2240280"/>
            <a:ext cx="64008" cy="73152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46" name="Text 44"/>
          <p:cNvSpPr/>
          <p:nvPr/>
        </p:nvSpPr>
        <p:spPr>
          <a:xfrm>
            <a:off x="4983480" y="2313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B61FF"/>
                </a:solidFill>
              </a:rPr>
              <a:t>多维告警筛选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83480" y="25877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按威胁类型/严重级别/源目IP/时间范围筛选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筛选条件localStorage持久化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00600" y="3063240"/>
            <a:ext cx="4023360" cy="731520"/>
          </a:xfrm>
          <a:prstGeom prst="rect">
            <a:avLst/>
          </a:prstGeom>
          <a:solidFill>
            <a:srgbClr val="142038"/>
          </a:solidFill>
          <a:ln w="6350">
            <a:solidFill>
              <a:srgbClr val="FF4D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800600" y="3063240"/>
            <a:ext cx="64008" cy="731520"/>
          </a:xfrm>
          <a:prstGeom prst="rect">
            <a:avLst/>
          </a:prstGeom>
          <a:solidFill>
            <a:srgbClr val="FF4D6A"/>
          </a:solidFill>
          <a:ln/>
        </p:spPr>
      </p:sp>
      <p:sp>
        <p:nvSpPr>
          <p:cNvPr id="50" name="Text 48"/>
          <p:cNvSpPr/>
          <p:nvPr/>
        </p:nvSpPr>
        <p:spPr>
          <a:xfrm>
            <a:off x="4983480" y="3136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4D6A"/>
                </a:solidFill>
              </a:rPr>
              <a:t>Kill Chain关联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983480" y="34107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侦察→武器化→投递→利用→持久化→横向移动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构建攻击阶段图，识别完整攻击链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00600" y="3886200"/>
            <a:ext cx="4023360" cy="731520"/>
          </a:xfrm>
          <a:prstGeom prst="rect">
            <a:avLst/>
          </a:prstGeom>
          <a:solidFill>
            <a:srgbClr val="142038"/>
          </a:solidFill>
          <a:ln w="635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800600" y="3886200"/>
            <a:ext cx="64008" cy="73152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54" name="Text 52"/>
          <p:cNvSpPr/>
          <p:nvPr/>
        </p:nvSpPr>
        <p:spPr>
          <a:xfrm>
            <a:off x="4983480" y="39593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FF88"/>
                </a:solidFill>
              </a:rPr>
              <a:t>CSV安全日志导出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983480" y="42336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支持CSV格式导出，用于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故障取证与安全审计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2038"/>
          </a:solidFill>
          <a:ln/>
        </p:spPr>
      </p:sp>
      <p:sp>
        <p:nvSpPr>
          <p:cNvPr id="57" name="Text 55"/>
          <p:cNvSpPr/>
          <p:nvPr/>
        </p:nvSpPr>
        <p:spPr>
          <a:xfrm>
            <a:off x="27432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</a:rPr>
              <a:t>面向智慧校园的细粒度网络流量监控与安全态势感知系统 | 苏州大学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772400" y="48737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BB"/>
                </a:solidFill>
              </a:rPr>
              <a:t>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04  CORE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核心功能三：微观流检索与IP画像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9BB"/>
                </a:solidFill>
              </a:rPr>
              <a:t>类Wireshark Web版 · 6级下钻 · 精准取证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09728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417320"/>
            <a:ext cx="4160520" cy="3337560"/>
          </a:xfrm>
          <a:prstGeom prst="rect">
            <a:avLst/>
          </a:prstGeom>
          <a:solidFill>
            <a:srgbClr val="142038"/>
          </a:solidFill>
          <a:ln w="63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4160520" cy="38404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1732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120"/>
                </a:solidFill>
              </a:rPr>
              <a:t>微观流级检索引擎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77724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202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源IP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25880" y="1920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精确IP 或 CIDR通配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97480" y="1920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899BB"/>
                </a:solidFill>
              </a:rPr>
              <a:t>192.168.1.1  /  10.0.0.0/8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267712"/>
            <a:ext cx="77724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2677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目IP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325880" y="2267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精确IP 或 CIDR通配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97480" y="22677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899BB"/>
                </a:solidFill>
              </a:rPr>
              <a:t>8.8.8.8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2615184"/>
            <a:ext cx="77724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6151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端口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325880" y="26151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精确端口 或 范围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97480" y="26151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899BB"/>
                </a:solidFill>
              </a:rPr>
              <a:t>80  /  1024-65535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962656"/>
            <a:ext cx="77724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9626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协议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325880" y="2962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TCP / UDP / ICMP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697480" y="29626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899BB"/>
                </a:solidFill>
              </a:rPr>
              <a:t>TCP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3310128"/>
            <a:ext cx="77724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310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应用协议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325880" y="3310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27种协议类型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697480" y="3310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899BB"/>
                </a:solidFill>
              </a:rPr>
              <a:t>HTTPS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657600"/>
            <a:ext cx="777240" cy="2560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6576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</a:rPr>
              <a:t>时间范围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325880" y="3657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起止时间 或 最近N分钟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697480" y="3657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899BB"/>
                </a:solidFill>
              </a:rPr>
              <a:t>minutesAgo=30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4023360"/>
            <a:ext cx="3840480" cy="274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D4FF"/>
                </a:solidFill>
              </a:rPr>
              <a:t>分页展示 · CSV导出 · IP点击跳转单IP详情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1417320"/>
            <a:ext cx="4160520" cy="3337560"/>
          </a:xfrm>
          <a:prstGeom prst="rect">
            <a:avLst/>
          </a:prstGeom>
          <a:solidFill>
            <a:srgbClr val="142038"/>
          </a:solidFill>
          <a:ln w="635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1417320"/>
            <a:ext cx="4160520" cy="384048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38" name="Text 36"/>
          <p:cNvSpPr/>
          <p:nvPr/>
        </p:nvSpPr>
        <p:spPr>
          <a:xfrm>
            <a:off x="4800600" y="141732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单IP详情画像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54880" y="1920240"/>
            <a:ext cx="1828800" cy="1188720"/>
          </a:xfrm>
          <a:prstGeom prst="rect">
            <a:avLst/>
          </a:prstGeom>
          <a:solidFill>
            <a:srgbClr val="1A2A4A"/>
          </a:solidFill>
          <a:ln w="3810">
            <a:solidFill>
              <a:srgbClr val="7B61FF"/>
            </a:solidFill>
            <a:prstDash val="solid"/>
          </a:ln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4608" y="2029968"/>
            <a:ext cx="365760" cy="36576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5303520" y="20299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流量趋势图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4864608" y="245059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99BB"/>
                </a:solidFill>
              </a:rPr>
              <a:t>入/出流量时序折线图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899BB"/>
                </a:solidFill>
              </a:rPr>
              <a:t>Bytes/Packets双维切换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6720840" y="1920240"/>
            <a:ext cx="1828800" cy="1188720"/>
          </a:xfrm>
          <a:prstGeom prst="rect">
            <a:avLst/>
          </a:prstGeom>
          <a:solidFill>
            <a:srgbClr val="1A2A4A"/>
          </a:solidFill>
          <a:ln w="3810">
            <a:solidFill>
              <a:srgbClr val="7B61FF"/>
            </a:solidFill>
            <a:prstDash val="solid"/>
          </a:ln>
        </p:spPr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029968"/>
            <a:ext cx="365760" cy="365760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7269480" y="20299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通信对端TOP10</a:t>
            </a:r>
            <a:endParaRPr lang="en-US" sz="950" dirty="0"/>
          </a:p>
        </p:txBody>
      </p:sp>
      <p:sp>
        <p:nvSpPr>
          <p:cNvPr id="46" name="Text 42"/>
          <p:cNvSpPr/>
          <p:nvPr/>
        </p:nvSpPr>
        <p:spPr>
          <a:xfrm>
            <a:off x="6830568" y="245059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99BB"/>
                </a:solidFill>
              </a:rPr>
              <a:t>按流量排序的对端IP列表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899BB"/>
                </a:solidFill>
              </a:rPr>
              <a:t>展示对端国家/地区信息</a:t>
            </a:r>
            <a:endParaRPr lang="en-US" sz="850" dirty="0"/>
          </a:p>
        </p:txBody>
      </p:sp>
      <p:sp>
        <p:nvSpPr>
          <p:cNvPr id="47" name="Shape 43"/>
          <p:cNvSpPr/>
          <p:nvPr/>
        </p:nvSpPr>
        <p:spPr>
          <a:xfrm>
            <a:off x="4754880" y="3291840"/>
            <a:ext cx="1828800" cy="1188720"/>
          </a:xfrm>
          <a:prstGeom prst="rect">
            <a:avLst/>
          </a:prstGeom>
          <a:solidFill>
            <a:srgbClr val="1A2A4A"/>
          </a:solidFill>
          <a:ln w="3810">
            <a:solidFill>
              <a:srgbClr val="7B61FF"/>
            </a:solidFill>
            <a:prstDash val="solid"/>
          </a:ln>
        </p:spPr>
      </p:sp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3401568"/>
            <a:ext cx="365760" cy="365760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5303520" y="34015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协议分布</a:t>
            </a:r>
            <a:endParaRPr lang="en-US" sz="950" dirty="0"/>
          </a:p>
        </p:txBody>
      </p:sp>
      <p:sp>
        <p:nvSpPr>
          <p:cNvPr id="50" name="Text 45"/>
          <p:cNvSpPr/>
          <p:nvPr/>
        </p:nvSpPr>
        <p:spPr>
          <a:xfrm>
            <a:off x="4864608" y="382219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99BB"/>
                </a:solidFill>
              </a:rPr>
              <a:t>该IP使用协议占比饼图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899BB"/>
                </a:solidFill>
              </a:rPr>
              <a:t>识别异常协议使用</a:t>
            </a:r>
            <a:endParaRPr lang="en-US" sz="850" dirty="0"/>
          </a:p>
        </p:txBody>
      </p:sp>
      <p:sp>
        <p:nvSpPr>
          <p:cNvPr id="51" name="Shape 46"/>
          <p:cNvSpPr/>
          <p:nvPr/>
        </p:nvSpPr>
        <p:spPr>
          <a:xfrm>
            <a:off x="6720840" y="3291840"/>
            <a:ext cx="1828800" cy="1188720"/>
          </a:xfrm>
          <a:prstGeom prst="rect">
            <a:avLst/>
          </a:prstGeom>
          <a:solidFill>
            <a:srgbClr val="1A2A4A"/>
          </a:solidFill>
          <a:ln w="3810">
            <a:solidFill>
              <a:srgbClr val="7B61FF"/>
            </a:solidFill>
            <a:prstDash val="solid"/>
          </a:ln>
        </p:spPr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3401568"/>
            <a:ext cx="365760" cy="365760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7269480" y="34015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端口分析</a:t>
            </a:r>
            <a:endParaRPr lang="en-US" sz="950" dirty="0"/>
          </a:p>
        </p:txBody>
      </p:sp>
      <p:sp>
        <p:nvSpPr>
          <p:cNvPr id="54" name="Text 48"/>
          <p:cNvSpPr/>
          <p:nvPr/>
        </p:nvSpPr>
        <p:spPr>
          <a:xfrm>
            <a:off x="6830568" y="382219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8899BB"/>
                </a:solidFill>
              </a:rPr>
              <a:t>活跃端口使用分布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8899BB"/>
                </a:solidFill>
              </a:rPr>
              <a:t>识别异常端口通信</a:t>
            </a:r>
            <a:endParaRPr lang="en-US" sz="850" dirty="0"/>
          </a:p>
        </p:txBody>
      </p:sp>
      <p:sp>
        <p:nvSpPr>
          <p:cNvPr id="55" name="Shape 4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2038"/>
          </a:solidFill>
          <a:ln/>
        </p:spPr>
      </p:sp>
      <p:sp>
        <p:nvSpPr>
          <p:cNvPr id="56" name="Text 50"/>
          <p:cNvSpPr/>
          <p:nvPr/>
        </p:nvSpPr>
        <p:spPr>
          <a:xfrm>
            <a:off x="27432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</a:rPr>
              <a:t>面向智慧校园的细粒度网络流量监控与安全态势感知系统 | 苏州大学</a:t>
            </a:r>
            <a:endParaRPr lang="en-US" sz="800" dirty="0"/>
          </a:p>
        </p:txBody>
      </p:sp>
      <p:sp>
        <p:nvSpPr>
          <p:cNvPr id="57" name="Text 51"/>
          <p:cNvSpPr/>
          <p:nvPr/>
        </p:nvSpPr>
        <p:spPr>
          <a:xfrm>
            <a:off x="7772400" y="48737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BB"/>
                </a:solidFill>
              </a:rPr>
              <a:t>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05  ALGORITHM HIGHLIGHTS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四套原创算法，超越规则驱动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9BB"/>
                </a:solidFill>
              </a:rPr>
              <a:t>融合统计异常检测 · 攻击关联图 · 行为指纹 · 趋势预测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09728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417320"/>
            <a:ext cx="2057400" cy="3291840"/>
          </a:xfrm>
          <a:prstGeom prst="rect">
            <a:avLst/>
          </a:prstGeom>
          <a:solidFill>
            <a:srgbClr val="142038"/>
          </a:solidFill>
          <a:ln w="762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20574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572768"/>
            <a:ext cx="1005840" cy="2560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727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120"/>
                </a:solidFill>
              </a:rPr>
              <a:t>统计异常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9768" y="1920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EWMA-EAD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2267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指数加权熵异常检测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" y="2606040"/>
            <a:ext cx="1828800" cy="4572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0D4FF"/>
                </a:solidFill>
              </a:rPr>
              <a:t>S_t = α·X_t + (1-α)·S_{t-1}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9768" y="3127248"/>
            <a:ext cx="18288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8F0FE"/>
                </a:solidFill>
              </a:rPr>
              <a:t>流量统计特性与协议熵特征融合判断，单纯阈值规则误报率高，融合熵分析后可区分正常突发（协议多样）与攻击（协议单一）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96312" y="1417320"/>
            <a:ext cx="2057400" cy="3291840"/>
          </a:xfrm>
          <a:prstGeom prst="rect">
            <a:avLst/>
          </a:prstGeom>
          <a:solidFill>
            <a:srgbClr val="142038"/>
          </a:solidFill>
          <a:ln w="762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96312" y="1417320"/>
            <a:ext cx="2057400" cy="54864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8" name="Shape 16"/>
          <p:cNvSpPr/>
          <p:nvPr/>
        </p:nvSpPr>
        <p:spPr>
          <a:xfrm>
            <a:off x="2633472" y="1572768"/>
            <a:ext cx="1005840" cy="256032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9" name="Text 17"/>
          <p:cNvSpPr/>
          <p:nvPr/>
        </p:nvSpPr>
        <p:spPr>
          <a:xfrm>
            <a:off x="2633472" y="15727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120"/>
                </a:solidFill>
              </a:rPr>
              <a:t>关联分析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06040" y="1920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B61FF"/>
                </a:solidFill>
              </a:rPr>
              <a:t>MDTCE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06040" y="2267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多维威胁关联引擎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06040" y="2606040"/>
            <a:ext cx="1828800" cy="4572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260604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B61FF"/>
                </a:solidFill>
              </a:rPr>
              <a:t>≥2阶段事件 → 高威胁关联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06040" y="3127248"/>
            <a:ext cx="18288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8F0FE"/>
                </a:solidFill>
              </a:rPr>
              <a:t>基于网络杀伤链（Kill Chain）模型，对跨时间安全事件关联，构建攻击阶段图：侦察→武器化→投递→利用→持久化→横向移动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72584" y="1417320"/>
            <a:ext cx="2057400" cy="3291840"/>
          </a:xfrm>
          <a:prstGeom prst="rect">
            <a:avLst/>
          </a:prstGeom>
          <a:solidFill>
            <a:srgbClr val="142038"/>
          </a:solidFill>
          <a:ln w="762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72584" y="1417320"/>
            <a:ext cx="2057400" cy="54864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7" name="Shape 25"/>
          <p:cNvSpPr/>
          <p:nvPr/>
        </p:nvSpPr>
        <p:spPr>
          <a:xfrm>
            <a:off x="4809744" y="1572768"/>
            <a:ext cx="1005840" cy="256032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8" name="Text 26"/>
          <p:cNvSpPr/>
          <p:nvPr/>
        </p:nvSpPr>
        <p:spPr>
          <a:xfrm>
            <a:off x="4809744" y="15727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120"/>
                </a:solidFill>
              </a:rPr>
              <a:t>行为分析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82312" y="1920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88"/>
                </a:solidFill>
              </a:rPr>
              <a:t>NBF-RS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82312" y="2267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7维行为指纹评分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82312" y="2606040"/>
            <a:ext cx="1828800" cy="4572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4782312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0FF88"/>
                </a:solidFill>
              </a:rPr>
              <a:t>Score = Σ(w_i × feat_i)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82312" y="3127248"/>
            <a:ext cx="18288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8F0FE"/>
                </a:solidFill>
              </a:rPr>
              <a:t>协议熵·对端多样性·流量非对称性·端口分散度·时序集中度·连接强度·包大小偏差，7维加权综合评估IP风险得分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848856" y="1417320"/>
            <a:ext cx="2057400" cy="3291840"/>
          </a:xfrm>
          <a:prstGeom prst="rect">
            <a:avLst/>
          </a:prstGeom>
          <a:solidFill>
            <a:srgbClr val="142038"/>
          </a:solidFill>
          <a:ln w="7620">
            <a:solidFill>
              <a:srgbClr val="00C2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48856" y="1417320"/>
            <a:ext cx="2057400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6" name="Shape 34"/>
          <p:cNvSpPr/>
          <p:nvPr/>
        </p:nvSpPr>
        <p:spPr>
          <a:xfrm>
            <a:off x="6986016" y="1572768"/>
            <a:ext cx="1005840" cy="256032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7" name="Text 35"/>
          <p:cNvSpPr/>
          <p:nvPr/>
        </p:nvSpPr>
        <p:spPr>
          <a:xfrm>
            <a:off x="6986016" y="15727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120"/>
                </a:solidFill>
              </a:rPr>
              <a:t>预测预警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958584" y="1920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2FF"/>
                </a:solidFill>
              </a:rPr>
              <a:t>TPM-PA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58584" y="2267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时序预测预警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58584" y="2606040"/>
            <a:ext cx="1828800" cy="457200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41" name="Text 39"/>
          <p:cNvSpPr/>
          <p:nvPr/>
        </p:nvSpPr>
        <p:spPr>
          <a:xfrm>
            <a:off x="6958584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0C2FF"/>
                </a:solidFill>
              </a:rPr>
              <a:t>Pearson跨信号相关性分析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958584" y="3127248"/>
            <a:ext cx="18288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E8F0FE"/>
                </a:solidFill>
              </a:rPr>
              <a:t>线性趋势分解提取异常残差 + Pearson跨信号相关分析，多区域同时异常相关且残差超阈值时提前触发预防性预警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2038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</a:rPr>
              <a:t>面向智慧校园的细粒度网络流量监控与安全态势感知系统 | 苏州大学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772400" y="48737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BB"/>
                </a:solidFill>
              </a:rPr>
              <a:t>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06  DEPLOYMENT &amp; PERFORMANCE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容器化部署与性能指标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9BB"/>
                </a:solidFill>
              </a:rPr>
              <a:t>Docker Compose一键启动 · 演示数据智能自维护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09728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417320"/>
            <a:ext cx="4754880" cy="3291840"/>
          </a:xfrm>
          <a:prstGeom prst="rect">
            <a:avLst/>
          </a:prstGeom>
          <a:solidFill>
            <a:srgbClr val="142038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4813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Docker Compose 部署架构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4480560" cy="274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011680"/>
            <a:ext cx="1371600" cy="914400"/>
          </a:xfrm>
          <a:prstGeom prst="rect">
            <a:avLst/>
          </a:prstGeom>
          <a:solidFill>
            <a:srgbClr val="1A2A4A"/>
          </a:solidFill>
          <a:ln w="762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1371600" cy="3200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011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120"/>
                </a:solidFill>
              </a:rPr>
              <a:t>postgres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377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</a:rPr>
              <a:t>PostgreSQL 15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</a:rPr>
              <a:t>数据持久化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011680" y="2011680"/>
            <a:ext cx="1371600" cy="914400"/>
          </a:xfrm>
          <a:prstGeom prst="rect">
            <a:avLst/>
          </a:prstGeom>
          <a:solidFill>
            <a:srgbClr val="1A2A4A"/>
          </a:solidFill>
          <a:ln w="762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11680" y="2011680"/>
            <a:ext cx="1371600" cy="32004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6" name="Text 14"/>
          <p:cNvSpPr/>
          <p:nvPr/>
        </p:nvSpPr>
        <p:spPr>
          <a:xfrm>
            <a:off x="2011680" y="2011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120"/>
                </a:solidFill>
              </a:rPr>
              <a:t>backend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11680" y="2377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</a:rPr>
              <a:t>Spring Boot 3.x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</a:rPr>
              <a:t>API + WebSocket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566160" y="2011680"/>
            <a:ext cx="1371600" cy="914400"/>
          </a:xfrm>
          <a:prstGeom prst="rect">
            <a:avLst/>
          </a:prstGeom>
          <a:solidFill>
            <a:srgbClr val="1A2A4A"/>
          </a:solidFill>
          <a:ln w="762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566160" y="2011680"/>
            <a:ext cx="1371600" cy="32004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0" name="Text 18"/>
          <p:cNvSpPr/>
          <p:nvPr/>
        </p:nvSpPr>
        <p:spPr>
          <a:xfrm>
            <a:off x="3566160" y="2011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120"/>
                </a:solidFill>
              </a:rPr>
              <a:t>frontend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66160" y="2377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</a:rPr>
              <a:t>React + Nginx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</a:rPr>
              <a:t>静态服务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4480560" cy="274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291840"/>
            <a:ext cx="594360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29184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前端大屏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35478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http://localhost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011680" y="3291840"/>
            <a:ext cx="594360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7" name="Text 25"/>
          <p:cNvSpPr/>
          <p:nvPr/>
        </p:nvSpPr>
        <p:spPr>
          <a:xfrm>
            <a:off x="2011680" y="329184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后端API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011680" y="35478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http://localhost:8080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566160" y="3291840"/>
            <a:ext cx="594360" cy="23774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3566160" y="329184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Swagger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566160" y="35478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F0FE"/>
                </a:solidFill>
              </a:rPr>
              <a:t>http://localhost:8080/swagger-ui.html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" y="3913632"/>
            <a:ext cx="4480560" cy="274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0050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FF88"/>
                </a:solidFill>
              </a:rPr>
              <a:t>智能演示数据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2793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12Gbps吞吐量 · 20000活跃IP · 5%异常流量比例 · 每分钟自动续流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257800" y="1417320"/>
            <a:ext cx="3566160" cy="3291840"/>
          </a:xfrm>
          <a:prstGeom prst="rect">
            <a:avLst/>
          </a:prstGeom>
          <a:solidFill>
            <a:srgbClr val="142038"/>
          </a:solidFill>
          <a:ln w="63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257800" y="1417320"/>
            <a:ext cx="3566160" cy="38404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7" name="Text 35"/>
          <p:cNvSpPr/>
          <p:nvPr/>
        </p:nvSpPr>
        <p:spPr>
          <a:xfrm>
            <a:off x="5394960" y="14173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120"/>
                </a:solidFill>
              </a:rPr>
              <a:t>性能指标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94960" y="1920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0FE"/>
                </a:solidFill>
              </a:rPr>
              <a:t>链路带宽支持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315200" y="1920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≥10Gbps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394960" y="2194560"/>
            <a:ext cx="3291840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1" name="Text 39"/>
          <p:cNvSpPr/>
          <p:nvPr/>
        </p:nvSpPr>
        <p:spPr>
          <a:xfrm>
            <a:off x="5394960" y="2258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0FE"/>
                </a:solidFill>
              </a:rPr>
              <a:t>WebSocket推送延迟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15200" y="2258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P95 ≤500ms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394960" y="2532888"/>
            <a:ext cx="3291840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4" name="Text 42"/>
          <p:cNvSpPr/>
          <p:nvPr/>
        </p:nvSpPr>
        <p:spPr>
          <a:xfrm>
            <a:off x="5394960" y="25968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0FE"/>
                </a:solidFill>
              </a:rPr>
              <a:t>Dashboard API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315200" y="25968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B61FF"/>
                </a:solidFill>
              </a:rPr>
              <a:t>P95 ≤200ms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394960" y="2871216"/>
            <a:ext cx="3291840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7" name="Text 45"/>
          <p:cNvSpPr/>
          <p:nvPr/>
        </p:nvSpPr>
        <p:spPr>
          <a:xfrm>
            <a:off x="5394960" y="29352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0FE"/>
                </a:solidFill>
              </a:rPr>
              <a:t>FlowSearch查询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315200" y="29352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B61FF"/>
                </a:solidFill>
              </a:rPr>
              <a:t>P95 ≤500ms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394960" y="3209544"/>
            <a:ext cx="3291840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0" name="Text 48"/>
          <p:cNvSpPr/>
          <p:nvPr/>
        </p:nvSpPr>
        <p:spPr>
          <a:xfrm>
            <a:off x="5394960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0FE"/>
                </a:solidFill>
              </a:rPr>
              <a:t>页面首屏加载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315200" y="3273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FF88"/>
                </a:solidFill>
              </a:rPr>
              <a:t>≤1.5秒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394960" y="3547872"/>
            <a:ext cx="3291840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3" name="Text 51"/>
          <p:cNvSpPr/>
          <p:nvPr/>
        </p:nvSpPr>
        <p:spPr>
          <a:xfrm>
            <a:off x="5394960" y="3611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0FE"/>
                </a:solidFill>
              </a:rPr>
              <a:t>动画帧率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315200" y="3611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FF88"/>
                </a:solidFill>
              </a:rPr>
              <a:t>60fps流畅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394960" y="3886200"/>
            <a:ext cx="3291840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6" name="Text 54"/>
          <p:cNvSpPr/>
          <p:nvPr/>
        </p:nvSpPr>
        <p:spPr>
          <a:xfrm>
            <a:off x="5394960" y="39502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0FE"/>
                </a:solidFill>
              </a:rPr>
              <a:t>前端包体积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315200" y="39502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8C42"/>
                </a:solidFill>
              </a:rPr>
              <a:t>主包≤500KB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394960" y="4224528"/>
            <a:ext cx="3291840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9" name="Text 57"/>
          <p:cNvSpPr/>
          <p:nvPr/>
        </p:nvSpPr>
        <p:spPr>
          <a:xfrm>
            <a:off x="5394960" y="42885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8F0FE"/>
                </a:solidFill>
              </a:rPr>
              <a:t>DB查询P95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315200" y="42885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C2FF"/>
                </a:solidFill>
              </a:rPr>
              <a:t>≤200ms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394960" y="4562856"/>
            <a:ext cx="3291840" cy="182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2" name="Shape 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2038"/>
          </a:solidFill>
          <a:ln/>
        </p:spPr>
      </p:sp>
      <p:sp>
        <p:nvSpPr>
          <p:cNvPr id="63" name="Text 61"/>
          <p:cNvSpPr/>
          <p:nvPr/>
        </p:nvSpPr>
        <p:spPr>
          <a:xfrm>
            <a:off x="27432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</a:rPr>
              <a:t>面向智慧校园的细粒度网络流量监控与安全态势感知系统 | 苏州大学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772400" y="48737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BB"/>
                </a:solidFill>
              </a:rPr>
              <a:t>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07  INNOVATION HIGHLIGHTS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创新亮点总结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9BB"/>
                </a:solidFill>
              </a:rPr>
              <a:t>对标企业级网络分析产品，超越传统监控系统的交互深度与智能化水平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09728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417320"/>
            <a:ext cx="4160520" cy="1645920"/>
          </a:xfrm>
          <a:prstGeom prst="rect">
            <a:avLst/>
          </a:prstGeom>
          <a:solidFill>
            <a:srgbClr val="142038"/>
          </a:solidFill>
          <a:ln w="762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548640" cy="16459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5270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四套原创算法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8928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0FE"/>
                </a:solidFill>
              </a:rPr>
              <a:t>▸  EWMA-EAD熵异常检测，融合流量统计+协议熵双特征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05840" y="21671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0FE"/>
                </a:solidFill>
              </a:rPr>
              <a:t>▸  MDTCE Kill Chain关联，识别完整攻击链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05840" y="24414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0FE"/>
                </a:solidFill>
              </a:rPr>
              <a:t>▸  NBF-RS 7维行为指纹，综合风险画像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05840" y="27157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0FE"/>
                </a:solidFill>
              </a:rPr>
              <a:t>▸  TPM-PA趋势预测，实现超前预警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17720" y="1417320"/>
            <a:ext cx="4160520" cy="1645920"/>
          </a:xfrm>
          <a:prstGeom prst="rect">
            <a:avLst/>
          </a:prstGeom>
          <a:solidFill>
            <a:srgbClr val="142038"/>
          </a:solidFill>
          <a:ln w="762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417320"/>
            <a:ext cx="548640" cy="164592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2011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03520" y="15270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B61FF"/>
                </a:solidFill>
              </a:rPr>
              <a:t>6级下钻交互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0" y="18928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0FE"/>
                </a:solidFill>
              </a:rPr>
              <a:t>▸  全景→区域→楼宇→交换机→端口→单IP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303520" y="21671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0FE"/>
                </a:solidFill>
              </a:rPr>
              <a:t>▸  对标NetFlow Analyzer / SolarWinds NTA交互深度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303520" y="24414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0FE"/>
                </a:solidFill>
              </a:rPr>
              <a:t>▸  任意IP字段均可点击跳转详情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303520" y="27157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0FE"/>
                </a:solidFill>
              </a:rPr>
              <a:t>▸  WebSocket状态徽章提升运维感知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3200400"/>
            <a:ext cx="4160520" cy="1645920"/>
          </a:xfrm>
          <a:prstGeom prst="rect">
            <a:avLst/>
          </a:prstGeom>
          <a:solidFill>
            <a:srgbClr val="142038"/>
          </a:solidFill>
          <a:ln w="762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200400"/>
            <a:ext cx="548640" cy="164592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794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</a:rPr>
              <a:t>03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331012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88"/>
                </a:solidFill>
              </a:rPr>
              <a:t>3D地球攻击溯源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367588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0FE"/>
                </a:solidFill>
              </a:rPr>
              <a:t>▸  Canvas内存纹理4K地图，无跨域加载问题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05840" y="39502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0FE"/>
                </a:solidFill>
              </a:rPr>
              <a:t>▸  Jitter坐标抖动算法，高密度攻击不失真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05840" y="42245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0FE"/>
                </a:solidFill>
              </a:rPr>
              <a:t>▸  Bloom泛光+大气层特效，科技感视觉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05840" y="44988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0FE"/>
                </a:solidFill>
              </a:rPr>
              <a:t>▸  Tooltip精细化展示攻击详情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17720" y="3200400"/>
            <a:ext cx="4160520" cy="1645920"/>
          </a:xfrm>
          <a:prstGeom prst="rect">
            <a:avLst/>
          </a:prstGeom>
          <a:solidFill>
            <a:srgbClr val="142038"/>
          </a:solidFill>
          <a:ln w="762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17720" y="3200400"/>
            <a:ext cx="548640" cy="1645920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3" name="Text 31"/>
          <p:cNvSpPr/>
          <p:nvPr/>
        </p:nvSpPr>
        <p:spPr>
          <a:xfrm>
            <a:off x="4617720" y="3794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120"/>
                </a:solidFill>
              </a:rPr>
              <a:t>04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03520" y="331012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8C42"/>
                </a:solidFill>
              </a:rPr>
              <a:t>企业级取证能力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03520" y="367588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0FE"/>
                </a:solidFill>
              </a:rPr>
              <a:t>▸  类Wireshark Web检索，CIDR+端口范围支持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303520" y="39502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0FE"/>
                </a:solidFill>
              </a:rPr>
              <a:t>▸  多条件组合筛选，localStorage持久化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303520" y="42245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0FE"/>
                </a:solidFill>
              </a:rPr>
              <a:t>▸  CSV全量导出，支持故障取证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303520" y="44988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F0FE"/>
                </a:solidFill>
              </a:rPr>
              <a:t>▸  动态基线阈值+告警去重，降低误报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2038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</a:rPr>
              <a:t>面向智慧校园的细粒度网络流量监控与安全态势感知系统 | 苏州大学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772400" y="48737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BB"/>
                </a:solidFill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08  EVALUATION CRITERIA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赛题评分要点全覆盖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899BB"/>
                </a:solidFill>
              </a:rPr>
              <a:t>10项技术指标全部落地，超出赛题要求的核心亮点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09728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417320"/>
            <a:ext cx="4160520" cy="594360"/>
          </a:xfrm>
          <a:prstGeom prst="rect">
            <a:avLst/>
          </a:prstGeom>
          <a:solidFill>
            <a:srgbClr val="142038"/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417320"/>
            <a:ext cx="54864" cy="5943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14721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高频采样·秒级·10Gbps+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68680" y="17282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9BB"/>
                </a:solidFill>
              </a:rPr>
              <a:t>实际：秒级采样，支持12Gbps模拟链路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17720" y="1417320"/>
            <a:ext cx="4160520" cy="594360"/>
          </a:xfrm>
          <a:prstGeom prst="rect">
            <a:avLst/>
          </a:prstGeom>
          <a:solidFill>
            <a:srgbClr val="142038"/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1417320"/>
            <a:ext cx="54864" cy="5943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66360" y="14721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Bytes/Packets 双维可视化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166360" y="17282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9BB"/>
                </a:solidFill>
              </a:rPr>
              <a:t>实际：所有图表均支持双维切换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084832"/>
            <a:ext cx="4160520" cy="594360"/>
          </a:xfrm>
          <a:prstGeom prst="rect">
            <a:avLst/>
          </a:prstGeom>
          <a:solidFill>
            <a:srgbClr val="142038"/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084832"/>
            <a:ext cx="54864" cy="5943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21396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≥10种应用协议识别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68680" y="23957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9BB"/>
                </a:solidFill>
              </a:rPr>
              <a:t>实际：覆盖27种协议/应用类型（超出17种）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17720" y="2084832"/>
            <a:ext cx="4160520" cy="594360"/>
          </a:xfrm>
          <a:prstGeom prst="rect">
            <a:avLst/>
          </a:prstGeom>
          <a:solidFill>
            <a:srgbClr val="142038"/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0" y="2084832"/>
            <a:ext cx="54864" cy="5943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66360" y="21396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≥4种威胁检测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166360" y="23957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9BB"/>
                </a:solidFill>
              </a:rPr>
              <a:t>实际：6规则型+4算法型=10种检测能力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2752344"/>
            <a:ext cx="4160520" cy="594360"/>
          </a:xfrm>
          <a:prstGeom prst="rect">
            <a:avLst/>
          </a:prstGeom>
          <a:solidFill>
            <a:srgbClr val="142038"/>
          </a:solidFill>
          <a:ln w="5080">
            <a:solidFill>
              <a:srgbClr val="7B61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2752344"/>
            <a:ext cx="54864" cy="59436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2843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61FF"/>
                </a:solidFill>
              </a:rPr>
              <a:t>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8680" y="28072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宏观→单IP下钻交互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68680" y="30632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9BB"/>
                </a:solidFill>
              </a:rPr>
              <a:t>实际：6级完整下钻路径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17720" y="2752344"/>
            <a:ext cx="4160520" cy="594360"/>
          </a:xfrm>
          <a:prstGeom prst="rect">
            <a:avLst/>
          </a:prstGeom>
          <a:solidFill>
            <a:srgbClr val="142038"/>
          </a:solidFill>
          <a:ln w="5080">
            <a:solidFill>
              <a:srgbClr val="7B61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7720" y="2752344"/>
            <a:ext cx="54864" cy="59436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2843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61FF"/>
                </a:solidFill>
              </a:rPr>
              <a:t>✓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166360" y="28072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WebSocket实时推送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166360" y="30632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9BB"/>
                </a:solidFill>
              </a:rPr>
              <a:t>实际：全双工推送，P95延迟≤500ms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3419856"/>
            <a:ext cx="4160520" cy="594360"/>
          </a:xfrm>
          <a:prstGeom prst="rect">
            <a:avLst/>
          </a:prstGeom>
          <a:solidFill>
            <a:srgbClr val="142038"/>
          </a:solidFill>
          <a:ln w="5080">
            <a:solidFill>
              <a:srgbClr val="7B61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3419856"/>
            <a:ext cx="54864" cy="59436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61FF"/>
                </a:solidFill>
              </a:rPr>
              <a:t>✓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68680" y="3474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区域/楼宇透视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68680" y="37307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9BB"/>
                </a:solidFill>
              </a:rPr>
              <a:t>实际：区域→楼宇→交换机→端口4级透视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17720" y="3419856"/>
            <a:ext cx="4160520" cy="594360"/>
          </a:xfrm>
          <a:prstGeom prst="rect">
            <a:avLst/>
          </a:prstGeom>
          <a:solidFill>
            <a:srgbClr val="142038"/>
          </a:solidFill>
          <a:ln w="5080">
            <a:solidFill>
              <a:srgbClr val="00FF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17720" y="3419856"/>
            <a:ext cx="54864" cy="5943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44" name="Text 42"/>
          <p:cNvSpPr/>
          <p:nvPr/>
        </p:nvSpPr>
        <p:spPr>
          <a:xfrm>
            <a:off x="4754880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✓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166360" y="3474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类Wireshark微观流检索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166360" y="37307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9BB"/>
                </a:solidFill>
              </a:rPr>
              <a:t>实际：CIDR+端口范围+多条件+CSV导出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0040" y="4087368"/>
            <a:ext cx="4160520" cy="594360"/>
          </a:xfrm>
          <a:prstGeom prst="rect">
            <a:avLst/>
          </a:prstGeom>
          <a:solidFill>
            <a:srgbClr val="142038"/>
          </a:solidFill>
          <a:ln w="5080">
            <a:solidFill>
              <a:srgbClr val="00FF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4087368"/>
            <a:ext cx="54864" cy="5943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4178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✓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68680" y="41422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安全日志筛选/排序/导出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68680" y="43982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9BB"/>
                </a:solidFill>
              </a:rPr>
              <a:t>实际：多维筛选+多字段排序+CSV导出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617720" y="4087368"/>
            <a:ext cx="4160520" cy="594360"/>
          </a:xfrm>
          <a:prstGeom prst="rect">
            <a:avLst/>
          </a:prstGeom>
          <a:solidFill>
            <a:srgbClr val="142038"/>
          </a:solidFill>
          <a:ln w="5080">
            <a:solidFill>
              <a:srgbClr val="00FF8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17720" y="4087368"/>
            <a:ext cx="54864" cy="5943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54" name="Text 52"/>
          <p:cNvSpPr/>
          <p:nvPr/>
        </p:nvSpPr>
        <p:spPr>
          <a:xfrm>
            <a:off x="4754880" y="4178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✓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166360" y="41422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3D地球攻击溯源地图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166360" y="43982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9BB"/>
                </a:solidFill>
              </a:rPr>
              <a:t>实际：Canvas纹理+Jitter+Bloom特效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20040" y="4645152"/>
            <a:ext cx="8503920" cy="201168"/>
          </a:xfrm>
          <a:prstGeom prst="rect">
            <a:avLst/>
          </a:prstGeom>
          <a:solidFill>
            <a:srgbClr val="1A2A4A"/>
          </a:solidFill>
          <a:ln/>
        </p:spPr>
      </p:sp>
      <p:sp>
        <p:nvSpPr>
          <p:cNvPr id="58" name="Text 56"/>
          <p:cNvSpPr/>
          <p:nvPr/>
        </p:nvSpPr>
        <p:spPr>
          <a:xfrm>
            <a:off x="457200" y="4645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D4FF"/>
                </a:solidFill>
              </a:rPr>
              <a:t>超出要求亮点：4套原创算法 · 27种协议识别（要求10种）· 10种威胁检测（要求4种）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2038"/>
          </a:solidFill>
          <a:ln/>
        </p:spPr>
      </p:sp>
      <p:sp>
        <p:nvSpPr>
          <p:cNvPr id="60" name="Text 58"/>
          <p:cNvSpPr/>
          <p:nvPr/>
        </p:nvSpPr>
        <p:spPr>
          <a:xfrm>
            <a:off x="274320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</a:rPr>
              <a:t>面向智慧校园的细粒度网络流量监控与安全态势感知系统 | 苏州大学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772400" y="48737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BB"/>
                </a:solidFill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0" y="1097280"/>
            <a:ext cx="2743200" cy="2743200"/>
          </a:xfrm>
          <a:prstGeom prst="rect">
            <a:avLst/>
          </a:prstGeom>
          <a:solidFill>
            <a:srgbClr val="142038"/>
          </a:solidFill>
          <a:ln w="63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0" y="1097280"/>
            <a:ext cx="274320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0" y="3776472"/>
            <a:ext cx="2743200" cy="64008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280160"/>
            <a:ext cx="731520" cy="731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0" y="2103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感谢聆听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</a:rPr>
              <a:t>THANK YOU FOR YOUR ATTENTION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023360" y="3063240"/>
            <a:ext cx="1097280" cy="27432"/>
          </a:xfrm>
          <a:prstGeom prst="rect">
            <a:avLst/>
          </a:prstGeom>
          <a:solidFill>
            <a:srgbClr val="00D4FF">
              <a:alpha val="4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3200400" y="31546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面向智慧校园的细粒度网络流量监控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与安全态势感知系统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A19 · 智能计算 · 应用类  |  苏州大学  |  企业命题（A类）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4FF"/>
                </a:solidFill>
              </a:rPr>
              <a:t>10Gbps+ 链路  ·  27协议  ·  10种威胁检测  ·  4套原创算法  ·  6级下钻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面向智慧校园的细粒度网络流量监控与安全态势感知系统</dc:title>
  <dc:subject>PptxGenJS Presentation</dc:subject>
  <dc:creator>苏州大学</dc:creator>
  <cp:lastModifiedBy>苏州大学</cp:lastModifiedBy>
  <cp:revision>1</cp:revision>
  <dcterms:created xsi:type="dcterms:W3CDTF">2026-04-14T03:39:04Z</dcterms:created>
  <dcterms:modified xsi:type="dcterms:W3CDTF">2026-04-14T03:39:04Z</dcterms:modified>
</cp:coreProperties>
</file>