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1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2" r:id="rId14"/>
    <p:sldId id="265" r:id="rId15"/>
    <p:sldId id="266" r:id="rId16"/>
    <p:sldId id="267" r:id="rId17"/>
    <p:sldId id="268" r:id="rId18"/>
    <p:sldId id="269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1.png"/><Relationship Id="rId20" Type="http://schemas.openxmlformats.org/officeDocument/2006/relationships/tags" Target="../tags/tag35.xml"/><Relationship Id="rId2" Type="http://schemas.openxmlformats.org/officeDocument/2006/relationships/tags" Target="../tags/tag17.xml"/><Relationship Id="rId19" Type="http://schemas.openxmlformats.org/officeDocument/2006/relationships/tags" Target="../tags/tag34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371600"/>
            <a:ext cx="109728" cy="22860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457200"/>
            <a:ext cx="2194560" cy="411480"/>
          </a:xfrm>
          <a:prstGeom prst="rect">
            <a:avLst/>
          </a:prstGeom>
          <a:solidFill>
            <a:srgbClr val="1B9AAA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5720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计算机设计大赛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面向智慧校园的细粒度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网络流量监控与安全态势感知系统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743200" cy="36576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32004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2026年中国大学生计算机设计大赛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2560320"/>
            <a:ext cx="2560320" cy="2560320"/>
          </a:xfrm>
          <a:prstGeom prst="ellipse">
            <a:avLst/>
          </a:prstGeom>
          <a:solidFill>
            <a:srgbClr val="0F4C75">
              <a:alpha val="70000"/>
            </a:srgbClr>
          </a:solidFill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0" y="3200400"/>
            <a:ext cx="1645920" cy="1645920"/>
          </a:xfrm>
          <a:prstGeom prst="ellipse">
            <a:avLst/>
          </a:prstGeom>
          <a:solidFill>
            <a:srgbClr val="1B9AAA">
              <a:alpha val="60000"/>
            </a:srgbClr>
          </a:solidFill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团队介绍</a:t>
            </a:r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457200" y="77343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640080" y="883158"/>
            <a:ext cx="356616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4C75"/>
                </a:solidFill>
                <a:latin typeface="微软雅黑" panose="020B0503020204020204" pitchFamily="34" charset="-122"/>
              </a:defRPr>
            </a:pPr>
            <a:r>
              <a:t>侯宗阳  |  队长 / 开发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640080" y="1230630"/>
            <a:ext cx="3566160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系统架构设计与核心算法实现</a:t>
            </a:r>
          </a:p>
          <a:p>
            <a:r>
              <a:t>Java / Spring Boot / 数据库</a:t>
            </a:r>
          </a:p>
        </p:txBody>
      </p:sp>
      <p:sp>
        <p:nvSpPr>
          <p:cNvPr id="7" name="Rounded Rectangle 6"/>
          <p:cNvSpPr/>
          <p:nvPr>
            <p:custDataLst>
              <p:tags r:id="rId4"/>
            </p:custDataLst>
          </p:nvPr>
        </p:nvSpPr>
        <p:spPr>
          <a:xfrm>
            <a:off x="4846320" y="77343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5029200" y="883158"/>
            <a:ext cx="356616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4C75"/>
                </a:solidFill>
                <a:latin typeface="微软雅黑" panose="020B0503020204020204" pitchFamily="34" charset="-122"/>
              </a:defRPr>
            </a:pPr>
            <a:r>
              <a:t>王晨溪  |  前端开发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5029200" y="1230630"/>
            <a:ext cx="3566160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React组件开发与可视化实现</a:t>
            </a:r>
          </a:p>
          <a:p>
            <a:r>
              <a:t>React / ECharts / WebSocket</a:t>
            </a:r>
          </a:p>
        </p:txBody>
      </p:sp>
      <p:sp>
        <p:nvSpPr>
          <p:cNvPr id="10" name="Rounded Rectangle 9"/>
          <p:cNvSpPr/>
          <p:nvPr>
            <p:custDataLst>
              <p:tags r:id="rId7"/>
            </p:custDataLst>
          </p:nvPr>
        </p:nvSpPr>
        <p:spPr>
          <a:xfrm>
            <a:off x="441325" y="216789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624205" y="2277618"/>
            <a:ext cx="356616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4C75"/>
                </a:solidFill>
                <a:latin typeface="微软雅黑" panose="020B0503020204020204" pitchFamily="34" charset="-122"/>
              </a:defRPr>
            </a:pPr>
            <a:r>
              <a:t>徐永佳  |  算法工程师</a:t>
            </a: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624205" y="2625090"/>
            <a:ext cx="3566160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威胁检测算法设计与优化</a:t>
            </a:r>
          </a:p>
          <a:p>
            <a:r>
              <a:t>Python / 数据分析 / 机器学习</a:t>
            </a:r>
          </a:p>
        </p:txBody>
      </p:sp>
      <p:sp>
        <p:nvSpPr>
          <p:cNvPr id="13" name="Rounded Rectangle 12"/>
          <p:cNvSpPr/>
          <p:nvPr>
            <p:custDataLst>
              <p:tags r:id="rId10"/>
            </p:custDataLst>
          </p:nvPr>
        </p:nvSpPr>
        <p:spPr>
          <a:xfrm>
            <a:off x="4830445" y="216789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5013325" y="2277618"/>
            <a:ext cx="356616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4C75"/>
                </a:solidFill>
                <a:latin typeface="微软雅黑" panose="020B0503020204020204" pitchFamily="34" charset="-122"/>
              </a:defRPr>
            </a:pPr>
            <a:r>
              <a:t>徐慧芳  |  测试运维</a:t>
            </a: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5013325" y="2625090"/>
            <a:ext cx="3566160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Docker部署与系统测试</a:t>
            </a:r>
          </a:p>
          <a:p>
            <a:r>
              <a:t>Docker / Linux / 性能调优</a:t>
            </a:r>
          </a:p>
        </p:txBody>
      </p:sp>
      <p:sp>
        <p:nvSpPr>
          <p:cNvPr id="16" name="Rounded Rectangle 15"/>
          <p:cNvSpPr/>
          <p:nvPr>
            <p:custDataLst>
              <p:tags r:id="rId13"/>
            </p:custDataLst>
          </p:nvPr>
        </p:nvSpPr>
        <p:spPr>
          <a:xfrm>
            <a:off x="2590165" y="372237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4"/>
            </p:custDataLst>
          </p:nvPr>
        </p:nvSpPr>
        <p:spPr>
          <a:xfrm>
            <a:off x="2773045" y="3832098"/>
            <a:ext cx="356616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4C75"/>
                </a:solidFill>
                <a:latin typeface="微软雅黑" panose="020B0503020204020204" pitchFamily="34" charset="-122"/>
              </a:defRPr>
            </a:pPr>
            <a:r>
              <a:t>王昭烨  |  后端开发</a:t>
            </a:r>
          </a:p>
        </p:txBody>
      </p:sp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2773045" y="4179570"/>
            <a:ext cx="3566160" cy="53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后端服务开发与数据处理</a:t>
            </a:r>
          </a:p>
          <a:p>
            <a:r>
              <a:t>Java / MySQL / RESTful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微软雅黑" panose="020B0503020204020204" pitchFamily="34" charset="-122"/>
              </a:defRPr>
            </a:pPr>
            <a:r>
              <a:t>无敌暴龙战队  |  参赛编号：T2601487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答辩提纲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63040"/>
            <a:ext cx="73152" cy="13716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6002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高校网络运维的挑战与机遇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91840" y="1463040"/>
            <a:ext cx="73152" cy="13716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474720" y="16002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057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痛点分析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三大核心问题深度剖析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73152" cy="13716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09360" y="16002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2057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解决方案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四层架构全栈解决方案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108960"/>
            <a:ext cx="73152" cy="13716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2461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0080" y="3703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4023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全景大屏 / 威胁感知 / 流检索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10896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291840" y="3108960"/>
            <a:ext cx="73152" cy="13716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74720" y="32461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474720" y="3703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算法创新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74720" y="4023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四套原创算法技术突破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108960"/>
            <a:ext cx="2651760" cy="1371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126480" y="3108960"/>
            <a:ext cx="73152" cy="13716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09360" y="324612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总结展望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09360" y="40233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应用价值与未来发展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347472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教育信息化2.0时代，高校校园网已成为教学、科研与管理的核心基础设施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19456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[ 01 ]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高并发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377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万人同时在线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教学科研并行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0" y="219456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[ 02 ]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高突发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377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考试/活动期间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流量瞬时激增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219456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[ 03 ]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应用复杂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3200400"/>
            <a:ext cx="2377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HTTP/DNS/SSH等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27+种协议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1B9AAA">
              <a:alpha val="30000"/>
            </a:srgbClr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传统监控手段已无法满足精细化运维需求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痛点分析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9144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4630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[ 01 ]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看不清流量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2103120" cy="365760"/>
          </a:xfrm>
          <a:prstGeom prst="rect">
            <a:avLst/>
          </a:prstGeom>
          <a:solidFill>
            <a:srgbClr val="E74C3C">
              <a:alpha val="15000"/>
            </a:srgbClr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4688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 SNMP 5分钟级采样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2103120" cy="365760"/>
          </a:xfrm>
          <a:prstGeom prst="rect">
            <a:avLst/>
          </a:prstGeom>
          <a:solidFill>
            <a:srgbClr val="2ECC71">
              <a:alpha val="15000"/>
            </a:srgbClr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24612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秒级高频采样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2103120" cy="822960"/>
          </a:xfrm>
          <a:prstGeom prst="rect">
            <a:avLst/>
          </a:prstGeom>
          <a:solidFill>
            <a:srgbClr val="00B4D8">
              <a:alpha val="10000"/>
            </a:srgbClr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794760"/>
            <a:ext cx="2103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精度提升 300 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91840" y="1280160"/>
            <a:ext cx="26517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291840" y="1280160"/>
            <a:ext cx="2651760" cy="9144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91840" y="14630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[ 02 ]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18745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查不到根因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566160" y="2468880"/>
            <a:ext cx="2103120" cy="365760"/>
          </a:xfrm>
          <a:prstGeom prst="rect">
            <a:avLst/>
          </a:prstGeom>
          <a:solidFill>
            <a:srgbClr val="E74C3C">
              <a:alpha val="15000"/>
            </a:srgbClr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66160" y="24688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 缺乏流级检索能力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292608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66160" y="3246120"/>
            <a:ext cx="2103120" cy="365760"/>
          </a:xfrm>
          <a:prstGeom prst="rect">
            <a:avLst/>
          </a:prstGeom>
          <a:solidFill>
            <a:srgbClr val="2ECC71">
              <a:alpha val="15000"/>
            </a:srgbClr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566160" y="324612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类Wireshark Web引擎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3794760"/>
            <a:ext cx="2103120" cy="822960"/>
          </a:xfrm>
          <a:prstGeom prst="rect">
            <a:avLst/>
          </a:prstGeom>
          <a:solidFill>
            <a:srgbClr val="00B4D8">
              <a:alpha val="10000"/>
            </a:srgbClr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566160" y="3794760"/>
            <a:ext cx="2103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多维精确查询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6480" y="1280160"/>
            <a:ext cx="26517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126480" y="1280160"/>
            <a:ext cx="2651760" cy="9144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126480" y="146304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[ 03 ]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26480" y="18745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防不住威胁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400800" y="2468880"/>
            <a:ext cx="2103120" cy="365760"/>
          </a:xfrm>
          <a:prstGeom prst="rect">
            <a:avLst/>
          </a:prstGeom>
          <a:solidFill>
            <a:srgbClr val="E74C3C">
              <a:alpha val="15000"/>
            </a:srgbClr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00800" y="24688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 规则匹配误报率高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2926080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3246120"/>
            <a:ext cx="2103120" cy="365760"/>
          </a:xfrm>
          <a:prstGeom prst="rect">
            <a:avLst/>
          </a:prstGeom>
          <a:solidFill>
            <a:srgbClr val="2ECC71">
              <a:alpha val="15000"/>
            </a:srgbClr>
          </a:solidFill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00800" y="324612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规则+算法双层检测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3794760"/>
            <a:ext cx="2103120" cy="822960"/>
          </a:xfrm>
          <a:prstGeom prst="rect">
            <a:avLst/>
          </a:prstGeom>
          <a:solidFill>
            <a:srgbClr val="00B4D8">
              <a:alpha val="10000"/>
            </a:srgbClr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0" y="3794760"/>
            <a:ext cx="2103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误报率降低 60%+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解决方案 — 四层架构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88720" y="2148840"/>
            <a:ext cx="36576" cy="182880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63040"/>
            <a:ext cx="2011680" cy="685800"/>
          </a:xfrm>
          <a:prstGeom prst="rect">
            <a:avLst/>
          </a:prstGeom>
          <a:solidFill>
            <a:srgbClr val="1B9AAA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46304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51760" y="1737360"/>
            <a:ext cx="457200" cy="137160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91840" y="146304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NetFlow 秒级采集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3017520"/>
            <a:ext cx="36576" cy="182880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331720"/>
            <a:ext cx="2011680" cy="685800"/>
          </a:xfrm>
          <a:prstGeom prst="rect">
            <a:avLst/>
          </a:prstGeom>
          <a:solidFill>
            <a:srgbClr val="00B4D8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233172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51760" y="2606040"/>
            <a:ext cx="457200" cy="137160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91840" y="233172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内存缓冲 + 聚合计算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8720" y="3886200"/>
            <a:ext cx="36576" cy="182880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011680" cy="685800"/>
          </a:xfrm>
          <a:prstGeom prst="rect">
            <a:avLst/>
          </a:prstGeom>
          <a:solidFill>
            <a:srgbClr val="0F4C75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20040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651760" y="3474720"/>
            <a:ext cx="457200" cy="137160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291840" y="320040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规则匹配 + 算法分析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2011680" cy="685800"/>
          </a:xfrm>
          <a:prstGeom prst="rect">
            <a:avLst/>
          </a:prstGeom>
          <a:solidFill>
            <a:srgbClr val="1B9AAA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4069080"/>
            <a:ext cx="2011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651760" y="4343400"/>
            <a:ext cx="457200" cy="137160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291840" y="4069080"/>
            <a:ext cx="2743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WebSocket 全双工推送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1280160"/>
            <a:ext cx="2377440" cy="356616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0" y="14173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数据流向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0" y="1993392"/>
            <a:ext cx="164592" cy="164592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858000" y="19202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高吞吐链路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47688" y="2157984"/>
            <a:ext cx="36576" cy="219456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583680" y="2450592"/>
            <a:ext cx="164592" cy="164592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858000" y="23774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秒级NetFlow采集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47688" y="2615184"/>
            <a:ext cx="36576" cy="219456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583680" y="2907792"/>
            <a:ext cx="164592" cy="164592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858000" y="28346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内存缓冲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47688" y="3072384"/>
            <a:ext cx="36576" cy="219456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583680" y="3364992"/>
            <a:ext cx="164592" cy="164592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858000" y="32918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实时聚合计算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47688" y="3529584"/>
            <a:ext cx="36576" cy="219456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583680" y="3822192"/>
            <a:ext cx="164592" cy="164592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858000" y="37490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WebSocket推送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647688" y="3986784"/>
            <a:ext cx="36576" cy="219456"/>
          </a:xfrm>
          <a:prstGeom prst="rect">
            <a:avLst/>
          </a:prstGeom>
          <a:solidFill>
            <a:srgbClr val="778DA9"/>
          </a:solidFill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583680" y="4279392"/>
            <a:ext cx="164592" cy="164592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858000" y="42062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PostgreSQL持久化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核心功能 — 实时全景大屏</a:t>
            </a:r>
            <a:endParaRPr lang="en-US" sz="28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445" y="1280160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445" y="1280160"/>
            <a:ext cx="54864" cy="64008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87325" y="13716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核心指标卡片</a:t>
            </a:r>
            <a:endParaRPr lang="en-US" sz="14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87325" y="162763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实时吞吐量、PPS、活跃IP数、告警总数</a:t>
            </a:r>
            <a:endParaRPr lang="en-US" sz="110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4445" y="1993392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445" y="1993392"/>
            <a:ext cx="54864" cy="64008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187325" y="208483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吞吐趋势图</a:t>
            </a:r>
            <a:endParaRPr lang="en-US" sz="14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187325" y="234086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时间桶对齐折线图，60fps流畅刷新</a:t>
            </a:r>
            <a:endParaRPr lang="en-US" sz="110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4445" y="2706624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4445" y="2706624"/>
            <a:ext cx="54864" cy="64008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187325" y="279806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协议分布饼图</a:t>
            </a:r>
            <a:endParaRPr lang="en-US" sz="14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187325" y="305409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HTTP/HTTPS/DNS等27种协议实时分析</a:t>
            </a:r>
            <a:endParaRPr lang="en-US" sz="110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4445" y="3419856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4445" y="3419856"/>
            <a:ext cx="54864" cy="64008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87325" y="351129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Top-K突发大流</a:t>
            </a:r>
            <a:endParaRPr lang="en-US" sz="1400" dirty="0"/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187325" y="376732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按流量排序Top-10，点击直接下钻</a:t>
            </a:r>
            <a:endParaRPr lang="en-US" sz="1100" dirty="0"/>
          </a:p>
        </p:txBody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4445" y="4133088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>
            <p:custDataLst>
              <p:tags r:id="rId18"/>
            </p:custDataLst>
          </p:nvPr>
        </p:nvSpPr>
        <p:spPr>
          <a:xfrm>
            <a:off x="4445" y="4133088"/>
            <a:ext cx="54864" cy="64008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187325" y="4224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区域热力图</a:t>
            </a:r>
            <a:endParaRPr lang="en-US" sz="14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187325" y="448056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宿舍区/教学区/行政区/科研区分布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40233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663440" y="128016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Dashboard 实时预览</a:t>
            </a:r>
            <a:endParaRPr lang="en-US" sz="1400" dirty="0"/>
          </a:p>
        </p:txBody>
      </p:sp>
      <p:pic>
        <p:nvPicPr>
          <p:cNvPr id="48" name="图片 47" descr="真实全景大屏截图_全页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18940" y="1005205"/>
            <a:ext cx="4925060" cy="41382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核心功能 — 安全威胁感知中心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双层威胁检测体系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566160" cy="32004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规则驱动层 — 6种典型威胁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50592"/>
            <a:ext cx="164592" cy="164592"/>
          </a:xfrm>
          <a:prstGeom prst="ellipse">
            <a:avLst/>
          </a:prstGeom>
          <a:solidFill>
            <a:srgbClr val="E74C3C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237744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DDoS攻击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450592"/>
            <a:ext cx="164592" cy="164592"/>
          </a:xfrm>
          <a:prstGeom prst="ellipse">
            <a:avLst/>
          </a:prstGeom>
          <a:solidFill>
            <a:srgbClr val="E74C3C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97480" y="237744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端口扫描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62072"/>
            <a:ext cx="164592" cy="164592"/>
          </a:xfrm>
          <a:prstGeom prst="ellipse">
            <a:avLst/>
          </a:prstGeom>
          <a:solidFill>
            <a:srgbClr val="E74C3C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27889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慢速扫描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68880" y="2862072"/>
            <a:ext cx="164592" cy="164592"/>
          </a:xfrm>
          <a:prstGeom prst="ellipse">
            <a:avLst/>
          </a:prstGeom>
          <a:solidFill>
            <a:srgbClr val="E74C3C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697480" y="278892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蠕虫传播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273552"/>
            <a:ext cx="164592" cy="164592"/>
          </a:xfrm>
          <a:prstGeom prst="ellipse">
            <a:avLst/>
          </a:prstGeom>
          <a:solidFill>
            <a:srgbClr val="E74C3C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320040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钓鱼攻击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68880" y="3273552"/>
            <a:ext cx="164592" cy="164592"/>
          </a:xfrm>
          <a:prstGeom prst="ellipse">
            <a:avLst/>
          </a:prstGeom>
          <a:solidFill>
            <a:srgbClr val="E74C3C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697480" y="320040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数据外泄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3566160" cy="320040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65760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算法增强层 — 4套原创算法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06908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EWMA-EAD | MDTCE | NBF-RS | TPM-PA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280160"/>
            <a:ext cx="40233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4023360" cy="411480"/>
          </a:xfrm>
          <a:prstGeom prst="rect">
            <a:avLst/>
          </a:prstGeom>
          <a:solidFill>
            <a:srgbClr val="0F4C75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63440" y="1280160"/>
            <a:ext cx="4023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3D地球攻击溯源地图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42062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WebGL渲染 | Bloom泛光特效 | Jitter坐标抖动</a:t>
            </a:r>
            <a:endParaRPr lang="en-US" sz="1000" dirty="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4270" y="1703070"/>
            <a:ext cx="3442335" cy="24911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核心功能 — 微观流级检索引擎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检索 ]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类Wireshark Web检索引擎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137160" cy="137160"/>
          </a:xfrm>
          <a:prstGeom prst="ellipse">
            <a:avLst/>
          </a:prstGeom>
          <a:solidFill>
            <a:srgbClr val="2ECC71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5603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源/目IP精确 + CIDR通配检索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953512"/>
            <a:ext cx="137160" cy="137160"/>
          </a:xfrm>
          <a:prstGeom prst="ellipse">
            <a:avLst/>
          </a:prstGeom>
          <a:solidFill>
            <a:srgbClr val="2ECC71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0120" y="290779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端口范围、协议类型筛选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300984"/>
            <a:ext cx="137160" cy="137160"/>
          </a:xfrm>
          <a:prstGeom prst="ellipse">
            <a:avLst/>
          </a:prstGeom>
          <a:solidFill>
            <a:srgbClr val="2ECC71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0120" y="3255264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应用协议、时间范围联合查询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648456"/>
            <a:ext cx="137160" cy="137160"/>
          </a:xfrm>
          <a:prstGeom prst="ellipse">
            <a:avLst/>
          </a:prstGeom>
          <a:solidFill>
            <a:srgbClr val="2ECC71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0120" y="3602736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分页展示完整五元组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95928"/>
            <a:ext cx="137160" cy="137160"/>
          </a:xfrm>
          <a:prstGeom prst="ellipse">
            <a:avLst/>
          </a:prstGeom>
          <a:solidFill>
            <a:srgbClr val="2ECC71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3950208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CSV一键导出取证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343400"/>
            <a:ext cx="137160" cy="137160"/>
          </a:xfrm>
          <a:prstGeom prst="ellipse">
            <a:avLst/>
          </a:prstGeom>
          <a:solidFill>
            <a:srgbClr val="2ECC71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60120" y="429768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任意IP点击下钻画像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393192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单IP详情画像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37760" y="40690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六层下钻路径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4389120"/>
            <a:ext cx="502920" cy="320040"/>
          </a:xfrm>
          <a:prstGeom prst="rect">
            <a:avLst/>
          </a:prstGeom>
          <a:solidFill>
            <a:srgbClr val="0F4C75"/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93776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全网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40680" y="43891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DA9"/>
                </a:solidFill>
              </a:rPr>
              <a:t>&gt;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32120" y="4389120"/>
            <a:ext cx="502920" cy="320040"/>
          </a:xfrm>
          <a:prstGeom prst="rect">
            <a:avLst/>
          </a:prstGeom>
          <a:solidFill>
            <a:srgbClr val="0F4C75"/>
          </a:solidFill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53212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区域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35040" y="43891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DA9"/>
                </a:solidFill>
              </a:rPr>
              <a:t>&gt;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4389120"/>
            <a:ext cx="502920" cy="320040"/>
          </a:xfrm>
          <a:prstGeom prst="rect">
            <a:avLst/>
          </a:prstGeom>
          <a:solidFill>
            <a:srgbClr val="0F4C75"/>
          </a:solidFill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12648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楼宇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29400" y="43891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DA9"/>
                </a:solidFill>
              </a:rPr>
              <a:t>&gt;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20840" y="4389120"/>
            <a:ext cx="502920" cy="320040"/>
          </a:xfrm>
          <a:prstGeom prst="rect">
            <a:avLst/>
          </a:prstGeom>
          <a:solidFill>
            <a:srgbClr val="0F4C75"/>
          </a:solidFill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72084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交换机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23760" y="43891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DA9"/>
                </a:solidFill>
              </a:rPr>
              <a:t>&gt;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315200" y="4389120"/>
            <a:ext cx="502920" cy="320040"/>
          </a:xfrm>
          <a:prstGeom prst="rect">
            <a:avLst/>
          </a:prstGeom>
          <a:solidFill>
            <a:srgbClr val="0F4C75"/>
          </a:solidFill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31520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端口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18120" y="4389120"/>
            <a:ext cx="91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DA9"/>
                </a:solidFill>
              </a:rPr>
              <a:t>&gt;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909560" y="4389120"/>
            <a:ext cx="502920" cy="320040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909560" y="4389120"/>
            <a:ext cx="502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IP</a:t>
            </a:r>
            <a:endParaRPr lang="en-US" sz="900" dirty="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245" y="1694180"/>
            <a:ext cx="3932555" cy="22561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算法创新 — 四套原创算法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91440" cy="1600200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5087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EWMA-EAD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指数加权熵异常检测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融合流量统计与协议Shannon熵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560320"/>
            <a:ext cx="2011680" cy="320040"/>
          </a:xfrm>
          <a:prstGeom prst="rect">
            <a:avLst/>
          </a:prstGeom>
          <a:solidFill>
            <a:srgbClr val="2ECC71">
              <a:alpha val="30000"/>
            </a:srgbClr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256032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误报率降低60%+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02336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91440" cy="1600200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83480" y="15087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MDTCE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83480" y="19202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多维威胁关联引擎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2240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基于Kill Chain攻击阶段图建模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560320"/>
            <a:ext cx="2011680" cy="320040"/>
          </a:xfrm>
          <a:prstGeom prst="rect">
            <a:avLst/>
          </a:prstGeom>
          <a:solidFill>
            <a:srgbClr val="2ECC71">
              <a:alpha val="30000"/>
            </a:srgbClr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83480" y="256032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识别完整攻击链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402336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154680"/>
            <a:ext cx="91440" cy="1600200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329184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NBF-RS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37033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7维行为指纹评分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40233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协议熵、对端多样性等7维特征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343400"/>
            <a:ext cx="2011680" cy="320040"/>
          </a:xfrm>
          <a:prstGeom prst="rect">
            <a:avLst/>
          </a:prstGeom>
          <a:solidFill>
            <a:srgbClr val="2ECC71">
              <a:alpha val="30000"/>
            </a:srgbClr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5800" y="43434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综合风险评估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154680"/>
            <a:ext cx="402336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754880" y="3154680"/>
            <a:ext cx="91440" cy="1600200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983480" y="329184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TPM-PA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983480" y="37033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时序预测预警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40233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Pearson跨信号相关+趋势预测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4343400"/>
            <a:ext cx="2011680" cy="320040"/>
          </a:xfrm>
          <a:prstGeom prst="rect">
            <a:avLst/>
          </a:prstGeom>
          <a:solidFill>
            <a:srgbClr val="2ECC71">
              <a:alpha val="30000"/>
            </a:srgbClr>
          </a:solidFill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983480" y="434340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预防性告警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算法创新-算法详解</a:t>
            </a:r>
            <a:endParaRPr lang="en-US" sz="3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10312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5" name="Shape 3"/>
          <p:cNvSpPr/>
          <p:nvPr/>
        </p:nvSpPr>
        <p:spPr>
          <a:xfrm>
            <a:off x="457200" y="914400"/>
            <a:ext cx="91440" cy="210312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EWMA-EAD 指数加权熵异常检测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核心思路：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1. EWMA平滑：抑制流量噪声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   S_t = α×X_t + (1-α)×S_{t-1}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2. Shannon熵：协议分布分析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   H = -Σ p_i × log₂(p_i)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3. 融合判断：流量超3σ 且 熵低于阈值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</a:rPr>
              <a:t>优势：融合熵分析后可区分正常突发</a:t>
            </a:r>
            <a:r>
              <a:rPr lang="en-US" sz="1000" dirty="0">
                <a:solidFill>
                  <a:srgbClr val="B8C5D0"/>
                </a:solidFill>
              </a:rPr>
              <a:t>（协议多样）与攻击（协议单一）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114800" cy="210312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9" name="Shape 7"/>
          <p:cNvSpPr/>
          <p:nvPr/>
        </p:nvSpPr>
        <p:spPr>
          <a:xfrm>
            <a:off x="4572000" y="914400"/>
            <a:ext cx="91440" cy="2103120"/>
          </a:xfrm>
          <a:prstGeom prst="rect">
            <a:avLst/>
          </a:prstGeom>
          <a:solidFill>
            <a:srgbClr val="4ECDC4"/>
          </a:solidFill>
        </p:spPr>
      </p:sp>
      <p:sp>
        <p:nvSpPr>
          <p:cNvPr id="10" name="Text 8"/>
          <p:cNvSpPr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</a:rPr>
              <a:t>MDTCE 多维威胁关联引擎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8404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核心思路：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基于网络杀伤链（Kill Chain）模型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攻击阶段：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侦察 → 武器化 → 投递 → 利用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→ 持久化 → 横向移动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关联规则：同源IP在时间窗内出现≥2个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不同攻击阶段事件，触发高威胁关联告警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931920" cy="15544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3" name="Shape 11"/>
          <p:cNvSpPr/>
          <p:nvPr/>
        </p:nvSpPr>
        <p:spPr>
          <a:xfrm>
            <a:off x="457200" y="3200400"/>
            <a:ext cx="91440" cy="1554480"/>
          </a:xfrm>
          <a:prstGeom prst="rect">
            <a:avLst/>
          </a:prstGeom>
          <a:solidFill>
            <a:srgbClr val="3498DB"/>
          </a:solidFill>
        </p:spPr>
      </p:sp>
      <p:sp>
        <p:nvSpPr>
          <p:cNvPr id="14" name="Text 12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</a:rPr>
              <a:t>NBF-RS 7维行为指纹评分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C5D0"/>
                </a:solidFill>
              </a:rPr>
              <a:t>7个维度：</a:t>
            </a:r>
            <a:r>
              <a:rPr lang="en-US" sz="1000" dirty="0">
                <a:solidFill>
                  <a:srgbClr val="B8C5D0"/>
                </a:solidFill>
              </a:rPr>
              <a:t>协议熵 | 对端多样性 | 流量非对称性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端口分散度 | 时序集中度 | 连接强度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包大小偏差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综合评分：7维度加权求和，超过阈值触发风险告警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200400"/>
            <a:ext cx="4114800" cy="155448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7" name="Shape 15"/>
          <p:cNvSpPr/>
          <p:nvPr/>
        </p:nvSpPr>
        <p:spPr>
          <a:xfrm>
            <a:off x="4572000" y="3200400"/>
            <a:ext cx="91440" cy="1554480"/>
          </a:xfrm>
          <a:prstGeom prst="rect">
            <a:avLst/>
          </a:prstGeom>
          <a:solidFill>
            <a:srgbClr val="9B59B6"/>
          </a:solidFill>
        </p:spPr>
      </p:sp>
      <p:sp>
        <p:nvSpPr>
          <p:cNvPr id="18" name="Text 16"/>
          <p:cNvSpPr/>
          <p:nvPr/>
        </p:nvSpPr>
        <p:spPr>
          <a:xfrm>
            <a:off x="4754880" y="3291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</a:rPr>
              <a:t>TPM-PA 时序预测预警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65760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核心思路：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1. 线性趋势分解：提取异常残差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2. Pearson跨信号相关分析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   r = Σ(X_i-X̄)(Y_i-Ȳ) /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3. 多区域异常相关+残差超阈值，提前预警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C5D0"/>
                </a:solidFill>
              </a:rPr>
              <a:t>实现「预防性告警」而非事后发现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5D0"/>
                </a:solidFill>
              </a:rPr>
              <a:t>11 / 18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T2601487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 技术亮点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4630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G 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3D地球可视化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08483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Canvas内存纹理生成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404872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3408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Jitter坐标抖动算法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60904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25968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WebGL Bloom泛光特效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0233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92040" y="14630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D 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5087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12Gbps智能演示数据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83480" y="2148840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166360" y="208483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启动自检自动补充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3480" y="2404872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166360" y="23408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每分钟持续注入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2660904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166360" y="25968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5分钟过期自动重建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40233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94360" y="32918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R 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33375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高性能实时处理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3977640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68680" y="391363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CompletableFuture并行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233672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68680" y="41696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WebSocket全双工推送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4489704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68680" y="44256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JSONB威胁上下文存储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108960"/>
            <a:ext cx="402336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892040" y="32918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 C ]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33375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Docker一键部署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83480" y="3977640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166360" y="391363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容器化环境隔离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83480" y="4233672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166360" y="416966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一键启动完整系统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83480" y="4489704"/>
            <a:ext cx="109728" cy="109728"/>
          </a:xfrm>
          <a:prstGeom prst="ellipse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166360" y="44256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评审可完整复现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00584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00584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前端框架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0058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React 18 + Vite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100584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组件化开发，极速构建HMR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50876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150876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状态管理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150876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Zustand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15087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轻量无样板，跨组件共享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65760" y="201168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5760" y="201168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20116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ECharts 5 + ECharts-GL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201168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WebGL 3D地球渲染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251460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5760" y="251460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后端框架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251460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 3.x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0" y="25146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生产级Java框架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65760" y="301752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65760" y="301752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数据访问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30175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Data JPA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23360" y="301752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Actuator监控开箱即用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8412480" cy="45720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65760" y="352044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65760" y="352044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91640" y="35204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352044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JSONB列存储威胁上下文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65760" y="402336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65760" y="402336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实时通信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691640" y="402336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WebSocket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023360" y="40233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原生低延迟全双工推送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65760" y="4526280"/>
            <a:ext cx="1188720" cy="4572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65760" y="452628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容器化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691640" y="45262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 + Docker Compose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23360" y="452628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一键部署，环境隔离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部署与运行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5661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系统服务架构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474720" cy="731520"/>
          </a:xfrm>
          <a:prstGeom prst="rect">
            <a:avLst/>
          </a:prstGeom>
          <a:solidFill>
            <a:srgbClr val="1B9AAA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1031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Nginx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反向代理 + 静态托管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3474720" cy="731520"/>
          </a:xfrm>
          <a:prstGeom prst="rect">
            <a:avLst/>
          </a:prstGeom>
          <a:solidFill>
            <a:srgbClr val="0F4C75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30175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REST API + WebSocket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3474720" cy="731520"/>
          </a:xfrm>
          <a:prstGeom prst="rect">
            <a:avLst/>
          </a:prstGeom>
          <a:solidFill>
            <a:srgbClr val="00B4D8"/>
          </a:solidFill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9319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流量与告警存储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3931920" cy="1463040"/>
          </a:xfrm>
          <a:prstGeom prst="rect">
            <a:avLst/>
          </a:prstGeom>
          <a:solidFill>
            <a:srgbClr val="0D1B2A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部署架构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CC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宝塔面板 + Nginx + JDK 17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10312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Windows Server 2022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920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54880" y="30632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C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公网访问地址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前端大屏: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4747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http://8.146.228.64:3000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9319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http://8.146.228.64:8080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389120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API文档: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43891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http://8.146.228.64:8080/swagger-ui/index.html</a:t>
            </a:r>
            <a:endParaRPr lang="en-US" sz="1100" dirty="0">
              <a:solidFill>
                <a:srgbClr val="00B4D8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937760" y="3931920"/>
            <a:ext cx="304800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11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后端API：</a:t>
            </a:r>
            <a:endParaRPr lang="en-US" sz="1100" dirty="0">
              <a:solidFill>
                <a:srgbClr val="778DA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57200"/>
            <a:ext cx="137160" cy="411480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项目核心价值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73152" cy="50292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技术创新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182880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四套原创算法实现从「被动响应」到「主动预防」的能力跃升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73152" cy="50292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46888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工程实践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246888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Docker Compose一键部署，智能演示数据自维护确保高可用性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73152" cy="502920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10896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用户体验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310896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对标企业级NetFlow Analyzer产品，兼顾专业性与易用性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B9AA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9776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应用前景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系统架构具有良好的通用性与可扩展性，可推广至高校、企业园区网、政务专网、数据中心等场景，具有显著的应用价值与行业示范意义。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F4C75">
              <a:alpha val="40000"/>
            </a:srgbClr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B9AAA">
              <a:alpha val="30000"/>
            </a:srgbClr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kern="0" spc="800" dirty="0">
                <a:solidFill>
                  <a:srgbClr val="00B4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1B9AAA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D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2026年中国大学生计算机设计大赛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2.8,&quot;left&quot;:34.75,&quot;top&quot;:48.3,&quot;width&quot;:656.45}"/>
</p:tagLst>
</file>

<file path=ppt/tags/tag2.xml><?xml version="1.0" encoding="utf-8"?>
<p:tagLst xmlns:p="http://schemas.openxmlformats.org/presentationml/2006/main">
  <p:tag name="KSO_WM_DIAGRAM_VIRTUALLY_FRAME" val="{&quot;height&quot;:352.8,&quot;left&quot;:34.75,&quot;top&quot;:48.3,&quot;width&quot;:656.45}"/>
</p:tagLst>
</file>

<file path=ppt/tags/tag3.xml><?xml version="1.0" encoding="utf-8"?>
<p:tagLst xmlns:p="http://schemas.openxmlformats.org/presentationml/2006/main">
  <p:tag name="KSO_WM_DIAGRAM_VIRTUALLY_FRAME" val="{&quot;height&quot;:352.8,&quot;left&quot;:34.75,&quot;top&quot;:48.3,&quot;width&quot;:656.45}"/>
</p:tagLst>
</file>

<file path=ppt/tags/tag4.xml><?xml version="1.0" encoding="utf-8"?>
<p:tagLst xmlns:p="http://schemas.openxmlformats.org/presentationml/2006/main">
  <p:tag name="KSO_WM_DIAGRAM_VIRTUALLY_FRAME" val="{&quot;height&quot;:352.8,&quot;left&quot;:34.75,&quot;top&quot;:48.3,&quot;width&quot;:656.45}"/>
</p:tagLst>
</file>

<file path=ppt/tags/tag5.xml><?xml version="1.0" encoding="utf-8"?>
<p:tagLst xmlns:p="http://schemas.openxmlformats.org/presentationml/2006/main">
  <p:tag name="KSO_WM_DIAGRAM_VIRTUALLY_FRAME" val="{&quot;height&quot;:352.8,&quot;left&quot;:34.75,&quot;top&quot;:48.3,&quot;width&quot;:656.45}"/>
</p:tagLst>
</file>

<file path=ppt/tags/tag6.xml><?xml version="1.0" encoding="utf-8"?>
<p:tagLst xmlns:p="http://schemas.openxmlformats.org/presentationml/2006/main">
  <p:tag name="KSO_WM_DIAGRAM_VIRTUALLY_FRAME" val="{&quot;height&quot;:352.8,&quot;left&quot;:34.75,&quot;top&quot;:48.3,&quot;width&quot;:656.45}"/>
</p:tagLst>
</file>

<file path=ppt/tags/tag7.xml><?xml version="1.0" encoding="utf-8"?>
<p:tagLst xmlns:p="http://schemas.openxmlformats.org/presentationml/2006/main">
  <p:tag name="KSO_WM_DIAGRAM_VIRTUALLY_FRAME" val="{&quot;height&quot;:352.8,&quot;left&quot;:34.75,&quot;top&quot;:48.3,&quot;width&quot;:656.45}"/>
</p:tagLst>
</file>

<file path=ppt/tags/tag8.xml><?xml version="1.0" encoding="utf-8"?>
<p:tagLst xmlns:p="http://schemas.openxmlformats.org/presentationml/2006/main">
  <p:tag name="KSO_WM_DIAGRAM_VIRTUALLY_FRAME" val="{&quot;height&quot;:352.8,&quot;left&quot;:34.75,&quot;top&quot;:48.3,&quot;width&quot;:656.45}"/>
</p:tagLst>
</file>

<file path=ppt/tags/tag9.xml><?xml version="1.0" encoding="utf-8"?>
<p:tagLst xmlns:p="http://schemas.openxmlformats.org/presentationml/2006/main">
  <p:tag name="KSO_WM_DIAGRAM_VIRTUALLY_FRAME" val="{&quot;height&quot;:352.8,&quot;left&quot;:34.75,&quot;top&quot;:48.3,&quot;width&quot;:656.45}"/>
</p:tagLst>
</file>

<file path=ppt/tags/tag10.xml><?xml version="1.0" encoding="utf-8"?>
<p:tagLst xmlns:p="http://schemas.openxmlformats.org/presentationml/2006/main">
  <p:tag name="KSO_WM_DIAGRAM_VIRTUALLY_FRAME" val="{&quot;height&quot;:352.8,&quot;left&quot;:34.75,&quot;top&quot;:48.3,&quot;width&quot;:656.45}"/>
</p:tagLst>
</file>

<file path=ppt/tags/tag11.xml><?xml version="1.0" encoding="utf-8"?>
<p:tagLst xmlns:p="http://schemas.openxmlformats.org/presentationml/2006/main">
  <p:tag name="KSO_WM_DIAGRAM_VIRTUALLY_FRAME" val="{&quot;height&quot;:352.8,&quot;left&quot;:34.75,&quot;top&quot;:48.3,&quot;width&quot;:656.45}"/>
</p:tagLst>
</file>

<file path=ppt/tags/tag12.xml><?xml version="1.0" encoding="utf-8"?>
<p:tagLst xmlns:p="http://schemas.openxmlformats.org/presentationml/2006/main">
  <p:tag name="KSO_WM_DIAGRAM_VIRTUALLY_FRAME" val="{&quot;height&quot;:352.8,&quot;left&quot;:34.75,&quot;top&quot;:48.3,&quot;width&quot;:656.45}"/>
</p:tagLst>
</file>

<file path=ppt/tags/tag13.xml><?xml version="1.0" encoding="utf-8"?>
<p:tagLst xmlns:p="http://schemas.openxmlformats.org/presentationml/2006/main">
  <p:tag name="KSO_WM_DIAGRAM_VIRTUALLY_FRAME" val="{&quot;height&quot;:352.8,&quot;left&quot;:34.75,&quot;top&quot;:48.3,&quot;width&quot;:656.45}"/>
</p:tagLst>
</file>

<file path=ppt/tags/tag14.xml><?xml version="1.0" encoding="utf-8"?>
<p:tagLst xmlns:p="http://schemas.openxmlformats.org/presentationml/2006/main">
  <p:tag name="KSO_WM_DIAGRAM_VIRTUALLY_FRAME" val="{&quot;height&quot;:352.8,&quot;left&quot;:34.75,&quot;top&quot;:48.3,&quot;width&quot;:656.45}"/>
</p:tagLst>
</file>

<file path=ppt/tags/tag15.xml><?xml version="1.0" encoding="utf-8"?>
<p:tagLst xmlns:p="http://schemas.openxmlformats.org/presentationml/2006/main">
  <p:tag name="KSO_WM_DIAGRAM_VIRTUALLY_FRAME" val="{&quot;height&quot;:352.8,&quot;left&quot;:34.75,&quot;top&quot;:48.3,&quot;width&quot;:656.45}"/>
</p:tagLst>
</file>

<file path=ppt/tags/tag16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7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8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19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20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21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22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23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24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25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26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27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28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29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30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31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32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33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34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ags/tag35.xml><?xml version="1.0" encoding="utf-8"?>
<p:tagLst xmlns:p="http://schemas.openxmlformats.org/presentationml/2006/main">
  <p:tag name="KSO_WM_DIAGRAM_VIRTUALLY_FRAME" val="{&quot;height&quot;:275.04,&quot;left&quot;:0.35,&quot;top&quot;:100.8,&quot;width&quot;:30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2875</Words>
  <Application>WPS 演示</Application>
  <PresentationFormat>On-screen Show (16:9)</PresentationFormat>
  <Paragraphs>509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面向智慧校园的细粒度网络流量监控与安全态势感知系统</dc:title>
  <dc:creator>苏州大学 无敌暴龙战队</dc:creator>
  <dc:subject>计算机设计大赛答辩演示</dc:subject>
  <cp:lastModifiedBy>侯宗阳</cp:lastModifiedBy>
  <cp:revision>4</cp:revision>
  <dcterms:created xsi:type="dcterms:W3CDTF">2026-04-18T09:22:00Z</dcterms:created>
  <dcterms:modified xsi:type="dcterms:W3CDTF">2026-04-18T12:03:30Z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196288E9769B443F94EAE89D15F26966_12</vt:lpwstr>
  </property>
</Properties>
</file>