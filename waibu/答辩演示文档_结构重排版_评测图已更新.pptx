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3"/>
    <p:sldId id="258" r:id="rId4"/>
    <p:sldId id="259" r:id="rId5"/>
    <p:sldId id="261" r:id="rId6"/>
    <p:sldId id="279" r:id="rId10"/>
    <p:sldId id="293" r:id="rId11"/>
    <p:sldId id="286" r:id="rId12"/>
    <p:sldId id="291" r:id="rId13"/>
    <p:sldId id="288" r:id="rId14"/>
    <p:sldId id="292" r:id="rId15"/>
    <p:sldId id="290" r:id="rId16"/>
    <p:sldId id="280" r:id="rId17"/>
    <p:sldId id="294" r:id="rId18"/>
    <p:sldId id="262" r:id="rId7"/>
    <p:sldId id="263" r:id="rId8"/>
    <p:sldId id="264" r:id="rId9"/>
    <p:sldId id="267" r:id="rId19"/>
    <p:sldId id="282" r:id="rId20"/>
    <p:sldId id="270" r:id="rId21"/>
    <p:sldId id="271" r:id="rId22"/>
    <p:sldId id="284" r:id="rId23"/>
    <p:sldId id="27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2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4FF"/>
    <a:srgbClr val="FF6B35"/>
    <a:srgbClr val="FFB742"/>
    <a:srgbClr val="FF5252"/>
    <a:srgbClr val="122A45"/>
    <a:srgbClr val="0A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100" d="100"/>
          <a:sy n="100" d="100"/>
        </p:scale>
        <p:origin x="954" y="252"/>
      </p:cViewPr>
      <p:guideLst>
        <p:guide orient="horz" pos="2304"/>
        <p:guide pos="28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Rounded Rectangle 1"/>
          <p:cNvSpPr/>
          <p:nvPr userDrawn="1"/>
        </p:nvSpPr>
        <p:spPr>
          <a:xfrm>
            <a:off x="-635" y="17145"/>
            <a:ext cx="12191695" cy="6858000"/>
          </a:xfrm>
          <a:prstGeom prst="roundRect">
            <a:avLst>
              <a:gd name="adj" fmla="val 4312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1.png"/><Relationship Id="rId25" Type="http://schemas.openxmlformats.org/officeDocument/2006/relationships/tags" Target="../tags/tag70.xml"/><Relationship Id="rId24" Type="http://schemas.openxmlformats.org/officeDocument/2006/relationships/tags" Target="../tags/tag69.xml"/><Relationship Id="rId23" Type="http://schemas.openxmlformats.org/officeDocument/2006/relationships/tags" Target="../tags/tag68.xml"/><Relationship Id="rId22" Type="http://schemas.openxmlformats.org/officeDocument/2006/relationships/tags" Target="../tags/tag67.xml"/><Relationship Id="rId21" Type="http://schemas.openxmlformats.org/officeDocument/2006/relationships/tags" Target="../tags/tag66.xml"/><Relationship Id="rId20" Type="http://schemas.openxmlformats.org/officeDocument/2006/relationships/tags" Target="../tags/tag65.xml"/><Relationship Id="rId2" Type="http://schemas.openxmlformats.org/officeDocument/2006/relationships/tags" Target="../tags/tag47.xml"/><Relationship Id="rId19" Type="http://schemas.openxmlformats.org/officeDocument/2006/relationships/tags" Target="../tags/tag64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3.png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://8.146.228.64:8080/swagger-ui.html%20" TargetMode="External"/><Relationship Id="rId1" Type="http://schemas.openxmlformats.org/officeDocument/2006/relationships/hyperlink" Target="http://8.146.228.64:3000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315200" y="0"/>
            <a:ext cx="4876495" cy="6858000"/>
          </a:xfrm>
          <a:prstGeom prst="round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73152" cy="10972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</a:rPr>
              <a:t>计算机设计大赛</a:t>
            </a:r>
            <a:endParaRPr sz="22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82296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面向智慧校园的细粒度
网络流量监控与安全态势感知系统</a:t>
            </a:r>
            <a:endParaRPr sz="3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3200400" cy="4114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4151376"/>
            <a:ext cx="29260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2026年中国大学生计算机设计大赛</a:t>
            </a:r>
            <a:endParaRPr sz="13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5486400"/>
            <a:ext cx="2743200" cy="18288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5715000"/>
            <a:ext cx="4114800" cy="18288"/>
          </a:xfrm>
          <a:prstGeom prst="roundRect">
            <a:avLst/>
          </a:prstGeom>
          <a:solidFill>
            <a:srgbClr val="14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5943600"/>
            <a:ext cx="5486400" cy="18288"/>
          </a:xfrm>
          <a:prstGeom prst="roundRect">
            <a:avLst/>
          </a:prstGeom>
          <a:solidFill>
            <a:srgbClr val="28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6172200"/>
            <a:ext cx="6858000" cy="18288"/>
          </a:xfrm>
          <a:prstGeom prst="roundRect">
            <a:avLst/>
          </a:prstGeom>
          <a:solidFill>
            <a:srgbClr val="3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6400800"/>
            <a:ext cx="8229600" cy="18288"/>
          </a:xfrm>
          <a:prstGeom prst="roundRect">
            <a:avLst/>
          </a:prstGeom>
          <a:solidFill>
            <a:srgbClr val="50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686800" y="1371600"/>
            <a:ext cx="2286000" cy="2286000"/>
          </a:xfrm>
          <a:prstGeom prst="ellipse">
            <a:avLst/>
          </a:prstGeom>
          <a:noFill/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326880" y="3840480"/>
            <a:ext cx="1645920" cy="1645920"/>
          </a:xfrm>
          <a:prstGeom prst="ellipse">
            <a:avLst/>
          </a:prstGeom>
          <a:noFill/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100"/>
          <p:cNvSpPr txBox="1"/>
          <p:nvPr/>
        </p:nvSpPr>
        <p:spPr>
          <a:xfrm>
            <a:off x="822960" y="4617600"/>
            <a:ext cx="640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</a:t>
            </a:r>
            <a:r>
              <a:rPr lang="en-US" altLang="zh-CN" sz="12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lang="zh-CN" altLang="en-US" sz="12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sz="12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20260</a:t>
            </a:r>
            <a:r>
              <a:rPr lang="en-US" altLang="zh-CN" sz="12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51968</a:t>
            </a:r>
            <a:endParaRPr lang="en-US" altLang="zh-CN" sz="12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2"/>
          <p:cNvSpPr txBox="1"/>
          <p:nvPr/>
        </p:nvSpPr>
        <p:spPr>
          <a:xfrm>
            <a:off x="640080" y="374015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答辩提纲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ounded Rectangle 3"/>
          <p:cNvSpPr/>
          <p:nvPr/>
        </p:nvSpPr>
        <p:spPr>
          <a:xfrm>
            <a:off x="640080" y="937895"/>
            <a:ext cx="1845310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ounded Rectangle 4"/>
          <p:cNvSpPr/>
          <p:nvPr>
            <p:custDataLst>
              <p:tags r:id="rId1"/>
            </p:custDataLst>
          </p:nvPr>
        </p:nvSpPr>
        <p:spPr>
          <a:xfrm>
            <a:off x="640080" y="1900555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Box 5"/>
          <p:cNvSpPr txBox="1"/>
          <p:nvPr>
            <p:custDataLst>
              <p:tags r:id="rId2"/>
            </p:custDataLst>
          </p:nvPr>
        </p:nvSpPr>
        <p:spPr>
          <a:xfrm>
            <a:off x="822960" y="2065147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3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6"/>
          <p:cNvSpPr txBox="1"/>
          <p:nvPr>
            <p:custDataLst>
              <p:tags r:id="rId3"/>
            </p:custDataLst>
          </p:nvPr>
        </p:nvSpPr>
        <p:spPr>
          <a:xfrm>
            <a:off x="1554480" y="2174875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问题驱动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TextBox 7"/>
          <p:cNvSpPr txBox="1"/>
          <p:nvPr>
            <p:custDataLst>
              <p:tags r:id="rId4"/>
            </p:custDataLst>
          </p:nvPr>
        </p:nvSpPr>
        <p:spPr>
          <a:xfrm>
            <a:off x="1554480" y="261378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三大核心问题深度剖析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0" name="Rounded Rectangle 8"/>
          <p:cNvSpPr/>
          <p:nvPr>
            <p:custDataLst>
              <p:tags r:id="rId5"/>
            </p:custDataLst>
          </p:nvPr>
        </p:nvSpPr>
        <p:spPr>
          <a:xfrm>
            <a:off x="822960" y="3263011"/>
            <a:ext cx="3154680" cy="27432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ounded Rectangle 9"/>
          <p:cNvSpPr/>
          <p:nvPr>
            <p:custDataLst>
              <p:tags r:id="rId6"/>
            </p:custDataLst>
          </p:nvPr>
        </p:nvSpPr>
        <p:spPr>
          <a:xfrm>
            <a:off x="4434840" y="1900555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10"/>
          <p:cNvSpPr txBox="1"/>
          <p:nvPr>
            <p:custDataLst>
              <p:tags r:id="rId7"/>
            </p:custDataLst>
          </p:nvPr>
        </p:nvSpPr>
        <p:spPr>
          <a:xfrm>
            <a:off x="4617720" y="2065147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3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11"/>
          <p:cNvSpPr txBox="1"/>
          <p:nvPr>
            <p:custDataLst>
              <p:tags r:id="rId8"/>
            </p:custDataLst>
          </p:nvPr>
        </p:nvSpPr>
        <p:spPr>
          <a:xfrm>
            <a:off x="5349240" y="2174875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技术内核</a:t>
            </a:r>
            <a:endParaRPr lang="zh-CN" altLang="en-US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12"/>
          <p:cNvSpPr txBox="1"/>
          <p:nvPr>
            <p:custDataLst>
              <p:tags r:id="rId9"/>
            </p:custDataLst>
          </p:nvPr>
        </p:nvSpPr>
        <p:spPr>
          <a:xfrm>
            <a:off x="5349240" y="261378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架构总览 + 四套原创算法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5" name="Rounded Rectangle 13"/>
          <p:cNvSpPr/>
          <p:nvPr>
            <p:custDataLst>
              <p:tags r:id="rId10"/>
            </p:custDataLst>
          </p:nvPr>
        </p:nvSpPr>
        <p:spPr>
          <a:xfrm>
            <a:off x="4617720" y="3263011"/>
            <a:ext cx="3154680" cy="27432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ounded Rectangle 14"/>
          <p:cNvSpPr/>
          <p:nvPr>
            <p:custDataLst>
              <p:tags r:id="rId11"/>
            </p:custDataLst>
          </p:nvPr>
        </p:nvSpPr>
        <p:spPr>
          <a:xfrm>
            <a:off x="8229600" y="1900555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TextBox 15"/>
          <p:cNvSpPr txBox="1"/>
          <p:nvPr>
            <p:custDataLst>
              <p:tags r:id="rId12"/>
            </p:custDataLst>
          </p:nvPr>
        </p:nvSpPr>
        <p:spPr>
          <a:xfrm>
            <a:off x="8412480" y="2065147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3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TextBox 16"/>
          <p:cNvSpPr txBox="1"/>
          <p:nvPr>
            <p:custDataLst>
              <p:tags r:id="rId13"/>
            </p:custDataLst>
          </p:nvPr>
        </p:nvSpPr>
        <p:spPr>
          <a:xfrm>
            <a:off x="9144000" y="2174875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算法评测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TextBox 17"/>
          <p:cNvSpPr txBox="1"/>
          <p:nvPr>
            <p:custDataLst>
              <p:tags r:id="rId14"/>
            </p:custDataLst>
          </p:nvPr>
        </p:nvSpPr>
        <p:spPr>
          <a:xfrm>
            <a:off x="9144000" y="261378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EWMA-EAD / MDTCE / NBF-RS / TPM-PA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Rounded Rectangle 18"/>
          <p:cNvSpPr/>
          <p:nvPr>
            <p:custDataLst>
              <p:tags r:id="rId15"/>
            </p:custDataLst>
          </p:nvPr>
        </p:nvSpPr>
        <p:spPr>
          <a:xfrm>
            <a:off x="8412480" y="3263011"/>
            <a:ext cx="3154680" cy="27432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ounded Rectangle 19"/>
          <p:cNvSpPr/>
          <p:nvPr>
            <p:custDataLst>
              <p:tags r:id="rId16"/>
            </p:custDataLst>
          </p:nvPr>
        </p:nvSpPr>
        <p:spPr>
          <a:xfrm>
            <a:off x="640080" y="3500755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TextBox 20"/>
          <p:cNvSpPr txBox="1"/>
          <p:nvPr>
            <p:custDataLst>
              <p:tags r:id="rId17"/>
            </p:custDataLst>
          </p:nvPr>
        </p:nvSpPr>
        <p:spPr>
          <a:xfrm>
            <a:off x="822960" y="3665347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3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TextBox 21"/>
          <p:cNvSpPr txBox="1"/>
          <p:nvPr>
            <p:custDataLst>
              <p:tags r:id="rId18"/>
            </p:custDataLst>
          </p:nvPr>
        </p:nvSpPr>
        <p:spPr>
          <a:xfrm>
            <a:off x="1554480" y="3775075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核心功能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TextBox 22"/>
          <p:cNvSpPr txBox="1"/>
          <p:nvPr>
            <p:custDataLst>
              <p:tags r:id="rId19"/>
            </p:custDataLst>
          </p:nvPr>
        </p:nvSpPr>
        <p:spPr>
          <a:xfrm>
            <a:off x="1554480" y="421398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全景大屏 / 威胁感知 / 流检索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5" name="Rounded Rectangle 23"/>
          <p:cNvSpPr/>
          <p:nvPr>
            <p:custDataLst>
              <p:tags r:id="rId20"/>
            </p:custDataLst>
          </p:nvPr>
        </p:nvSpPr>
        <p:spPr>
          <a:xfrm>
            <a:off x="822960" y="4863211"/>
            <a:ext cx="3154680" cy="27432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Rounded Rectangle 24"/>
          <p:cNvSpPr/>
          <p:nvPr>
            <p:custDataLst>
              <p:tags r:id="rId21"/>
            </p:custDataLst>
          </p:nvPr>
        </p:nvSpPr>
        <p:spPr>
          <a:xfrm>
            <a:off x="4434840" y="3500755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TextBox 25"/>
          <p:cNvSpPr txBox="1"/>
          <p:nvPr>
            <p:custDataLst>
              <p:tags r:id="rId22"/>
            </p:custDataLst>
          </p:nvPr>
        </p:nvSpPr>
        <p:spPr>
          <a:xfrm>
            <a:off x="4617720" y="3665347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3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TextBox 26"/>
          <p:cNvSpPr txBox="1"/>
          <p:nvPr>
            <p:custDataLst>
              <p:tags r:id="rId23"/>
            </p:custDataLst>
          </p:nvPr>
        </p:nvSpPr>
        <p:spPr>
          <a:xfrm>
            <a:off x="5349240" y="3761105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部署落地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TextBox 27"/>
          <p:cNvSpPr txBox="1"/>
          <p:nvPr>
            <p:custDataLst>
              <p:tags r:id="rId24"/>
            </p:custDataLst>
          </p:nvPr>
        </p:nvSpPr>
        <p:spPr>
          <a:xfrm>
            <a:off x="5349240" y="421398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</a:rPr>
              <a:t>架构部署 / AI报表 / 运行验证</a:t>
            </a:r>
            <a:endParaRPr lang="zh-CN"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Rounded Rectangle 28"/>
          <p:cNvSpPr/>
          <p:nvPr>
            <p:custDataLst>
              <p:tags r:id="rId25"/>
            </p:custDataLst>
          </p:nvPr>
        </p:nvSpPr>
        <p:spPr>
          <a:xfrm>
            <a:off x="4617720" y="4863211"/>
            <a:ext cx="3154680" cy="27432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Rounded Rectangle 29"/>
          <p:cNvSpPr/>
          <p:nvPr>
            <p:custDataLst>
              <p:tags r:id="rId26"/>
            </p:custDataLst>
          </p:nvPr>
        </p:nvSpPr>
        <p:spPr>
          <a:xfrm>
            <a:off x="8229600" y="3500755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TextBox 30"/>
          <p:cNvSpPr txBox="1"/>
          <p:nvPr>
            <p:custDataLst>
              <p:tags r:id="rId27"/>
            </p:custDataLst>
          </p:nvPr>
        </p:nvSpPr>
        <p:spPr>
          <a:xfrm>
            <a:off x="8412480" y="3665347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3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TextBox 31"/>
          <p:cNvSpPr txBox="1"/>
          <p:nvPr>
            <p:custDataLst>
              <p:tags r:id="rId28"/>
            </p:custDataLst>
          </p:nvPr>
        </p:nvSpPr>
        <p:spPr>
          <a:xfrm>
            <a:off x="9144000" y="3775075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创新总结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TextBox 32"/>
          <p:cNvSpPr txBox="1"/>
          <p:nvPr>
            <p:custDataLst>
              <p:tags r:id="rId29"/>
            </p:custDataLst>
          </p:nvPr>
        </p:nvSpPr>
        <p:spPr>
          <a:xfrm>
            <a:off x="9144000" y="421398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创新亮点总结</a:t>
            </a:r>
            <a:r>
              <a:rPr lang="zh-CN"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与未来展望</a:t>
            </a:r>
            <a:endParaRPr lang="zh-CN"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5" name="Rounded Rectangle 33"/>
          <p:cNvSpPr/>
          <p:nvPr>
            <p:custDataLst>
              <p:tags r:id="rId30"/>
            </p:custDataLst>
          </p:nvPr>
        </p:nvSpPr>
        <p:spPr>
          <a:xfrm>
            <a:off x="8412480" y="4863211"/>
            <a:ext cx="3154680" cy="27432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"/>
          <p:cNvSpPr txBox="1"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3"/>
          <p:cNvSpPr txBox="1"/>
          <p:nvPr/>
        </p:nvSpPr>
        <p:spPr>
          <a:xfrm>
            <a:off x="1097280" y="347472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问题驱动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4"/>
          <p:cNvSpPr/>
          <p:nvPr/>
        </p:nvSpPr>
        <p:spPr>
          <a:xfrm>
            <a:off x="1097280" y="841375"/>
            <a:ext cx="1609725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5"/>
          <p:cNvSpPr txBox="1"/>
          <p:nvPr/>
        </p:nvSpPr>
        <p:spPr>
          <a:xfrm>
            <a:off x="640080" y="11887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考试周、宿舍区夜间突发流量与科研数据外泄，正在把高校网络运维推向“看不清、查不到、防不住”的三重困境</a:t>
            </a:r>
            <a:endParaRPr lang="zh-CN" altLang="en-US" sz="20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6"/>
          <p:cNvSpPr/>
          <p:nvPr>
            <p:custDataLst>
              <p:tags r:id="rId1"/>
            </p:custDataLst>
          </p:nvPr>
        </p:nvSpPr>
        <p:spPr>
          <a:xfrm>
            <a:off x="685800" y="2523617"/>
            <a:ext cx="3200400" cy="2011680"/>
          </a:xfrm>
          <a:prstGeom prst="roundRect">
            <a:avLst>
              <a:gd name="adj" fmla="val 6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7"/>
          <p:cNvSpPr/>
          <p:nvPr>
            <p:custDataLst>
              <p:tags r:id="rId2"/>
            </p:custDataLst>
          </p:nvPr>
        </p:nvSpPr>
        <p:spPr>
          <a:xfrm>
            <a:off x="914400" y="2752217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8"/>
          <p:cNvSpPr txBox="1"/>
          <p:nvPr>
            <p:custDataLst>
              <p:tags r:id="rId3"/>
            </p:custDataLst>
          </p:nvPr>
        </p:nvSpPr>
        <p:spPr>
          <a:xfrm>
            <a:off x="732790" y="2817622"/>
            <a:ext cx="775970" cy="34734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[ 1 ]</a:t>
            </a:r>
            <a:endParaRPr sz="13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9"/>
          <p:cNvSpPr txBox="1"/>
          <p:nvPr>
            <p:custDataLst>
              <p:tags r:id="rId4"/>
            </p:custDataLst>
          </p:nvPr>
        </p:nvSpPr>
        <p:spPr>
          <a:xfrm>
            <a:off x="1508760" y="2816225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考试周突发</a:t>
            </a: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10"/>
          <p:cNvSpPr txBox="1"/>
          <p:nvPr>
            <p:custDataLst>
              <p:tags r:id="rId5"/>
            </p:custDataLst>
          </p:nvPr>
        </p:nvSpPr>
        <p:spPr>
          <a:xfrm>
            <a:off x="914400" y="3438017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P2P/</a:t>
            </a: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游戏夜间突发大流
难定位到具体</a:t>
            </a:r>
            <a:r>
              <a:rPr lang="en-US" altLang="zh-CN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endParaRPr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11"/>
          <p:cNvSpPr/>
          <p:nvPr>
            <p:custDataLst>
              <p:tags r:id="rId6"/>
            </p:custDataLst>
          </p:nvPr>
        </p:nvSpPr>
        <p:spPr>
          <a:xfrm>
            <a:off x="4206240" y="2523617"/>
            <a:ext cx="3200400" cy="2011680"/>
          </a:xfrm>
          <a:prstGeom prst="roundRect">
            <a:avLst>
              <a:gd name="adj" fmla="val 6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Oval 12"/>
          <p:cNvSpPr/>
          <p:nvPr>
            <p:custDataLst>
              <p:tags r:id="rId7"/>
            </p:custDataLst>
          </p:nvPr>
        </p:nvSpPr>
        <p:spPr>
          <a:xfrm>
            <a:off x="4434840" y="2752217"/>
            <a:ext cx="457200" cy="45720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13"/>
          <p:cNvSpPr txBox="1"/>
          <p:nvPr>
            <p:custDataLst>
              <p:tags r:id="rId8"/>
            </p:custDataLst>
          </p:nvPr>
        </p:nvSpPr>
        <p:spPr>
          <a:xfrm>
            <a:off x="4262120" y="2824607"/>
            <a:ext cx="710565" cy="34734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[ 2 ]</a:t>
            </a:r>
            <a:endParaRPr sz="13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14"/>
          <p:cNvSpPr txBox="1"/>
          <p:nvPr>
            <p:custDataLst>
              <p:tags r:id="rId9"/>
            </p:custDataLst>
          </p:nvPr>
        </p:nvSpPr>
        <p:spPr>
          <a:xfrm>
            <a:off x="5029200" y="2816225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宿舍区抢带宽</a:t>
            </a: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15"/>
          <p:cNvSpPr txBox="1"/>
          <p:nvPr>
            <p:custDataLst>
              <p:tags r:id="rId10"/>
            </p:custDataLst>
          </p:nvPr>
        </p:nvSpPr>
        <p:spPr>
          <a:xfrm>
            <a:off x="4434840" y="3438017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流量瞬时激增
考试/活动期间</a:t>
            </a:r>
            <a:endParaRPr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16"/>
          <p:cNvSpPr/>
          <p:nvPr>
            <p:custDataLst>
              <p:tags r:id="rId11"/>
            </p:custDataLst>
          </p:nvPr>
        </p:nvSpPr>
        <p:spPr>
          <a:xfrm>
            <a:off x="7726680" y="2523617"/>
            <a:ext cx="3200400" cy="2011680"/>
          </a:xfrm>
          <a:prstGeom prst="roundRect">
            <a:avLst>
              <a:gd name="adj" fmla="val 6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Oval 17"/>
          <p:cNvSpPr/>
          <p:nvPr>
            <p:custDataLst>
              <p:tags r:id="rId12"/>
            </p:custDataLst>
          </p:nvPr>
        </p:nvSpPr>
        <p:spPr>
          <a:xfrm>
            <a:off x="7955280" y="2752217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18"/>
          <p:cNvSpPr txBox="1"/>
          <p:nvPr>
            <p:custDataLst>
              <p:tags r:id="rId13"/>
            </p:custDataLst>
          </p:nvPr>
        </p:nvSpPr>
        <p:spPr>
          <a:xfrm>
            <a:off x="7818120" y="2832862"/>
            <a:ext cx="762635" cy="34734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[ 3 ]</a:t>
            </a:r>
            <a:endParaRPr sz="13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19"/>
          <p:cNvSpPr txBox="1"/>
          <p:nvPr>
            <p:custDataLst>
              <p:tags r:id="rId14"/>
            </p:custDataLst>
          </p:nvPr>
        </p:nvSpPr>
        <p:spPr>
          <a:xfrm>
            <a:off x="8549640" y="2816225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科研数据外泄</a:t>
            </a: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20"/>
          <p:cNvSpPr txBox="1"/>
          <p:nvPr>
            <p:custDataLst>
              <p:tags r:id="rId15"/>
            </p:custDataLst>
          </p:nvPr>
        </p:nvSpPr>
        <p:spPr>
          <a:xfrm>
            <a:off x="7955280" y="3438017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实验室服务器异常外联
隐蔽隧道难识别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21"/>
          <p:cNvSpPr/>
          <p:nvPr/>
        </p:nvSpPr>
        <p:spPr>
          <a:xfrm>
            <a:off x="498475" y="5559425"/>
            <a:ext cx="10881360" cy="822960"/>
          </a:xfrm>
          <a:prstGeom prst="round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22"/>
          <p:cNvSpPr txBox="1"/>
          <p:nvPr/>
        </p:nvSpPr>
        <p:spPr>
          <a:xfrm>
            <a:off x="772795" y="5742305"/>
            <a:ext cx="104654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选课期间 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DNS 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请求激增，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SNMP 5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分钟采样仍显示“正常”，选课系统已经出现卡顿甚至瘫痪</a:t>
            </a:r>
            <a:endParaRPr lang="zh-CN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架构总览 — 四层架构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 flipV="1">
            <a:off x="1097280" y="809625"/>
            <a:ext cx="3903980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4754880" cy="1051560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1440" cy="1051560"/>
          </a:xfrm>
          <a:prstGeom prst="roundRect">
            <a:avLst>
              <a:gd name="adj" fmla="val 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采集层</a:t>
            </a:r>
            <a:endParaRPr sz="20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NetFlow </a:t>
            </a:r>
            <a:r>
              <a:rPr sz="1600" b="1" dirty="0" err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秒级采集</a:t>
            </a:r>
            <a:endParaRPr sz="16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4754880" cy="1051560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91440" cy="1051560"/>
          </a:xfrm>
          <a:prstGeom prst="roundRect">
            <a:avLst>
              <a:gd name="adj" fmla="val 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B68EE"/>
                </a:solidFill>
                <a:latin typeface="微软雅黑" panose="020B0503020204020204" charset="-122"/>
                <a:ea typeface="微软雅黑" panose="020B0503020204020204" charset="-122"/>
              </a:rPr>
              <a:t>分析层</a:t>
            </a:r>
            <a:endParaRPr sz="2000" b="1">
              <a:solidFill>
                <a:srgbClr val="7B68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内存缓冲 + 聚合计算</a:t>
            </a:r>
            <a:endParaRPr sz="1600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4754880" cy="1051560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91440" cy="1051560"/>
          </a:xfrm>
          <a:prstGeom prst="roundRect">
            <a:avLst>
              <a:gd name="adj" fmla="val 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检测层</a:t>
            </a:r>
            <a:endParaRPr sz="200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规则匹配</a:t>
            </a:r>
            <a:r>
              <a:rPr lang="en-US" sz="16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已知）</a:t>
            </a:r>
            <a:r>
              <a:rPr sz="16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算法分析</a:t>
            </a:r>
            <a:r>
              <a:rPr lang="zh-CN" sz="16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（已知</a:t>
            </a:r>
            <a:r>
              <a:rPr lang="en-US" altLang="zh-CN" sz="16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未知）</a:t>
            </a:r>
            <a:endParaRPr lang="zh-CN" altLang="en-US" sz="1600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5120640"/>
            <a:ext cx="4754880" cy="1051560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5120640"/>
            <a:ext cx="91440" cy="1051560"/>
          </a:xfrm>
          <a:prstGeom prst="roundRect">
            <a:avLst>
              <a:gd name="adj" fmla="val 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</a:rPr>
              <a:t>展示层</a:t>
            </a:r>
            <a:endParaRPr sz="2000" b="1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WebSocket 全双工推送</a:t>
            </a:r>
            <a:endParaRPr sz="1600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0" y="12801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数据流向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5393690" y="1276350"/>
            <a:ext cx="3293110" cy="1059815"/>
          </a:xfrm>
          <a:prstGeom prst="chevron">
            <a:avLst/>
          </a:prstGeom>
          <a:solidFill>
            <a:srgbClr val="15305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5393690" y="2541270"/>
            <a:ext cx="3260090" cy="1071245"/>
          </a:xfrm>
          <a:prstGeom prst="chevron">
            <a:avLst/>
          </a:prstGeom>
          <a:solidFill>
            <a:srgbClr val="153050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24245" y="2915793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B68EE"/>
                </a:solidFill>
                <a:latin typeface="微软雅黑" panose="020B0503020204020204" charset="-122"/>
                <a:ea typeface="微软雅黑" panose="020B0503020204020204" charset="-122"/>
              </a:rPr>
              <a:t>内存缓冲</a:t>
            </a:r>
            <a:endParaRPr sz="1400" b="1">
              <a:solidFill>
                <a:srgbClr val="7B68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66560" y="2240407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06080"/>
                </a:solidFill>
                <a:latin typeface="微软雅黑" panose="020B0503020204020204" charset="-122"/>
                <a:ea typeface="微软雅黑" panose="020B0503020204020204" charset="-122"/>
              </a:rPr>
              <a:t>|</a:t>
            </a:r>
            <a:endParaRPr sz="1400" b="1">
              <a:solidFill>
                <a:srgbClr val="406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Chevron 28"/>
          <p:cNvSpPr/>
          <p:nvPr/>
        </p:nvSpPr>
        <p:spPr>
          <a:xfrm>
            <a:off x="5393690" y="3836035"/>
            <a:ext cx="3237230" cy="1062355"/>
          </a:xfrm>
          <a:prstGeom prst="chevron">
            <a:avLst/>
          </a:prstGeom>
          <a:solidFill>
            <a:srgbClr val="15305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0" y="4183253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实时聚合计算</a:t>
            </a:r>
            <a:endParaRPr sz="140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66560" y="3586607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06080"/>
                </a:solidFill>
                <a:latin typeface="微软雅黑" panose="020B0503020204020204" charset="-122"/>
                <a:ea typeface="微软雅黑" panose="020B0503020204020204" charset="-122"/>
              </a:rPr>
              <a:t>|</a:t>
            </a:r>
            <a:endParaRPr sz="1400" b="1">
              <a:solidFill>
                <a:srgbClr val="406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Chevron 31"/>
          <p:cNvSpPr/>
          <p:nvPr/>
        </p:nvSpPr>
        <p:spPr>
          <a:xfrm>
            <a:off x="5394960" y="5065395"/>
            <a:ext cx="3235960" cy="1104265"/>
          </a:xfrm>
          <a:prstGeom prst="chevron">
            <a:avLst/>
          </a:prstGeom>
          <a:solidFill>
            <a:srgbClr val="15305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017895" y="5450713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WebSocket推送</a:t>
            </a:r>
            <a:endParaRPr sz="1400" b="1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66560" y="4836922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06080"/>
                </a:solidFill>
                <a:latin typeface="微软雅黑" panose="020B0503020204020204" charset="-122"/>
                <a:ea typeface="微软雅黑" panose="020B0503020204020204" charset="-122"/>
              </a:rPr>
              <a:t>|</a:t>
            </a:r>
            <a:endParaRPr sz="1400" b="1">
              <a:solidFill>
                <a:srgbClr val="406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Chevron 34"/>
          <p:cNvSpPr/>
          <p:nvPr/>
        </p:nvSpPr>
        <p:spPr>
          <a:xfrm>
            <a:off x="8686800" y="3076892"/>
            <a:ext cx="3007995" cy="1316355"/>
          </a:xfrm>
          <a:prstGeom prst="chevron">
            <a:avLst/>
          </a:prstGeom>
          <a:solidFill>
            <a:srgbClr val="153050"/>
          </a:solidFill>
          <a:ln w="19050">
            <a:solidFill>
              <a:srgbClr val="8BA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209405" y="358444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PostgreSQL持久化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23"/>
          <p:cNvSpPr txBox="1"/>
          <p:nvPr/>
        </p:nvSpPr>
        <p:spPr>
          <a:xfrm>
            <a:off x="5943600" y="1667383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秒级NetFlow采集</a:t>
            </a:r>
            <a:endParaRPr sz="1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11875" y="763905"/>
            <a:ext cx="184340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数据流向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 animBg="1"/>
      <p:bldP spid="26" grpId="0" animBg="1"/>
      <p:bldP spid="27" grpId="0"/>
      <p:bldP spid="28" grpId="0"/>
      <p:bldP spid="29" grpId="0" animBg="1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 — 实时全景大屏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 flipV="1">
            <a:off x="1097280" y="820420"/>
            <a:ext cx="4645660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6583680" cy="5120640"/>
          </a:xfrm>
          <a:prstGeom prst="roundRect">
            <a:avLst>
              <a:gd name="adj" fmla="val 3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0" y="34747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Dashboard 实时预览 ]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7315200" y="1188720"/>
            <a:ext cx="4389120" cy="841248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>
            <p:custDataLst>
              <p:tags r:id="rId2"/>
            </p:custDataLst>
          </p:nvPr>
        </p:nvSpPr>
        <p:spPr>
          <a:xfrm>
            <a:off x="7452360" y="1389888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7488936" y="1435608"/>
            <a:ext cx="246888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1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7882128" y="1325880"/>
            <a:ext cx="3657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核心指标卡片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7882128" y="16642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实时吞吐量、PPS、活跃IP数、告警总数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7315200" y="2148840"/>
            <a:ext cx="4389120" cy="841248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>
            <p:custDataLst>
              <p:tags r:id="rId7"/>
            </p:custDataLst>
          </p:nvPr>
        </p:nvSpPr>
        <p:spPr>
          <a:xfrm>
            <a:off x="7452360" y="2350008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7488936" y="2395728"/>
            <a:ext cx="246888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7882128" y="2286000"/>
            <a:ext cx="3657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吞吐趋势图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7882128" y="262432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时间桶对齐折线图，60fps流畅刷新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>
            <p:custDataLst>
              <p:tags r:id="rId11"/>
            </p:custDataLst>
          </p:nvPr>
        </p:nvSpPr>
        <p:spPr>
          <a:xfrm>
            <a:off x="7315200" y="3108960"/>
            <a:ext cx="4389120" cy="841248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Oval 18"/>
          <p:cNvSpPr/>
          <p:nvPr>
            <p:custDataLst>
              <p:tags r:id="rId12"/>
            </p:custDataLst>
          </p:nvPr>
        </p:nvSpPr>
        <p:spPr>
          <a:xfrm>
            <a:off x="7452360" y="3310128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3"/>
            </p:custDataLst>
          </p:nvPr>
        </p:nvSpPr>
        <p:spPr>
          <a:xfrm>
            <a:off x="7488936" y="3355848"/>
            <a:ext cx="246888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1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7882128" y="3246120"/>
            <a:ext cx="3657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协议分布饼图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7882128" y="358444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HTTP/HTTPS/DNS等27种协议实时分析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>
            <p:custDataLst>
              <p:tags r:id="rId16"/>
            </p:custDataLst>
          </p:nvPr>
        </p:nvSpPr>
        <p:spPr>
          <a:xfrm>
            <a:off x="7315200" y="4069080"/>
            <a:ext cx="4389120" cy="841248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>
            <p:custDataLst>
              <p:tags r:id="rId17"/>
            </p:custDataLst>
          </p:nvPr>
        </p:nvSpPr>
        <p:spPr>
          <a:xfrm>
            <a:off x="7452360" y="4270248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8"/>
            </p:custDataLst>
          </p:nvPr>
        </p:nvSpPr>
        <p:spPr>
          <a:xfrm>
            <a:off x="7488936" y="4315968"/>
            <a:ext cx="246888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1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7882128" y="4206240"/>
            <a:ext cx="3657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Top-K突发大流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7882128" y="454456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按流量排序Top-10，点击直接下钻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>
            <p:custDataLst>
              <p:tags r:id="rId21"/>
            </p:custDataLst>
          </p:nvPr>
        </p:nvSpPr>
        <p:spPr>
          <a:xfrm>
            <a:off x="7315200" y="5029200"/>
            <a:ext cx="4389120" cy="841248"/>
          </a:xfrm>
          <a:prstGeom prst="roundRect">
            <a:avLst>
              <a:gd name="adj" fmla="val 8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Oval 28"/>
          <p:cNvSpPr/>
          <p:nvPr>
            <p:custDataLst>
              <p:tags r:id="rId22"/>
            </p:custDataLst>
          </p:nvPr>
        </p:nvSpPr>
        <p:spPr>
          <a:xfrm>
            <a:off x="7452360" y="5230368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>
            <p:custDataLst>
              <p:tags r:id="rId23"/>
            </p:custDataLst>
          </p:nvPr>
        </p:nvSpPr>
        <p:spPr>
          <a:xfrm>
            <a:off x="7488936" y="5276088"/>
            <a:ext cx="246888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1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24"/>
            </p:custDataLst>
          </p:nvPr>
        </p:nvSpPr>
        <p:spPr>
          <a:xfrm>
            <a:off x="7882128" y="5166360"/>
            <a:ext cx="3657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区域热力图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>
            <p:custDataLst>
              <p:tags r:id="rId25"/>
            </p:custDataLst>
          </p:nvPr>
        </p:nvSpPr>
        <p:spPr>
          <a:xfrm>
            <a:off x="7882128" y="550468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宿舍区/教学区/行政区/科研区分布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" name="图片 47" descr="真实全景大屏截图_全页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2900" y="906434"/>
            <a:ext cx="6807708" cy="5719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4" name="矩形 33"/>
          <p:cNvSpPr/>
          <p:nvPr/>
        </p:nvSpPr>
        <p:spPr>
          <a:xfrm>
            <a:off x="457200" y="1664335"/>
            <a:ext cx="6597015" cy="4845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457200" y="2148840"/>
            <a:ext cx="2223770" cy="120713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2680970" y="2148840"/>
            <a:ext cx="2135505" cy="116141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457200" y="3474720"/>
            <a:ext cx="2402840" cy="10699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57200" y="4590415"/>
            <a:ext cx="6583680" cy="193992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 — 安全威胁感知中心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 flipV="1">
            <a:off x="1097280" y="812800"/>
            <a:ext cx="5456555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[ 3D地球攻击溯源地图 ]</a:t>
            </a:r>
            <a:endParaRPr sz="13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35040" y="1188720"/>
            <a:ext cx="5669280" cy="1828800"/>
          </a:xfrm>
          <a:prstGeom prst="roundRect">
            <a:avLst>
              <a:gd name="adj" fmla="val 11459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63640" y="13258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规则驱动层 — 6种典型威胁</a:t>
            </a:r>
            <a:endParaRPr sz="1500" b="1">
              <a:solidFill>
                <a:srgbClr val="FF5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09360" y="1783080"/>
            <a:ext cx="1645920" cy="384048"/>
          </a:xfrm>
          <a:prstGeom prst="roundRect">
            <a:avLst/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184708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5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DDoS攻击</a:t>
            </a:r>
            <a:endParaRPr sz="1400" b="1">
              <a:solidFill>
                <a:srgbClr val="FF5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92440" y="1783080"/>
            <a:ext cx="1645920" cy="384048"/>
          </a:xfrm>
          <a:prstGeom prst="roundRect">
            <a:avLst/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83880" y="184708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5252"/>
                </a:solidFill>
                <a:latin typeface="微软雅黑" panose="020B0503020204020204" charset="-122"/>
                <a:ea typeface="微软雅黑" panose="020B0503020204020204" charset="-122"/>
              </a:rPr>
              <a:t>端口扫描</a:t>
            </a:r>
            <a:endParaRPr sz="1400" b="1">
              <a:solidFill>
                <a:srgbClr val="FF525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875520" y="1783080"/>
            <a:ext cx="1645920" cy="384048"/>
          </a:xfrm>
          <a:prstGeom prst="roundRect">
            <a:avLst/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966960" y="184708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5252"/>
                </a:solidFill>
                <a:latin typeface="微软雅黑" panose="020B0503020204020204" charset="-122"/>
                <a:ea typeface="微软雅黑" panose="020B0503020204020204" charset="-122"/>
              </a:rPr>
              <a:t>慢速扫描</a:t>
            </a:r>
            <a:endParaRPr sz="1400" b="1">
              <a:solidFill>
                <a:srgbClr val="FF525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09360" y="2286000"/>
            <a:ext cx="1645920" cy="384048"/>
          </a:xfrm>
          <a:prstGeom prst="roundRect">
            <a:avLst/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235000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5252"/>
                </a:solidFill>
                <a:latin typeface="微软雅黑" panose="020B0503020204020204" charset="-122"/>
                <a:ea typeface="微软雅黑" panose="020B0503020204020204" charset="-122"/>
              </a:rPr>
              <a:t>蠕虫传播</a:t>
            </a:r>
            <a:endParaRPr sz="1400" b="1">
              <a:solidFill>
                <a:srgbClr val="FF525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92440" y="2286000"/>
            <a:ext cx="1645920" cy="384048"/>
          </a:xfrm>
          <a:prstGeom prst="roundRect">
            <a:avLst/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83880" y="235000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5252"/>
                </a:solidFill>
                <a:latin typeface="微软雅黑" panose="020B0503020204020204" charset="-122"/>
                <a:ea typeface="微软雅黑" panose="020B0503020204020204" charset="-122"/>
              </a:rPr>
              <a:t>钓鱼攻击</a:t>
            </a:r>
            <a:endParaRPr sz="1400" b="1">
              <a:solidFill>
                <a:srgbClr val="FF525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875520" y="2286000"/>
            <a:ext cx="1645920" cy="384048"/>
          </a:xfrm>
          <a:prstGeom prst="roundRect">
            <a:avLst/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66960" y="235000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5252"/>
                </a:solidFill>
                <a:latin typeface="微软雅黑" panose="020B0503020204020204" charset="-122"/>
                <a:ea typeface="微软雅黑" panose="020B0503020204020204" charset="-122"/>
              </a:rPr>
              <a:t>数据外泄</a:t>
            </a:r>
            <a:endParaRPr sz="1400" b="1">
              <a:solidFill>
                <a:srgbClr val="FF525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080760" y="3316605"/>
            <a:ext cx="5669280" cy="1988820"/>
          </a:xfrm>
          <a:prstGeom prst="roundRect">
            <a:avLst>
              <a:gd name="adj" fmla="val 11399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90945" y="345059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算法增强层 — 4套原创算法</a:t>
            </a:r>
            <a:endParaRPr sz="1500" b="1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336665" y="3907790"/>
            <a:ext cx="2560320" cy="530352"/>
          </a:xfrm>
          <a:prstGeom prst="roundRect">
            <a:avLst/>
          </a:prstGeom>
          <a:solidFill>
            <a:srgbClr val="152D15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46393" y="3980942"/>
            <a:ext cx="234086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</a:rPr>
              <a:t>EWMA-EAD</a:t>
            </a:r>
            <a:endParaRPr sz="1100" b="1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46393" y="4209542"/>
            <a:ext cx="234086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</a:rPr>
              <a:t>指数加权熵异常检测</a:t>
            </a:r>
            <a:endParaRPr sz="10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034145" y="3907790"/>
            <a:ext cx="2560320" cy="530352"/>
          </a:xfrm>
          <a:prstGeom prst="roundRect">
            <a:avLst/>
          </a:prstGeom>
          <a:solidFill>
            <a:srgbClr val="152D15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3873" y="3980942"/>
            <a:ext cx="234086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</a:rPr>
              <a:t>MDTCE</a:t>
            </a:r>
            <a:endParaRPr sz="1100" b="1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43873" y="4209542"/>
            <a:ext cx="234086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</a:rPr>
              <a:t>多维威胁关联引擎</a:t>
            </a:r>
            <a:endParaRPr sz="10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336665" y="4547870"/>
            <a:ext cx="2560320" cy="530352"/>
          </a:xfrm>
          <a:prstGeom prst="roundRect">
            <a:avLst/>
          </a:prstGeom>
          <a:solidFill>
            <a:srgbClr val="152D15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46393" y="4621022"/>
            <a:ext cx="234086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</a:rPr>
              <a:t>NBF-RS</a:t>
            </a:r>
            <a:endParaRPr sz="1100" b="1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46393" y="4849622"/>
            <a:ext cx="234086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7维行为指纹评分</a:t>
            </a:r>
            <a:endParaRPr sz="10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034145" y="4547870"/>
            <a:ext cx="2560320" cy="530352"/>
          </a:xfrm>
          <a:prstGeom prst="roundRect">
            <a:avLst/>
          </a:prstGeom>
          <a:solidFill>
            <a:srgbClr val="152D15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43873" y="4621022"/>
            <a:ext cx="234086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</a:rPr>
              <a:t>TPM-PA</a:t>
            </a:r>
            <a:endParaRPr sz="1100" b="1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43873" y="4849622"/>
            <a:ext cx="234086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</a:rPr>
              <a:t>时序预测预警</a:t>
            </a:r>
            <a:endParaRPr sz="10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24" y="1298448"/>
            <a:ext cx="5185153" cy="37523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 — 微观流级检索引擎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97280" y="802005"/>
            <a:ext cx="5304155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0" y="27432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类Wireshark Web检索引擎 ]</a:t>
            </a:r>
            <a:endParaRPr sz="13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444452" y="1188720"/>
            <a:ext cx="3505200" cy="4114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81612" y="1252728"/>
            <a:ext cx="3314007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endParaRPr sz="14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44452" y="1737360"/>
            <a:ext cx="3505200" cy="475488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27332" y="1828800"/>
            <a:ext cx="318654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&gt;&gt;  源/</a:t>
            </a:r>
            <a:r>
              <a:rPr sz="1400" b="1" dirty="0" err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目IP精确</a:t>
            </a:r>
            <a:r>
              <a:rPr sz="14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sz="1400" b="1" dirty="0" err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CIDR通配检索</a:t>
            </a:r>
            <a:endParaRPr sz="14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444452" y="2304288"/>
            <a:ext cx="3505200" cy="475488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27332" y="2395728"/>
            <a:ext cx="318654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&gt;&gt;  端口范围、协议类型筛选</a:t>
            </a:r>
            <a:endParaRPr sz="1400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444452" y="2871216"/>
            <a:ext cx="3505200" cy="475488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27332" y="2962656"/>
            <a:ext cx="318654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&gt;&gt;  应用协议、时间范围联合查询</a:t>
            </a:r>
            <a:endParaRPr sz="1400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44452" y="3438144"/>
            <a:ext cx="3505200" cy="475488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27332" y="3529584"/>
            <a:ext cx="318654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&gt;&gt;  分页展示完整五元组</a:t>
            </a:r>
            <a:endParaRPr sz="1400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444452" y="4005072"/>
            <a:ext cx="3505200" cy="475488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27332" y="4096512"/>
            <a:ext cx="318654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&gt;&gt;  CSV一键导出取证</a:t>
            </a:r>
            <a:endParaRPr sz="1400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六层下钻路径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>
            <p:custDataLst>
              <p:tags r:id="rId1"/>
            </p:custDataLst>
          </p:nvPr>
        </p:nvSpPr>
        <p:spPr>
          <a:xfrm>
            <a:off x="457200" y="5440680"/>
            <a:ext cx="155448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2"/>
            </p:custDataLst>
          </p:nvPr>
        </p:nvSpPr>
        <p:spPr>
          <a:xfrm>
            <a:off x="502920" y="5504688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全网</a:t>
            </a:r>
            <a:endParaRPr sz="16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3"/>
            </p:custDataLst>
          </p:nvPr>
        </p:nvSpPr>
        <p:spPr>
          <a:xfrm>
            <a:off x="2029968" y="5504688"/>
            <a:ext cx="228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4"/>
            </p:custDataLst>
          </p:nvPr>
        </p:nvSpPr>
        <p:spPr>
          <a:xfrm>
            <a:off x="2267712" y="5440680"/>
            <a:ext cx="155448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5"/>
            </p:custDataLst>
          </p:nvPr>
        </p:nvSpPr>
        <p:spPr>
          <a:xfrm>
            <a:off x="2313432" y="5504688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区域</a:t>
            </a:r>
            <a:endParaRPr sz="16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6"/>
            </p:custDataLst>
          </p:nvPr>
        </p:nvSpPr>
        <p:spPr>
          <a:xfrm>
            <a:off x="3840480" y="5504688"/>
            <a:ext cx="228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>
            <p:custDataLst>
              <p:tags r:id="rId7"/>
            </p:custDataLst>
          </p:nvPr>
        </p:nvSpPr>
        <p:spPr>
          <a:xfrm>
            <a:off x="4078224" y="5440680"/>
            <a:ext cx="155448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8"/>
            </p:custDataLst>
          </p:nvPr>
        </p:nvSpPr>
        <p:spPr>
          <a:xfrm>
            <a:off x="4123944" y="5504688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楼宇</a:t>
            </a:r>
            <a:endParaRPr sz="16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9"/>
            </p:custDataLst>
          </p:nvPr>
        </p:nvSpPr>
        <p:spPr>
          <a:xfrm>
            <a:off x="5650992" y="5504688"/>
            <a:ext cx="228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>
            <p:custDataLst>
              <p:tags r:id="rId10"/>
            </p:custDataLst>
          </p:nvPr>
        </p:nvSpPr>
        <p:spPr>
          <a:xfrm>
            <a:off x="5888736" y="5440680"/>
            <a:ext cx="155448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11"/>
            </p:custDataLst>
          </p:nvPr>
        </p:nvSpPr>
        <p:spPr>
          <a:xfrm>
            <a:off x="5934456" y="5504688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交换机</a:t>
            </a:r>
            <a:endParaRPr sz="16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>
            <p:custDataLst>
              <p:tags r:id="rId12"/>
            </p:custDataLst>
          </p:nvPr>
        </p:nvSpPr>
        <p:spPr>
          <a:xfrm>
            <a:off x="7461504" y="5504688"/>
            <a:ext cx="228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>
            <p:custDataLst>
              <p:tags r:id="rId13"/>
            </p:custDataLst>
          </p:nvPr>
        </p:nvSpPr>
        <p:spPr>
          <a:xfrm>
            <a:off x="7699248" y="5440680"/>
            <a:ext cx="155448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>
            <p:custDataLst>
              <p:tags r:id="rId14"/>
            </p:custDataLst>
          </p:nvPr>
        </p:nvSpPr>
        <p:spPr>
          <a:xfrm>
            <a:off x="7744968" y="5504688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端口</a:t>
            </a:r>
            <a:endParaRPr sz="16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>
            <p:custDataLst>
              <p:tags r:id="rId15"/>
            </p:custDataLst>
          </p:nvPr>
        </p:nvSpPr>
        <p:spPr>
          <a:xfrm>
            <a:off x="9272016" y="5504688"/>
            <a:ext cx="228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endParaRPr sz="14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509760" y="5440680"/>
            <a:ext cx="1554480" cy="45720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555480" y="5504688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IP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8850" y="1284921"/>
            <a:ext cx="7414857" cy="34337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730377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技术内核 — </a:t>
            </a: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EWMA-EAD</a:t>
            </a: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200400" cy="4572000"/>
          </a:xfrm>
          <a:prstGeom prst="roundRect">
            <a:avLst>
              <a:gd name="adj" fmla="val 4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200400" cy="91440"/>
          </a:xfrm>
          <a:prstGeom prst="roundRect">
            <a:avLst>
              <a:gd name="adj" fmla="val 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EWMA-EAD</a:t>
            </a: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指数加权熵异常检测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2743200" cy="13716"/>
          </a:xfrm>
          <a:prstGeom prst="roundRect">
            <a:avLst/>
          </a:prstGeom>
          <a:solidFill>
            <a:srgbClr val="305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2743200" cy="23475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校园网络流量的体量偏离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协议分布偏离和时间突发度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三维异常评分流程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接入告警生成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地理位置补全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时间线解释输出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5231765"/>
            <a:ext cx="2834640" cy="548640"/>
          </a:xfrm>
          <a:prstGeom prst="roundRect">
            <a:avLst/>
          </a:prstGeom>
          <a:solidFill>
            <a:srgbClr val="152D15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5303645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 误报率降低0.45%</a:t>
            </a:r>
            <a:endParaRPr b="1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86200" y="1554480"/>
            <a:ext cx="7848600" cy="4572000"/>
          </a:xfrm>
          <a:prstGeom prst="roundRect">
            <a:avLst>
              <a:gd name="adj" fmla="val 3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886200" y="1554480"/>
            <a:ext cx="7848600" cy="76200"/>
          </a:xfrm>
          <a:prstGeom prst="roundRect">
            <a:avLst>
              <a:gd name="adj" fmla="val 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0" y="1828800"/>
            <a:ext cx="7387560" cy="3602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lang="zh-CN" sz="2200" b="1" dirty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核心思路（三维评分流程）</a:t>
            </a:r>
            <a:endParaRPr lang="zh-CN" altLang="en-US" sz="18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spcBef>
                <a:spcPts val="600"/>
              </a:spcBef>
              <a:spcAft>
                <a:spcPts val="100"/>
              </a:spcAft>
              <a:buAutoNum type="arabicPeriod"/>
            </a:pP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体量偏离：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EWMA</a:t>
            </a: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基线训练 → 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Z-score</a:t>
            </a: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标准分 → 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形归一化（权重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α=0.4）</a:t>
            </a:r>
            <a:endParaRPr lang="en-US" altLang="zh-CN" sz="18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spcBef>
                <a:spcPts val="600"/>
              </a:spcBef>
              <a:spcAft>
                <a:spcPts val="100"/>
              </a:spcAft>
              <a:buAutoNum type="arabicPeriod"/>
            </a:pP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熵偏离：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Shannon</a:t>
            </a: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协议熵 → 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Z-score → S</a:t>
            </a: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形归一化（权重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β=0.35）</a:t>
            </a:r>
            <a:endParaRPr lang="en-US" altLang="zh-CN" sz="18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spcBef>
                <a:spcPts val="600"/>
              </a:spcBef>
              <a:spcAft>
                <a:spcPts val="100"/>
              </a:spcAft>
              <a:buAutoNum type="arabicPeriod"/>
            </a:pP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突发度偏离：到达间隔变异系数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 → Z-score → S</a:t>
            </a: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形归一化（权重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γ=0.25）</a:t>
            </a:r>
            <a:endParaRPr lang="en-US" altLang="zh-CN" sz="18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spcBef>
                <a:spcPts val="600"/>
              </a:spcBef>
              <a:spcAft>
                <a:spcPts val="100"/>
              </a:spcAft>
              <a:buAutoNum type="arabicPeriod"/>
            </a:pP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综合异常分 = 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α×</a:t>
            </a: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体量 + 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β×</a:t>
            </a: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熵 + 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γ×</a:t>
            </a: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突发度（阈值0.65）</a:t>
            </a:r>
            <a:endParaRPr lang="zh-CN" altLang="en-US" sz="18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spcBef>
                <a:spcPts val="600"/>
              </a:spcBef>
              <a:spcAft>
                <a:spcPts val="100"/>
              </a:spcAft>
              <a:buAutoNum type="arabicPeriod"/>
            </a:pPr>
            <a:r>
              <a:rPr 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融合判断：流量超3σ 且 熵低于阈值</a:t>
            </a:r>
            <a:endParaRPr lang="zh-CN" sz="18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endParaRPr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lang="zh-CN" sz="1800" b="1" dirty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优势：融合熵分析后可区分正常突发（协议多样）与攻击（协议单一）</a:t>
            </a:r>
            <a:endParaRPr lang="zh-CN" sz="1800" b="1" dirty="0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4"/>
          <p:cNvSpPr/>
          <p:nvPr/>
        </p:nvSpPr>
        <p:spPr>
          <a:xfrm flipV="1">
            <a:off x="1097280" y="763270"/>
            <a:ext cx="4211955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7840" y="-256540"/>
            <a:ext cx="5053330" cy="94107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r>
              <a:rPr lang="zh-CN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技术内核</a:t>
            </a: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算法</a:t>
            </a:r>
            <a:r>
              <a:rPr lang="zh-CN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</a:t>
            </a:r>
            <a:endParaRPr lang="zh-CN"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183005" y="684530"/>
            <a:ext cx="3682365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eval_ewma_ead_false_positi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374" y="1069039"/>
            <a:ext cx="8696041" cy="52290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612013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2800" b="1">
                <a:solidFill>
                  <a:srgbClr val="7B6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技术内核 — </a:t>
            </a: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MDTCE</a:t>
            </a: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200400" cy="4572000"/>
          </a:xfrm>
          <a:prstGeom prst="roundRect">
            <a:avLst>
              <a:gd name="adj" fmla="val 4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200400" cy="91440"/>
          </a:xfrm>
          <a:prstGeom prst="roundRect">
            <a:avLst>
              <a:gd name="adj" fmla="val 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B68EE"/>
                </a:solidFill>
                <a:latin typeface="微软雅黑" panose="020B0503020204020204" charset="-122"/>
                <a:ea typeface="微软雅黑" panose="020B0503020204020204" charset="-122"/>
              </a:rPr>
              <a:t>MDTCE</a:t>
            </a:r>
            <a:endParaRPr sz="2800" b="1">
              <a:solidFill>
                <a:srgbClr val="7B68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多维威胁关联引擎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2743200" cy="13716"/>
          </a:xfrm>
          <a:prstGeom prst="roundRect">
            <a:avLst/>
          </a:prstGeom>
          <a:solidFill>
            <a:srgbClr val="305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2743200" cy="2215515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面向校园网络告警数据的图建模</a:t>
            </a:r>
            <a:endParaRPr lang="en-US" altLang="zh-CN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关联评分</a:t>
            </a:r>
            <a:endParaRPr lang="en-US" altLang="zh-CN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阶段递进增强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攻击链输出和风险热力汇总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5430520"/>
            <a:ext cx="2834640" cy="548640"/>
          </a:xfrm>
          <a:prstGeom prst="roundRect">
            <a:avLst/>
          </a:prstGeom>
          <a:solidFill>
            <a:srgbClr val="152D15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2115" y="5502275"/>
            <a:ext cx="3245485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 攻击链还原率提高1.</a:t>
            </a:r>
            <a:r>
              <a:rPr lang="en-US"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</a:t>
            </a:r>
            <a:endParaRPr b="1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86200" y="1554480"/>
            <a:ext cx="7848600" cy="4572000"/>
          </a:xfrm>
          <a:prstGeom prst="roundRect">
            <a:avLst>
              <a:gd name="adj" fmla="val 3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886200" y="1554480"/>
            <a:ext cx="7848600" cy="76200"/>
          </a:xfrm>
          <a:prstGeom prst="roundRect">
            <a:avLst>
              <a:gd name="adj" fmla="val 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0" y="1828800"/>
            <a:ext cx="7387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lang="zh-CN" sz="2200" b="1" dirty="0">
                <a:solidFill>
                  <a:srgbClr val="7B6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核心思路：</a:t>
            </a:r>
            <a:r>
              <a:rPr lang="zh-CN" altLang="en-US" sz="2200" b="1" dirty="0">
                <a:solidFill>
                  <a:srgbClr val="7B6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（图建模 + 并查集关联）</a:t>
            </a:r>
            <a:endParaRPr lang="zh-CN" altLang="en-US" sz="2200" b="1" dirty="0">
              <a:solidFill>
                <a:srgbClr val="7B68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lang="zh-CN" sz="18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攻击阶段：</a:t>
            </a:r>
            <a:endParaRPr lang="zh-CN" sz="18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lang="zh-CN" sz="18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侦察→ 武器化 → 投递 → 利用 → 持久化 → 横向移动</a:t>
            </a:r>
            <a:endParaRPr lang="zh-CN" sz="18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lang="zh-CN" sz="18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关联规则：同源IP在时间窗内≥2个不同攻击阶段事件，触发高威胁关联告警</a:t>
            </a:r>
            <a:endParaRPr lang="zh-CN" sz="18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spcBef>
                <a:spcPts val="600"/>
              </a:spcBef>
              <a:spcAft>
                <a:spcPts val="100"/>
              </a:spcAft>
              <a:buClrTx/>
              <a:buSzTx/>
              <a:buAutoNum type="arabicPeriod"/>
            </a:pPr>
            <a:r>
              <a:rPr lang="zh-CN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图节点：每条告警抽象为节点，两两计算关联分</a:t>
            </a:r>
            <a:endParaRPr lang="zh-CN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spcBef>
                <a:spcPts val="600"/>
              </a:spcBef>
              <a:spcAft>
                <a:spcPts val="100"/>
              </a:spcAft>
              <a:buClrTx/>
              <a:buSzTx/>
              <a:buAutoNum type="arabicPeriod"/>
            </a:pPr>
            <a:r>
              <a:rPr lang="zh-CN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三维关联建边：0.45×IP重叠(Jaccard) + 0.30×时间邻近(指数衰减λ=0.1) + 0.25×地理接近(高斯核)</a:t>
            </a:r>
            <a:endParaRPr lang="zh-CN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spcBef>
                <a:spcPts val="600"/>
              </a:spcBef>
              <a:spcAft>
                <a:spcPts val="100"/>
              </a:spcAft>
              <a:buClrTx/>
              <a:buSzTx/>
              <a:buAutoNum type="arabicPeriod"/>
            </a:pPr>
            <a:r>
              <a:rPr lang="zh-CN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Kill Chain递进放大：阶段递进×1.3增强</a:t>
            </a:r>
            <a:endParaRPr lang="zh-CN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spcBef>
                <a:spcPts val="600"/>
              </a:spcBef>
              <a:spcAft>
                <a:spcPts val="100"/>
              </a:spcAft>
              <a:buClrTx/>
              <a:buSzTx/>
              <a:buAutoNum type="arabicPeriod"/>
            </a:pPr>
            <a:r>
              <a:rPr lang="zh-CN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并查集聚合高置信边 → 连通分量 = 攻击链候选</a:t>
            </a:r>
            <a:endParaRPr lang="zh-CN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100"/>
              </a:spcAft>
              <a:buClrTx/>
              <a:buSzTx/>
              <a:buNone/>
            </a:pPr>
            <a:endParaRPr lang="zh-CN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lang="zh-CN" sz="1800" b="1" dirty="0">
                <a:solidFill>
                  <a:srgbClr val="7B6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优势：完整还原攻击者多阶段攻击意图，从碎片告警到攻击链全景</a:t>
            </a:r>
            <a:endParaRPr lang="zh-CN" sz="1800" b="1" dirty="0">
              <a:solidFill>
                <a:srgbClr val="7B68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4"/>
          <p:cNvSpPr/>
          <p:nvPr/>
        </p:nvSpPr>
        <p:spPr>
          <a:xfrm flipV="1">
            <a:off x="1097280" y="746760"/>
            <a:ext cx="3385820" cy="9271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7840" y="-256540"/>
            <a:ext cx="5053330" cy="94107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r>
              <a:rPr lang="zh-CN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技术内核</a:t>
            </a: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算法</a:t>
            </a:r>
            <a:r>
              <a:rPr lang="zh-CN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</a:t>
            </a:r>
            <a:endParaRPr lang="zh-CN"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183005" y="684530"/>
            <a:ext cx="3682365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eval_mdtce_attack_cha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0842" y="989677"/>
            <a:ext cx="8790299" cy="53552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513016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280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技术内核 — </a:t>
            </a: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NBF-RS</a:t>
            </a: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200400" cy="4572000"/>
          </a:xfrm>
          <a:prstGeom prst="roundRect">
            <a:avLst>
              <a:gd name="adj" fmla="val 4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200400" cy="91440"/>
          </a:xfrm>
          <a:prstGeom prst="roundRect">
            <a:avLst>
              <a:gd name="adj" fmla="val 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NBF-RS</a:t>
            </a:r>
            <a:endParaRPr sz="280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7维行为指纹评分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2743200" cy="13716"/>
          </a:xfrm>
          <a:prstGeom prst="roundRect">
            <a:avLst/>
          </a:prstGeom>
          <a:solidFill>
            <a:srgbClr val="305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2743200" cy="242316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面向校园网络场景</a:t>
            </a:r>
            <a:endParaRPr lang="en-US" altLang="zh-CN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七维行为指纹组合</a:t>
            </a:r>
            <a:endParaRPr lang="en-US" altLang="zh-CN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异常敏感归一化</a:t>
            </a:r>
            <a:endParaRPr lang="en-US" altLang="zh-CN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加权风险评分流程</a:t>
            </a:r>
            <a:endParaRPr lang="en-US" altLang="zh-CN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贡献度解释输出</a:t>
            </a:r>
            <a:endParaRPr lang="en-US" altLang="zh-CN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流量画像/地理位置的工程落地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5385435"/>
            <a:ext cx="2834640" cy="548640"/>
          </a:xfrm>
          <a:prstGeom prst="roundRect">
            <a:avLst/>
          </a:prstGeom>
          <a:solidFill>
            <a:srgbClr val="152D15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5457315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 综合风险评估</a:t>
            </a:r>
            <a:endParaRPr b="1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86200" y="1554480"/>
            <a:ext cx="7848600" cy="4572000"/>
          </a:xfrm>
          <a:prstGeom prst="roundRect">
            <a:avLst>
              <a:gd name="adj" fmla="val 3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886200" y="1554480"/>
            <a:ext cx="7848600" cy="76200"/>
          </a:xfrm>
          <a:prstGeom prst="roundRect">
            <a:avLst>
              <a:gd name="adj" fmla="val 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0" y="1828800"/>
            <a:ext cx="7387560" cy="3628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lang="zh-CN" altLang="en-US" sz="22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七维行为指纹与加权风险评分</a:t>
            </a:r>
            <a:endParaRPr lang="zh-CN" sz="18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lang="zh-CN" sz="18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综合评分：7维度加权求和，超过阈值触发风险告警</a:t>
            </a:r>
            <a:endParaRPr lang="zh-CN" sz="18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zh-CN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F1 协议熵(Shannon, 0.15)、F2 对端多样性(0.15)、F3 流量不对称度(0.20)、F4 端口离散度(Shannon, 0.15)、F5 时间集中度(Gini系数, 0.10)、F6 连接强度(0.15)、F7 包大小偏差(0.10)</a:t>
            </a:r>
            <a:endParaRPr lang="zh-CN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zh-CN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风险分 = Σ(权重 × 归一化特征)　异常敏感归一化：正常范围外才计分</a:t>
            </a:r>
            <a:endParaRPr lang="zh-CN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zh-CN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行为聚类输出：正常 / 可疑 / 高风险 三类</a:t>
            </a:r>
            <a:endParaRPr lang="zh-CN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endParaRPr lang="zh-CN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lang="zh-CN" sz="18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优势：多维度交叉验证，避免单一指标误判，量化风险等级</a:t>
            </a:r>
            <a:endParaRPr lang="zh-CN" sz="1800" b="1" dirty="0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4"/>
          <p:cNvSpPr/>
          <p:nvPr/>
        </p:nvSpPr>
        <p:spPr>
          <a:xfrm flipV="1">
            <a:off x="1097280" y="746760"/>
            <a:ext cx="3385820" cy="9271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7840" y="-256540"/>
            <a:ext cx="5053330" cy="94107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r>
              <a:rPr lang="zh-CN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技术内核</a:t>
            </a: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算法</a:t>
            </a:r>
            <a:r>
              <a:rPr lang="zh-CN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</a:t>
            </a:r>
            <a:endParaRPr lang="zh-CN"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183005" y="684530"/>
            <a:ext cx="3682365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eval_nbf_rs_f1_sco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492" y="945181"/>
            <a:ext cx="9191187" cy="55272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663892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技术内核 — </a:t>
            </a:r>
            <a:r>
              <a:rPr sz="2800"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TPM-PA</a:t>
            </a:r>
            <a:endParaRPr sz="2800" b="1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564640"/>
            <a:ext cx="3200400" cy="4572000"/>
          </a:xfrm>
          <a:prstGeom prst="roundRect">
            <a:avLst>
              <a:gd name="adj" fmla="val 4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200400" cy="91440"/>
          </a:xfrm>
          <a:prstGeom prst="roundRect">
            <a:avLst>
              <a:gd name="adj" fmla="val 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</a:rPr>
              <a:t>TPM-PA</a:t>
            </a:r>
            <a:endParaRPr sz="2800" b="1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时序预测预警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2743200" cy="13716"/>
          </a:xfrm>
          <a:prstGeom prst="roundRect">
            <a:avLst/>
          </a:prstGeom>
          <a:solidFill>
            <a:srgbClr val="305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2743200" cy="2317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校园网络中的流量、包数、告警数和活跃 </a:t>
            </a: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 </a:t>
            </a: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数组合多信号滑窗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形成趋势分解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未来时间桶预测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交叉信号放大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提前预警输出流程</a:t>
            </a:r>
            <a:endParaRPr lang="zh-CN" altLang="en-US" sz="1400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5423535"/>
            <a:ext cx="2834640" cy="548640"/>
          </a:xfrm>
          <a:prstGeom prst="roundRect">
            <a:avLst/>
          </a:prstGeom>
          <a:solidFill>
            <a:srgbClr val="152D15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5495415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 预防性告警</a:t>
            </a:r>
            <a:endParaRPr b="1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86200" y="1554480"/>
            <a:ext cx="7848600" cy="4572000"/>
          </a:xfrm>
          <a:prstGeom prst="roundRect">
            <a:avLst>
              <a:gd name="adj" fmla="val 3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886200" y="1554480"/>
            <a:ext cx="7848600" cy="76200"/>
          </a:xfrm>
          <a:prstGeom prst="roundRect">
            <a:avLst>
              <a:gd name="adj" fmla="val 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0" y="1828800"/>
            <a:ext cx="7387560" cy="40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lang="zh-CN" sz="2200" b="1" dirty="0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核心思路</a:t>
            </a:r>
            <a:r>
              <a:rPr lang="zh-CN" altLang="en-US" sz="2200" b="1" dirty="0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（多信号趋势预测 + 交叉放大）</a:t>
            </a:r>
            <a:endParaRPr lang="zh-CN" altLang="en-US" sz="2200" b="1" dirty="0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70000"/>
              </a:lnSpc>
              <a:spcBef>
                <a:spcPts val="600"/>
              </a:spcBef>
              <a:spcAft>
                <a:spcPts val="100"/>
              </a:spcAft>
              <a:buAutoNum type="arabicPeriod"/>
            </a:pP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多信号滑窗：流量/包数/告警数/活跃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四类信号，5分钟分桶</a:t>
            </a:r>
            <a:endParaRPr lang="zh-CN" altLang="en-US" sz="18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70000"/>
              </a:lnSpc>
              <a:spcBef>
                <a:spcPts val="600"/>
              </a:spcBef>
              <a:spcAft>
                <a:spcPts val="100"/>
              </a:spcAft>
              <a:buAutoNum type="arabicPeriod"/>
            </a:pP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线性趋势外推：最小二乘法拟合，预测未来3个时间桶（15分钟）</a:t>
            </a:r>
            <a:endParaRPr lang="zh-CN" altLang="en-US" sz="18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70000"/>
              </a:lnSpc>
              <a:spcBef>
                <a:spcPts val="600"/>
              </a:spcBef>
              <a:spcAft>
                <a:spcPts val="100"/>
              </a:spcAft>
              <a:buAutoNum type="arabicPeriod"/>
            </a:pP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Z-score</a:t>
            </a: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偏离判断 + </a:t>
            </a: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Sigmoid</a:t>
            </a: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归一化</a:t>
            </a:r>
            <a:endParaRPr lang="zh-CN" altLang="en-US" sz="18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70000"/>
              </a:lnSpc>
              <a:spcBef>
                <a:spcPts val="600"/>
              </a:spcBef>
              <a:spcAft>
                <a:spcPts val="100"/>
              </a:spcAft>
              <a:buAutoNum type="arabicPeriod"/>
            </a:pP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交叉信号放大：≥2个信号越过预警线×1.4，≥3个再×1.4</a:t>
            </a:r>
            <a:endParaRPr lang="zh-CN" altLang="en-US" sz="18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70000"/>
              </a:lnSpc>
              <a:spcBef>
                <a:spcPts val="600"/>
              </a:spcBef>
              <a:spcAft>
                <a:spcPts val="100"/>
              </a:spcAft>
              <a:buAutoNum type="arabicPeriod"/>
            </a:pPr>
            <a:r>
              <a:rPr lang="en-US" altLang="zh-CN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Pearson</a:t>
            </a:r>
            <a:r>
              <a:rPr lang="zh-CN" altLang="en-US" sz="1800" b="1" dirty="0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相关系数描述信号间线性同步变化强度</a:t>
            </a:r>
            <a:endParaRPr lang="zh-CN" altLang="en-US" sz="1800" b="1" dirty="0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endParaRPr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lang="zh-CN" sz="1800" b="1" dirty="0">
                <a:solidFill>
                  <a:srgbClr val="00E6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优势：实现「预防性告警」而非事后发现，提前0.07分钟预警</a:t>
            </a:r>
            <a:endParaRPr lang="zh-CN" sz="1800" b="1" dirty="0">
              <a:solidFill>
                <a:srgbClr val="00E6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4"/>
          <p:cNvSpPr/>
          <p:nvPr/>
        </p:nvSpPr>
        <p:spPr>
          <a:xfrm flipV="1">
            <a:off x="1097280" y="784225"/>
            <a:ext cx="3561080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7840" y="-256540"/>
            <a:ext cx="5053330" cy="94107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r>
              <a:rPr lang="zh-CN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技术内核</a:t>
            </a: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算法</a:t>
            </a:r>
            <a:r>
              <a:rPr lang="zh-CN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</a:t>
            </a:r>
            <a:endParaRPr lang="zh-CN"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183005" y="684530"/>
            <a:ext cx="3682365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eval_tpm_pa_early_warn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7616" y="1127066"/>
            <a:ext cx="8052108" cy="48841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7840" y="-256540"/>
            <a:ext cx="5053330" cy="94107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r>
              <a:rPr lang="zh-CN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技术内核</a:t>
            </a: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算法</a:t>
            </a:r>
            <a:r>
              <a:rPr lang="zh-CN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</a:t>
            </a:r>
            <a:endParaRPr lang="zh-CN"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183005" y="684530"/>
            <a:ext cx="3682365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7715" y="1252855"/>
            <a:ext cx="6808470" cy="51936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286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部署落地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97280" y="792480"/>
            <a:ext cx="1816100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303520" cy="2377440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应用对象</a:t>
            </a:r>
            <a:endParaRPr sz="20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640080" y="1508760"/>
            <a:ext cx="2286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网络运维工程师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640080" y="1764792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</a:rPr>
              <a:t>实时监控、快速定位故障根因、处理安全告警</a:t>
            </a:r>
            <a:endParaRPr sz="12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640080" y="2103120"/>
            <a:ext cx="2286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网络安全管理员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640080" y="2359152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</a:rPr>
              <a:t>威胁态势感知、攻击溯源分析、应急响应</a:t>
            </a:r>
            <a:endParaRPr sz="12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640080" y="2697480"/>
            <a:ext cx="2286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信息化管理部门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640080" y="2953512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A4C4"/>
                </a:solidFill>
                <a:latin typeface="微软雅黑" panose="020B0503020204020204" charset="-122"/>
                <a:ea typeface="微软雅黑" panose="020B0503020204020204" charset="-122"/>
              </a:rPr>
              <a:t>全校网络运行态势总览、辅助决策</a:t>
            </a:r>
            <a:endParaRPr sz="1200" b="1">
              <a:solidFill>
                <a:srgbClr val="8B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21"/>
          <p:cNvSpPr/>
          <p:nvPr/>
        </p:nvSpPr>
        <p:spPr>
          <a:xfrm>
            <a:off x="6039485" y="1005205"/>
            <a:ext cx="5669280" cy="2377440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22"/>
          <p:cNvSpPr txBox="1"/>
          <p:nvPr/>
        </p:nvSpPr>
        <p:spPr>
          <a:xfrm>
            <a:off x="6268085" y="1170305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高校专属场景</a:t>
            </a:r>
            <a:endParaRPr sz="20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23"/>
          <p:cNvSpPr txBox="1"/>
          <p:nvPr/>
        </p:nvSpPr>
        <p:spPr>
          <a:xfrm>
            <a:off x="6116320" y="1490345"/>
            <a:ext cx="5796280" cy="15881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考试周突发保障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宿舍区带宽治理 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科研数据外泄预警</a:t>
            </a:r>
            <a:endParaRPr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5"/>
          <p:cNvSpPr/>
          <p:nvPr/>
        </p:nvSpPr>
        <p:spPr>
          <a:xfrm>
            <a:off x="523240" y="3997960"/>
            <a:ext cx="2423160" cy="1854835"/>
          </a:xfrm>
          <a:prstGeom prst="roundRect">
            <a:avLst>
              <a:gd name="adj" fmla="val 5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 + ECharts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组件化+可视化成熟）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8"/>
          <p:cNvSpPr txBox="1"/>
          <p:nvPr/>
        </p:nvSpPr>
        <p:spPr>
          <a:xfrm>
            <a:off x="1281430" y="3455035"/>
            <a:ext cx="1615440" cy="21780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unded Rectangle 9"/>
          <p:cNvSpPr/>
          <p:nvPr/>
        </p:nvSpPr>
        <p:spPr>
          <a:xfrm>
            <a:off x="797560" y="3872230"/>
            <a:ext cx="2099310" cy="76200"/>
          </a:xfrm>
          <a:prstGeom prst="roundRect">
            <a:avLst/>
          </a:prstGeom>
          <a:solidFill>
            <a:srgbClr val="305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16"/>
          <p:cNvSpPr/>
          <p:nvPr/>
        </p:nvSpPr>
        <p:spPr>
          <a:xfrm>
            <a:off x="3495040" y="3949065"/>
            <a:ext cx="2423160" cy="1854835"/>
          </a:xfrm>
          <a:prstGeom prst="roundRect">
            <a:avLst>
              <a:gd name="adj" fmla="val 5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 Boot + WebSocket（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生产级+低延迟推送）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20"/>
          <p:cNvSpPr/>
          <p:nvPr/>
        </p:nvSpPr>
        <p:spPr>
          <a:xfrm>
            <a:off x="3665855" y="3872230"/>
            <a:ext cx="2099310" cy="76200"/>
          </a:xfrm>
          <a:prstGeom prst="roundRect">
            <a:avLst/>
          </a:prstGeom>
          <a:solidFill>
            <a:srgbClr val="305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27"/>
          <p:cNvSpPr/>
          <p:nvPr/>
        </p:nvSpPr>
        <p:spPr>
          <a:xfrm>
            <a:off x="6466840" y="3997960"/>
            <a:ext cx="2423160" cy="1854835"/>
          </a:xfrm>
          <a:prstGeom prst="roundRect">
            <a:avLst>
              <a:gd name="adj" fmla="val 5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Python/Java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（兼顾效率与生态）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ounded Rectangle 31"/>
          <p:cNvSpPr/>
          <p:nvPr/>
        </p:nvSpPr>
        <p:spPr>
          <a:xfrm>
            <a:off x="6637655" y="3872865"/>
            <a:ext cx="2099310" cy="76200"/>
          </a:xfrm>
          <a:prstGeom prst="roundRect">
            <a:avLst/>
          </a:prstGeom>
          <a:solidFill>
            <a:srgbClr val="305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38"/>
          <p:cNvSpPr/>
          <p:nvPr/>
        </p:nvSpPr>
        <p:spPr>
          <a:xfrm>
            <a:off x="9438640" y="3997960"/>
            <a:ext cx="2423160" cy="1854835"/>
          </a:xfrm>
          <a:prstGeom prst="roundRect">
            <a:avLst>
              <a:gd name="adj" fmla="val 5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Compose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评审可复现）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ounded Rectangle 42"/>
          <p:cNvSpPr/>
          <p:nvPr/>
        </p:nvSpPr>
        <p:spPr>
          <a:xfrm>
            <a:off x="9609455" y="3872865"/>
            <a:ext cx="2099310" cy="76200"/>
          </a:xfrm>
          <a:prstGeom prst="roundRect">
            <a:avLst/>
          </a:prstGeom>
          <a:solidFill>
            <a:srgbClr val="305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8"/>
          <p:cNvSpPr txBox="1"/>
          <p:nvPr/>
        </p:nvSpPr>
        <p:spPr>
          <a:xfrm>
            <a:off x="7393940" y="3455035"/>
            <a:ext cx="1615440" cy="21780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8"/>
          <p:cNvSpPr txBox="1"/>
          <p:nvPr/>
        </p:nvSpPr>
        <p:spPr>
          <a:xfrm>
            <a:off x="4374515" y="3455035"/>
            <a:ext cx="1615440" cy="21780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8"/>
          <p:cNvSpPr txBox="1"/>
          <p:nvPr/>
        </p:nvSpPr>
        <p:spPr>
          <a:xfrm>
            <a:off x="10315575" y="3455035"/>
            <a:ext cx="1615440" cy="21780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部署</a:t>
            </a: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12"/>
          <p:cNvSpPr/>
          <p:nvPr/>
        </p:nvSpPr>
        <p:spPr>
          <a:xfrm>
            <a:off x="3081655" y="6117590"/>
            <a:ext cx="4948555" cy="373380"/>
          </a:xfrm>
          <a:prstGeom prst="roundRect">
            <a:avLst/>
          </a:prstGeom>
          <a:solidFill>
            <a:srgbClr val="122845"/>
          </a:solidFill>
          <a:ln w="6350">
            <a:solidFill>
              <a:srgbClr val="25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选型原则：轻量、实时、可部署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8"/>
          <p:cNvSpPr txBox="1"/>
          <p:nvPr>
            <p:custDataLst>
              <p:tags r:id="rId7"/>
            </p:custDataLst>
          </p:nvPr>
        </p:nvSpPr>
        <p:spPr>
          <a:xfrm>
            <a:off x="1252855" y="1170305"/>
            <a:ext cx="1828800" cy="6172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286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01625"/>
            <a:ext cx="45389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部署落地</a:t>
            </a:r>
            <a:r>
              <a:rPr lang="en-US" alt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——AI</a:t>
            </a: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报表生成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97280" y="792480"/>
            <a:ext cx="4378325" cy="107315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13"/>
          <p:cNvSpPr/>
          <p:nvPr/>
        </p:nvSpPr>
        <p:spPr>
          <a:xfrm>
            <a:off x="569595" y="1329690"/>
            <a:ext cx="5526405" cy="5094605"/>
          </a:xfrm>
          <a:prstGeom prst="roundRect">
            <a:avLst>
              <a:gd name="adj" fmla="val 3954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847090" y="1423035"/>
            <a:ext cx="4853940" cy="6908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</a:t>
            </a:r>
            <a:r>
              <a:rPr 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生成报表功能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8"/>
          <p:cNvSpPr txBox="1"/>
          <p:nvPr/>
        </p:nvSpPr>
        <p:spPr>
          <a:xfrm>
            <a:off x="569595" y="2303780"/>
            <a:ext cx="5351145" cy="13087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技术拆分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：数据采集层（读原站数据）→ 指标加工层（统计趋势/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TopN/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异常）→ 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总结层（大模型生成结论）→ 报表中心前端（查看、下载、分享）。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525780" y="3429000"/>
            <a:ext cx="5586730" cy="2631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自动生成报表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：支持生成 运行日报、安全晨报、异常流量专报、单 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 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调查简报。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智能分析输出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：自动生成运行概览、异常时段、重点告警、可疑主机、领导摘要等内容并给出处置建议。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趋势与记录展示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：包含报表生成趋势图、成功率、耗时和最近生成记录。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2055" y="1953087"/>
            <a:ext cx="5599430" cy="39860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2"/>
          <p:cNvSpPr/>
          <p:nvPr/>
        </p:nvSpPr>
        <p:spPr>
          <a:xfrm>
            <a:off x="186988" y="3904107"/>
            <a:ext cx="6668770" cy="506095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200" y="265430"/>
            <a:ext cx="557720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部署落地</a:t>
            </a: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部署与运行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 flipV="1">
            <a:off x="1437640" y="746760"/>
            <a:ext cx="3942715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59105" y="1035685"/>
            <a:ext cx="6874510" cy="506095"/>
            <a:chOff x="141605" y="822960"/>
            <a:chExt cx="6874510" cy="506095"/>
          </a:xfrm>
        </p:grpSpPr>
        <p:sp>
          <p:nvSpPr>
            <p:cNvPr id="46" name="Shape 2"/>
            <p:cNvSpPr/>
            <p:nvPr/>
          </p:nvSpPr>
          <p:spPr>
            <a:xfrm>
              <a:off x="141605" y="822960"/>
              <a:ext cx="6668770" cy="506095"/>
            </a:xfrm>
            <a:prstGeom prst="rect">
              <a:avLst/>
            </a:prstGeom>
            <a:solidFill>
              <a:srgbClr val="1A3A5C"/>
            </a:solidFill>
          </p:spPr>
          <p:txBody>
            <a:bodyPr/>
            <a:lstStyle/>
            <a:p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Text 3"/>
            <p:cNvSpPr/>
            <p:nvPr/>
          </p:nvSpPr>
          <p:spPr>
            <a:xfrm>
              <a:off x="274320" y="960120"/>
              <a:ext cx="6741795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0D4A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🏠 部署服务器: 8.146.228.64  |  📡 测试流量源: 60.205.56.61</a:t>
              </a:r>
              <a:endParaRPr lang="en-US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8" name="Shape 4"/>
          <p:cNvSpPr/>
          <p:nvPr/>
        </p:nvSpPr>
        <p:spPr>
          <a:xfrm>
            <a:off x="1259840" y="1783080"/>
            <a:ext cx="2905125" cy="2028825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49" name="Shape 5"/>
          <p:cNvSpPr/>
          <p:nvPr/>
        </p:nvSpPr>
        <p:spPr>
          <a:xfrm>
            <a:off x="1564640" y="1783080"/>
            <a:ext cx="2194560" cy="73152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50" name="Text 6"/>
          <p:cNvSpPr/>
          <p:nvPr/>
        </p:nvSpPr>
        <p:spPr>
          <a:xfrm>
            <a:off x="1564640" y="19202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📡 测试流量源</a:t>
            </a:r>
            <a:endParaRPr lang="en-US" sz="2000" b="1" dirty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 7"/>
          <p:cNvSpPr/>
          <p:nvPr/>
        </p:nvSpPr>
        <p:spPr>
          <a:xfrm>
            <a:off x="1427480" y="2443955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</a:rPr>
              <a:t>http://</a:t>
            </a:r>
            <a:r>
              <a:rPr lang="en-US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</a:rPr>
              <a:t>60.205.56.61</a:t>
            </a:r>
            <a:endParaRPr lang="en-US" b="1" dirty="0">
              <a:solidFill>
                <a:srgbClr val="00D4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 8"/>
          <p:cNvSpPr/>
          <p:nvPr/>
        </p:nvSpPr>
        <p:spPr>
          <a:xfrm>
            <a:off x="4490085" y="2651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C5D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en-US" sz="2200" b="1" dirty="0">
              <a:solidFill>
                <a:srgbClr val="B8C5D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5181600" y="1800225"/>
            <a:ext cx="2864485" cy="20345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54" name="Shape 10"/>
          <p:cNvSpPr/>
          <p:nvPr/>
        </p:nvSpPr>
        <p:spPr>
          <a:xfrm>
            <a:off x="5521325" y="1800225"/>
            <a:ext cx="2194560" cy="73152"/>
          </a:xfrm>
          <a:prstGeom prst="rect">
            <a:avLst/>
          </a:prstGeom>
          <a:solidFill>
            <a:srgbClr val="00D4AA"/>
          </a:solidFill>
        </p:spPr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5380355" y="2014855"/>
            <a:ext cx="24771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🖥️ 前端大屏</a:t>
            </a:r>
            <a:endParaRPr lang="en-US" sz="2000" b="1" dirty="0">
              <a:solidFill>
                <a:srgbClr val="00D4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5380355" y="2426335"/>
            <a:ext cx="24771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</a:rPr>
              <a:t>http://</a:t>
            </a:r>
            <a:r>
              <a:rPr lang="en-US" sz="1400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</a:rPr>
              <a:t>8.146.228.64:3000</a:t>
            </a:r>
            <a:endParaRPr lang="en-US" b="1" dirty="0">
              <a:solidFill>
                <a:srgbClr val="00D4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8228965" y="2700655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C5D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en-US" sz="2200" b="1" dirty="0">
              <a:solidFill>
                <a:srgbClr val="B8C5D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8778240" y="1828800"/>
            <a:ext cx="2935605" cy="196596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59" name="Shape 15"/>
          <p:cNvSpPr/>
          <p:nvPr/>
        </p:nvSpPr>
        <p:spPr>
          <a:xfrm>
            <a:off x="9072880" y="1828800"/>
            <a:ext cx="2194560" cy="73152"/>
          </a:xfrm>
          <a:prstGeom prst="rect">
            <a:avLst/>
          </a:prstGeom>
          <a:solidFill>
            <a:srgbClr val="4ECDC4"/>
          </a:solidFill>
        </p:spPr>
      </p:sp>
      <p:sp>
        <p:nvSpPr>
          <p:cNvPr id="60" name="Text 16"/>
          <p:cNvSpPr/>
          <p:nvPr/>
        </p:nvSpPr>
        <p:spPr>
          <a:xfrm>
            <a:off x="9072880" y="20116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EC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⚙️ 后端服务</a:t>
            </a:r>
            <a:endParaRPr lang="en-US" sz="2000" b="1" dirty="0">
              <a:solidFill>
                <a:srgbClr val="4ECD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9027159" y="2609215"/>
            <a:ext cx="264096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400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</a:rPr>
              <a:t>http://</a:t>
            </a:r>
            <a:r>
              <a:rPr lang="en-US" sz="1400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</a:rPr>
              <a:t>8.146.228.64:8080</a:t>
            </a:r>
            <a:endParaRPr lang="en-US" sz="1400" b="1" dirty="0">
              <a:solidFill>
                <a:srgbClr val="00D4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 18"/>
          <p:cNvSpPr/>
          <p:nvPr/>
        </p:nvSpPr>
        <p:spPr>
          <a:xfrm>
            <a:off x="1564640" y="30175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模拟真实网络流量</a:t>
            </a:r>
            <a:endParaRPr lang="en-US" b="1" dirty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 19"/>
          <p:cNvSpPr/>
          <p:nvPr/>
        </p:nvSpPr>
        <p:spPr>
          <a:xfrm>
            <a:off x="5380355" y="3028950"/>
            <a:ext cx="247713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↑ HTTP/WebSocket 数据</a:t>
            </a:r>
            <a:endParaRPr lang="en-US" b="1" dirty="0">
              <a:solidFill>
                <a:srgbClr val="00D4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375920" y="400939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🌐 在线访问地址</a:t>
            </a:r>
            <a:endParaRPr lang="en-US" sz="2400" b="1" dirty="0">
              <a:solidFill>
                <a:srgbClr val="00D4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Shape 21"/>
          <p:cNvSpPr/>
          <p:nvPr/>
        </p:nvSpPr>
        <p:spPr>
          <a:xfrm>
            <a:off x="1238250" y="4523009"/>
            <a:ext cx="2914015" cy="949325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 22"/>
          <p:cNvSpPr/>
          <p:nvPr/>
        </p:nvSpPr>
        <p:spPr>
          <a:xfrm>
            <a:off x="2081530" y="4609369"/>
            <a:ext cx="11607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C5D0"/>
                </a:solidFill>
                <a:latin typeface="微软雅黑" panose="020B0503020204020204" charset="-122"/>
                <a:ea typeface="微软雅黑" panose="020B0503020204020204" charset="-122"/>
              </a:rPr>
              <a:t>前端大屏</a:t>
            </a:r>
            <a:endParaRPr lang="en-US" sz="2000" b="1" dirty="0">
              <a:solidFill>
                <a:srgbClr val="B8C5D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 23"/>
          <p:cNvSpPr/>
          <p:nvPr/>
        </p:nvSpPr>
        <p:spPr>
          <a:xfrm>
            <a:off x="1564640" y="5005609"/>
            <a:ext cx="24307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</a:rPr>
              <a:t>http://8.146.228.64:3000</a:t>
            </a:r>
            <a:endParaRPr lang="en-US" sz="1400" b="1" dirty="0">
              <a:solidFill>
                <a:srgbClr val="00D4AA"/>
              </a:solidFill>
              <a:latin typeface="微软雅黑" panose="020B0503020204020204" charset="-122"/>
              <a:ea typeface="微软雅黑" panose="020B0503020204020204" charset="-122"/>
              <a:hlinkClick r:id="rId1"/>
            </a:endParaRPr>
          </a:p>
        </p:txBody>
      </p:sp>
      <p:sp>
        <p:nvSpPr>
          <p:cNvPr id="68" name="Shape 24"/>
          <p:cNvSpPr/>
          <p:nvPr/>
        </p:nvSpPr>
        <p:spPr>
          <a:xfrm>
            <a:off x="5182235" y="4518025"/>
            <a:ext cx="2852420" cy="88392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 25"/>
          <p:cNvSpPr/>
          <p:nvPr/>
        </p:nvSpPr>
        <p:spPr>
          <a:xfrm>
            <a:off x="6022975" y="4604385"/>
            <a:ext cx="118173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C5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后端API</a:t>
            </a:r>
            <a:endParaRPr lang="en-US" sz="2000" b="1" dirty="0">
              <a:solidFill>
                <a:srgbClr val="B8C5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 26"/>
          <p:cNvSpPr/>
          <p:nvPr/>
        </p:nvSpPr>
        <p:spPr>
          <a:xfrm>
            <a:off x="5363209" y="4934585"/>
            <a:ext cx="287464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</a:rPr>
              <a:t>http://8.146.228.64:8080</a:t>
            </a:r>
            <a:endParaRPr lang="en-US" sz="1400" b="1" dirty="0">
              <a:solidFill>
                <a:srgbClr val="00D4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Shape 27"/>
          <p:cNvSpPr/>
          <p:nvPr/>
        </p:nvSpPr>
        <p:spPr>
          <a:xfrm>
            <a:off x="8778240" y="4516755"/>
            <a:ext cx="3370580" cy="88519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 28"/>
          <p:cNvSpPr/>
          <p:nvPr/>
        </p:nvSpPr>
        <p:spPr>
          <a:xfrm>
            <a:off x="9064625" y="4604385"/>
            <a:ext cx="20231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C5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Swagger文档</a:t>
            </a:r>
            <a:endParaRPr lang="en-US" sz="2000" b="1" dirty="0">
              <a:solidFill>
                <a:srgbClr val="B8C5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 29"/>
          <p:cNvSpPr/>
          <p:nvPr/>
        </p:nvSpPr>
        <p:spPr>
          <a:xfrm>
            <a:off x="8981440" y="4980305"/>
            <a:ext cx="273240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</a:rPr>
              <a:t>http://8.146.228.64:8080/</a:t>
            </a:r>
            <a:endParaRPr lang="en-US" sz="1200" b="1" dirty="0">
              <a:solidFill>
                <a:srgbClr val="00D4A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</a:rPr>
              <a:t>swagger-ui.html</a:t>
            </a:r>
            <a:endParaRPr lang="en-US" sz="1200" b="1" dirty="0">
              <a:solidFill>
                <a:srgbClr val="00D4AA"/>
              </a:solidFill>
              <a:latin typeface="微软雅黑" panose="020B0503020204020204" charset="-122"/>
              <a:ea typeface="微软雅黑" panose="020B0503020204020204" charset="-122"/>
              <a:hlinkClick r:id="rId2"/>
            </a:endParaRPr>
          </a:p>
        </p:txBody>
      </p:sp>
      <p:sp>
        <p:nvSpPr>
          <p:cNvPr id="74" name="Text 30"/>
          <p:cNvSpPr/>
          <p:nvPr/>
        </p:nvSpPr>
        <p:spPr>
          <a:xfrm>
            <a:off x="1664970" y="58597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C5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Compose 一键容器化部署 · PostgreSQL 15 数据库 · 前后端分离架构</a:t>
            </a:r>
            <a:endParaRPr lang="en-US" sz="2000" b="1" dirty="0">
              <a:solidFill>
                <a:srgbClr val="B8C5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9062720" y="3053715"/>
            <a:ext cx="247713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☆</a:t>
            </a:r>
            <a:r>
              <a:rPr lang="en-US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rgbClr val="00D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运行核心算法</a:t>
            </a:r>
            <a:endParaRPr lang="zh-CN" altLang="en-US" b="1" dirty="0">
              <a:solidFill>
                <a:srgbClr val="00D4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286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6950" y="234442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创新总结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 flipV="1">
            <a:off x="1097280" y="746760"/>
            <a:ext cx="1689735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5"/>
          <p:cNvSpPr/>
          <p:nvPr/>
        </p:nvSpPr>
        <p:spPr>
          <a:xfrm>
            <a:off x="457200" y="1005840"/>
            <a:ext cx="3611880" cy="4787265"/>
          </a:xfrm>
          <a:prstGeom prst="roundRect">
            <a:avLst>
              <a:gd name="adj" fmla="val 5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6"/>
          <p:cNvSpPr txBox="1"/>
          <p:nvPr/>
        </p:nvSpPr>
        <p:spPr>
          <a:xfrm>
            <a:off x="640080" y="1170305"/>
            <a:ext cx="732155" cy="7442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1234440" y="1066165"/>
            <a:ext cx="2651760" cy="625475"/>
          </a:xfrm>
          <a:prstGeom prst="rect">
            <a:avLst/>
          </a:prstGeom>
          <a:noFill/>
        </p:spPr>
        <p:txBody>
          <a:bodyPr wrap="square">
            <a:normAutofit fontScale="97500"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面向高校的轻量级NetFlow分析平台</a:t>
            </a:r>
            <a:endParaRPr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8"/>
          <p:cNvSpPr/>
          <p:nvPr/>
        </p:nvSpPr>
        <p:spPr>
          <a:xfrm>
            <a:off x="640080" y="1691640"/>
            <a:ext cx="3246120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9"/>
          <p:cNvSpPr txBox="1"/>
          <p:nvPr/>
        </p:nvSpPr>
        <p:spPr>
          <a:xfrm>
            <a:off x="640080" y="1998980"/>
            <a:ext cx="3246120" cy="7442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秒级采集 + 流级检索</a:t>
            </a:r>
            <a:endParaRPr sz="14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10"/>
          <p:cNvSpPr txBox="1"/>
          <p:nvPr/>
        </p:nvSpPr>
        <p:spPr>
          <a:xfrm>
            <a:off x="640080" y="2443480"/>
            <a:ext cx="3246120" cy="7442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400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11"/>
          <p:cNvSpPr/>
          <p:nvPr/>
        </p:nvSpPr>
        <p:spPr>
          <a:xfrm>
            <a:off x="4343400" y="1005840"/>
            <a:ext cx="3611880" cy="4787265"/>
          </a:xfrm>
          <a:prstGeom prst="roundRect">
            <a:avLst>
              <a:gd name="adj" fmla="val 5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12"/>
          <p:cNvSpPr txBox="1"/>
          <p:nvPr/>
        </p:nvSpPr>
        <p:spPr>
          <a:xfrm>
            <a:off x="4526280" y="1170305"/>
            <a:ext cx="1000760" cy="7442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B68E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400" b="1">
              <a:solidFill>
                <a:srgbClr val="7B68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13"/>
          <p:cNvSpPr txBox="1"/>
          <p:nvPr/>
        </p:nvSpPr>
        <p:spPr>
          <a:xfrm>
            <a:off x="5120640" y="1203325"/>
            <a:ext cx="2651760" cy="625475"/>
          </a:xfrm>
          <a:prstGeom prst="rect">
            <a:avLst/>
          </a:prstGeom>
          <a:noFill/>
        </p:spPr>
        <p:txBody>
          <a:bodyPr wrap="square">
            <a:normAutofit fontScale="97500"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攻击链关联与3D溯源结合</a:t>
            </a:r>
            <a:endParaRPr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14"/>
          <p:cNvSpPr/>
          <p:nvPr/>
        </p:nvSpPr>
        <p:spPr>
          <a:xfrm>
            <a:off x="4526280" y="1691640"/>
            <a:ext cx="3246120" cy="7620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15"/>
          <p:cNvSpPr txBox="1"/>
          <p:nvPr/>
        </p:nvSpPr>
        <p:spPr>
          <a:xfrm>
            <a:off x="4526280" y="1998980"/>
            <a:ext cx="3246120" cy="7442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从告警点下钻到IP/协议</a:t>
            </a:r>
            <a:endParaRPr sz="14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16"/>
          <p:cNvSpPr txBox="1"/>
          <p:nvPr/>
        </p:nvSpPr>
        <p:spPr>
          <a:xfrm>
            <a:off x="4526280" y="2331720"/>
            <a:ext cx="3246120" cy="7442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400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ounded Rectangle 17"/>
          <p:cNvSpPr/>
          <p:nvPr/>
        </p:nvSpPr>
        <p:spPr>
          <a:xfrm>
            <a:off x="8229600" y="1005840"/>
            <a:ext cx="3611880" cy="4787265"/>
          </a:xfrm>
          <a:prstGeom prst="roundRect">
            <a:avLst>
              <a:gd name="adj" fmla="val 5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18"/>
          <p:cNvSpPr txBox="1"/>
          <p:nvPr/>
        </p:nvSpPr>
        <p:spPr>
          <a:xfrm>
            <a:off x="8412480" y="1170305"/>
            <a:ext cx="1155065" cy="7442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40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19"/>
          <p:cNvSpPr txBox="1"/>
          <p:nvPr/>
        </p:nvSpPr>
        <p:spPr>
          <a:xfrm>
            <a:off x="9006840" y="1229995"/>
            <a:ext cx="2651760" cy="6254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四套原创算法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ounded Rectangle 20"/>
          <p:cNvSpPr/>
          <p:nvPr/>
        </p:nvSpPr>
        <p:spPr>
          <a:xfrm>
            <a:off x="8412480" y="1691640"/>
            <a:ext cx="3246120" cy="76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21"/>
          <p:cNvSpPr txBox="1"/>
          <p:nvPr/>
        </p:nvSpPr>
        <p:spPr>
          <a:xfrm>
            <a:off x="8412480" y="1998980"/>
            <a:ext cx="3467100" cy="7442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实现从「被动响应」到「主动预防」</a:t>
            </a:r>
            <a:endParaRPr lang="zh-CN" altLang="en-US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22"/>
          <p:cNvSpPr txBox="1"/>
          <p:nvPr/>
        </p:nvSpPr>
        <p:spPr>
          <a:xfrm>
            <a:off x="8229600" y="2767965"/>
            <a:ext cx="3605530" cy="1844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EWMA-EAD、MDTCE、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NBF-RS、TPM-PA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9"/>
          <p:cNvSpPr txBox="1"/>
          <p:nvPr/>
        </p:nvSpPr>
        <p:spPr>
          <a:xfrm>
            <a:off x="556260" y="279019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同时覆盖教学、科研、宿舍等校园专属运维场景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10"/>
          <p:cNvSpPr txBox="1"/>
          <p:nvPr/>
        </p:nvSpPr>
        <p:spPr>
          <a:xfrm>
            <a:off x="556260" y="351536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把“看不清、查不到、防不住”转成可观测、可定位、可预警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15"/>
          <p:cNvSpPr txBox="1"/>
          <p:nvPr/>
        </p:nvSpPr>
        <p:spPr>
          <a:xfrm>
            <a:off x="4434840" y="2767965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异常检测、攻击链还原、风险评分、提前预警一体联动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16"/>
          <p:cNvSpPr txBox="1"/>
          <p:nvPr/>
        </p:nvSpPr>
        <p:spPr>
          <a:xfrm>
            <a:off x="4485640" y="349885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兼顾技术硬核度与工程完成度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8688070" y="1045210"/>
            <a:ext cx="2952115" cy="2599055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70950" y="1111885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B68EE"/>
                </a:solidFill>
                <a:latin typeface="微软雅黑" panose="020B0503020204020204" charset="-122"/>
                <a:ea typeface="微软雅黑" panose="020B0503020204020204" charset="-122"/>
              </a:rPr>
              <a:t>可推广场景</a:t>
            </a:r>
            <a:endParaRPr sz="2000" b="1">
              <a:solidFill>
                <a:srgbClr val="7B68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0950" y="1548130"/>
            <a:ext cx="1554480" cy="411480"/>
          </a:xfrm>
          <a:prstGeom prst="roundRect">
            <a:avLst/>
          </a:prstGeom>
          <a:solidFill>
            <a:srgbClr val="1528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16670" y="162128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政务专网</a:t>
            </a:r>
            <a:endParaRPr sz="1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70950" y="2185670"/>
            <a:ext cx="1554480" cy="411480"/>
          </a:xfrm>
          <a:prstGeom prst="roundRect">
            <a:avLst/>
          </a:prstGeom>
          <a:solidFill>
            <a:srgbClr val="152840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16670" y="225882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B68EE"/>
                </a:solidFill>
                <a:latin typeface="微软雅黑" panose="020B0503020204020204" charset="-122"/>
                <a:ea typeface="微软雅黑" panose="020B0503020204020204" charset="-122"/>
              </a:rPr>
              <a:t>企业园区网</a:t>
            </a:r>
            <a:endParaRPr sz="1400" b="1">
              <a:solidFill>
                <a:srgbClr val="7B68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870950" y="2965450"/>
            <a:ext cx="1554480" cy="411480"/>
          </a:xfrm>
          <a:prstGeom prst="roundRect">
            <a:avLst/>
          </a:prstGeom>
          <a:solidFill>
            <a:srgbClr val="15284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16670" y="303860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数据中心</a:t>
            </a:r>
            <a:endParaRPr sz="140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ounded Rectangle 4"/>
          <p:cNvSpPr/>
          <p:nvPr/>
        </p:nvSpPr>
        <p:spPr>
          <a:xfrm>
            <a:off x="457200" y="4348480"/>
            <a:ext cx="3619500" cy="2071370"/>
          </a:xfrm>
          <a:prstGeom prst="roundRect">
            <a:avLst>
              <a:gd name="adj" fmla="val 4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ounded Rectangle 5"/>
          <p:cNvSpPr/>
          <p:nvPr/>
        </p:nvSpPr>
        <p:spPr>
          <a:xfrm>
            <a:off x="457200" y="3996690"/>
            <a:ext cx="3611880" cy="4165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Box 6"/>
          <p:cNvSpPr txBox="1"/>
          <p:nvPr/>
        </p:nvSpPr>
        <p:spPr>
          <a:xfrm>
            <a:off x="579120" y="3996690"/>
            <a:ext cx="3197225" cy="28765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近期落地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9"/>
          <p:cNvSpPr txBox="1"/>
          <p:nvPr/>
        </p:nvSpPr>
        <p:spPr>
          <a:xfrm>
            <a:off x="659178" y="4661535"/>
            <a:ext cx="3017520" cy="3778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在本校网络中心部署试运行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Box 12"/>
          <p:cNvSpPr txBox="1"/>
          <p:nvPr/>
        </p:nvSpPr>
        <p:spPr>
          <a:xfrm>
            <a:off x="741069" y="5208905"/>
            <a:ext cx="3017520" cy="3778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</a:t>
            </a:r>
            <a:r>
              <a:rPr lang="en-US" altLang="zh-CN" b="1">
                <a:solidFill>
                  <a:srgbClr val="FF9C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b="1">
                <a:solidFill>
                  <a:srgbClr val="FF9C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万师生</a:t>
            </a: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并发场景</a:t>
            </a:r>
            <a:endParaRPr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Oval 14"/>
          <p:cNvSpPr/>
          <p:nvPr/>
        </p:nvSpPr>
        <p:spPr>
          <a:xfrm>
            <a:off x="557530" y="5897880"/>
            <a:ext cx="137160" cy="113665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TextBox 15"/>
          <p:cNvSpPr txBox="1"/>
          <p:nvPr/>
        </p:nvSpPr>
        <p:spPr>
          <a:xfrm>
            <a:off x="694690" y="5765800"/>
            <a:ext cx="3017520" cy="3778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形成可量化运行报告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ounded Rectangle 16"/>
          <p:cNvSpPr/>
          <p:nvPr/>
        </p:nvSpPr>
        <p:spPr>
          <a:xfrm>
            <a:off x="4382135" y="4348480"/>
            <a:ext cx="3573145" cy="2071370"/>
          </a:xfrm>
          <a:prstGeom prst="roundRect">
            <a:avLst>
              <a:gd name="adj" fmla="val 4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Box 18"/>
          <p:cNvSpPr txBox="1"/>
          <p:nvPr/>
        </p:nvSpPr>
        <p:spPr>
          <a:xfrm>
            <a:off x="4511040" y="3996690"/>
            <a:ext cx="3197225" cy="28765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能力开放</a:t>
            </a:r>
            <a:endParaRPr lang="zh-CN" altLang="en-US" sz="20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TextBox 21"/>
          <p:cNvSpPr txBox="1"/>
          <p:nvPr/>
        </p:nvSpPr>
        <p:spPr>
          <a:xfrm>
            <a:off x="4626610" y="4661535"/>
            <a:ext cx="3017520" cy="3778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开源核心算法模块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Box 24"/>
          <p:cNvSpPr txBox="1"/>
          <p:nvPr/>
        </p:nvSpPr>
        <p:spPr>
          <a:xfrm>
            <a:off x="4626610" y="5208905"/>
            <a:ext cx="3017520" cy="3778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开放接口供校园平台集成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27"/>
          <p:cNvSpPr txBox="1"/>
          <p:nvPr/>
        </p:nvSpPr>
        <p:spPr>
          <a:xfrm>
            <a:off x="4626610" y="5765800"/>
            <a:ext cx="3017520" cy="3778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沉淀高校安全治理方法论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ounded Rectangle 28"/>
          <p:cNvSpPr/>
          <p:nvPr/>
        </p:nvSpPr>
        <p:spPr>
          <a:xfrm>
            <a:off x="8314055" y="4348480"/>
            <a:ext cx="3527425" cy="2071370"/>
          </a:xfrm>
          <a:prstGeom prst="roundRect">
            <a:avLst>
              <a:gd name="adj" fmla="val 4000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30"/>
          <p:cNvSpPr txBox="1"/>
          <p:nvPr/>
        </p:nvSpPr>
        <p:spPr>
          <a:xfrm>
            <a:off x="8442960" y="3996690"/>
            <a:ext cx="3197225" cy="28765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推广路径</a:t>
            </a:r>
            <a:endParaRPr lang="zh-CN" altLang="en-US" sz="20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Oval 32"/>
          <p:cNvSpPr/>
          <p:nvPr/>
        </p:nvSpPr>
        <p:spPr>
          <a:xfrm>
            <a:off x="8392062" y="4687570"/>
            <a:ext cx="137160" cy="113665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33"/>
          <p:cNvSpPr txBox="1"/>
          <p:nvPr/>
        </p:nvSpPr>
        <p:spPr>
          <a:xfrm>
            <a:off x="8629552" y="4661535"/>
            <a:ext cx="3017520" cy="3778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形成高校网络安全治理可复制模板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Oval 35"/>
          <p:cNvSpPr/>
          <p:nvPr/>
        </p:nvSpPr>
        <p:spPr>
          <a:xfrm>
            <a:off x="8392062" y="5234940"/>
            <a:ext cx="137160" cy="113665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36"/>
          <p:cNvSpPr txBox="1"/>
          <p:nvPr/>
        </p:nvSpPr>
        <p:spPr>
          <a:xfrm>
            <a:off x="8629552" y="5208905"/>
            <a:ext cx="3017520" cy="3778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向多校区与园区网场景推广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Oval 38"/>
          <p:cNvSpPr/>
          <p:nvPr/>
        </p:nvSpPr>
        <p:spPr>
          <a:xfrm>
            <a:off x="8392062" y="5791835"/>
            <a:ext cx="137160" cy="113665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TextBox 39"/>
          <p:cNvSpPr txBox="1"/>
          <p:nvPr/>
        </p:nvSpPr>
        <p:spPr>
          <a:xfrm>
            <a:off x="8629552" y="5765800"/>
            <a:ext cx="3017520" cy="3778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沉淀比赛作品到可用系统</a:t>
            </a:r>
            <a:endParaRPr lang="zh-CN" altLang="en-US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ounded Rectangle 17"/>
          <p:cNvSpPr/>
          <p:nvPr/>
        </p:nvSpPr>
        <p:spPr>
          <a:xfrm>
            <a:off x="4389120" y="3996690"/>
            <a:ext cx="3565525" cy="41656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ounded Rectangle 29"/>
          <p:cNvSpPr/>
          <p:nvPr/>
        </p:nvSpPr>
        <p:spPr>
          <a:xfrm>
            <a:off x="8321040" y="3996690"/>
            <a:ext cx="3519805" cy="4165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18"/>
          <p:cNvSpPr txBox="1"/>
          <p:nvPr/>
        </p:nvSpPr>
        <p:spPr>
          <a:xfrm>
            <a:off x="4575175" y="4004310"/>
            <a:ext cx="3197225" cy="28765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能力开放</a:t>
            </a:r>
            <a:endParaRPr lang="zh-CN" altLang="en-US" sz="20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8507095" y="4004310"/>
            <a:ext cx="3197225" cy="28765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推广路径</a:t>
            </a:r>
            <a:endParaRPr lang="zh-CN" altLang="en-US" sz="20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457200" y="301625"/>
            <a:ext cx="731520" cy="41846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097280" y="301625"/>
            <a:ext cx="43465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创新总结</a:t>
            </a:r>
            <a:r>
              <a:rPr lang="en-US" alt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未来展望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4"/>
          <p:cNvSpPr/>
          <p:nvPr/>
        </p:nvSpPr>
        <p:spPr>
          <a:xfrm>
            <a:off x="1135380" y="822960"/>
            <a:ext cx="4125595" cy="76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13"/>
          <p:cNvSpPr/>
          <p:nvPr/>
        </p:nvSpPr>
        <p:spPr>
          <a:xfrm>
            <a:off x="676910" y="1045210"/>
            <a:ext cx="7636510" cy="2741295"/>
          </a:xfrm>
          <a:prstGeom prst="roundRect">
            <a:avLst>
              <a:gd name="adj" fmla="val 7633"/>
            </a:avLst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2785745" y="1131570"/>
            <a:ext cx="3611880" cy="4165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未来三步走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678170" y="3406140"/>
            <a:ext cx="1615440" cy="21780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13"/>
          <p:cNvSpPr/>
          <p:nvPr/>
        </p:nvSpPr>
        <p:spPr>
          <a:xfrm>
            <a:off x="5678170" y="3465195"/>
            <a:ext cx="979170" cy="302895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Oval 8"/>
          <p:cNvSpPr/>
          <p:nvPr/>
        </p:nvSpPr>
        <p:spPr>
          <a:xfrm>
            <a:off x="548688" y="4814570"/>
            <a:ext cx="137160" cy="113665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Oval 11"/>
          <p:cNvSpPr/>
          <p:nvPr/>
        </p:nvSpPr>
        <p:spPr>
          <a:xfrm>
            <a:off x="561364" y="5348605"/>
            <a:ext cx="137160" cy="113665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Oval 14"/>
          <p:cNvSpPr/>
          <p:nvPr/>
        </p:nvSpPr>
        <p:spPr>
          <a:xfrm>
            <a:off x="4450080" y="5870575"/>
            <a:ext cx="137160" cy="1136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Oval 8"/>
          <p:cNvSpPr/>
          <p:nvPr/>
        </p:nvSpPr>
        <p:spPr>
          <a:xfrm>
            <a:off x="4476750" y="4787265"/>
            <a:ext cx="137160" cy="1136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11"/>
          <p:cNvSpPr/>
          <p:nvPr/>
        </p:nvSpPr>
        <p:spPr>
          <a:xfrm>
            <a:off x="4476750" y="5334635"/>
            <a:ext cx="137160" cy="1136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Timeline Line"/>
          <p:cNvSpPr/>
          <p:nvPr/>
        </p:nvSpPr>
        <p:spPr>
          <a:xfrm>
            <a:off x="1576910" y="1945210"/>
            <a:ext cx="5836510" cy="400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Node1 Circle"/>
          <p:cNvSpPr/>
          <p:nvPr/>
        </p:nvSpPr>
        <p:spPr>
          <a:xfrm>
            <a:off x="1376910" y="1845210"/>
            <a:ext cx="300000" cy="2400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Node1 Year"/>
          <p:cNvSpPr txBox="1"/>
          <p:nvPr/>
        </p:nvSpPr>
        <p:spPr>
          <a:xfrm>
            <a:off x="584200" y="2258695"/>
            <a:ext cx="189547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endParaRPr lang="zh-CN" altLang="en-US" sz="22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Node1 Label"/>
          <p:cNvSpPr txBox="1"/>
          <p:nvPr/>
        </p:nvSpPr>
        <p:spPr>
          <a:xfrm>
            <a:off x="758825" y="2727960"/>
            <a:ext cx="1645285" cy="36893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本校试运行</a:t>
            </a:r>
            <a:endParaRPr lang="zh-CN" altLang="en-US" sz="1600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Node2 Circle"/>
          <p:cNvSpPr/>
          <p:nvPr/>
        </p:nvSpPr>
        <p:spPr>
          <a:xfrm>
            <a:off x="4495165" y="1845210"/>
            <a:ext cx="300000" cy="24000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Node2 Year"/>
          <p:cNvSpPr txBox="1"/>
          <p:nvPr/>
        </p:nvSpPr>
        <p:spPr>
          <a:xfrm>
            <a:off x="3776345" y="2258695"/>
            <a:ext cx="1795145" cy="539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>
                <a:solidFill>
                  <a:srgbClr val="7B68EE"/>
                </a:solidFill>
                <a:latin typeface="微软雅黑" panose="020B0503020204020204" charset="-122"/>
                <a:ea typeface="微软雅黑" panose="020B0503020204020204" charset="-122"/>
              </a:rPr>
              <a:t>2027</a:t>
            </a:r>
            <a:endParaRPr lang="zh-CN" altLang="en-US" sz="2200" b="1">
              <a:solidFill>
                <a:srgbClr val="7B68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Node2 Label"/>
          <p:cNvSpPr txBox="1"/>
          <p:nvPr/>
        </p:nvSpPr>
        <p:spPr>
          <a:xfrm>
            <a:off x="3973905" y="2758620"/>
            <a:ext cx="14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能力开放</a:t>
            </a:r>
            <a:endParaRPr lang="zh-CN" altLang="en-US" sz="1600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Node3 Circle"/>
          <p:cNvSpPr/>
          <p:nvPr/>
        </p:nvSpPr>
        <p:spPr>
          <a:xfrm>
            <a:off x="7213420" y="1845210"/>
            <a:ext cx="300000" cy="2400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Node3 Year"/>
          <p:cNvSpPr txBox="1"/>
          <p:nvPr/>
        </p:nvSpPr>
        <p:spPr>
          <a:xfrm>
            <a:off x="6555105" y="2297430"/>
            <a:ext cx="1571625" cy="299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2028+</a:t>
            </a:r>
            <a:endParaRPr lang="zh-CN" altLang="en-US" sz="220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Node3 Label"/>
          <p:cNvSpPr txBox="1"/>
          <p:nvPr/>
        </p:nvSpPr>
        <p:spPr>
          <a:xfrm>
            <a:off x="6555000" y="2758620"/>
            <a:ext cx="14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E8F0FE"/>
                </a:solidFill>
                <a:latin typeface="微软雅黑" panose="020B0503020204020204" charset="-122"/>
                <a:ea typeface="微软雅黑" panose="020B0503020204020204" charset="-122"/>
              </a:rPr>
              <a:t>场景推广</a:t>
            </a:r>
            <a:endParaRPr lang="zh-CN" altLang="en-US" sz="1600" b="1">
              <a:solidFill>
                <a:srgbClr val="E8F0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Arrow1"/>
          <p:cNvSpPr txBox="1"/>
          <p:nvPr/>
        </p:nvSpPr>
        <p:spPr>
          <a:xfrm>
            <a:off x="2786037" y="1795210"/>
            <a:ext cx="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lang="zh-CN" altLang="en-US" sz="18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Arrow2"/>
          <p:cNvSpPr txBox="1"/>
          <p:nvPr/>
        </p:nvSpPr>
        <p:spPr>
          <a:xfrm>
            <a:off x="5704292" y="1795210"/>
            <a:ext cx="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lang="zh-CN" altLang="en-US" sz="18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772400" y="19050"/>
            <a:ext cx="4419295" cy="6858000"/>
          </a:xfrm>
          <a:prstGeom prst="roundRect">
            <a:avLst>
              <a:gd name="adj" fmla="val 6321"/>
            </a:avLst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Donut 3"/>
          <p:cNvSpPr/>
          <p:nvPr/>
        </p:nvSpPr>
        <p:spPr>
          <a:xfrm>
            <a:off x="8229600" y="1097280"/>
            <a:ext cx="2286000" cy="2286000"/>
          </a:xfrm>
          <a:prstGeom prst="donut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Donut 4"/>
          <p:cNvSpPr/>
          <p:nvPr/>
        </p:nvSpPr>
        <p:spPr>
          <a:xfrm>
            <a:off x="9144000" y="3657600"/>
            <a:ext cx="1645920" cy="1645920"/>
          </a:xfrm>
          <a:prstGeom prst="donut">
            <a:avLst/>
          </a:prstGeom>
          <a:noFill/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330325"/>
            <a:ext cx="8018780" cy="244030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感谢</a:t>
            </a:r>
            <a:r>
              <a:rPr lang="zh-CN" sz="52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各位评委老师</a:t>
            </a:r>
            <a:r>
              <a:rPr sz="52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聆听</a:t>
            </a:r>
            <a:endParaRPr sz="5200" b="1" dirty="0" err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5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欢迎批评</a:t>
            </a:r>
            <a:r>
              <a:rPr lang="zh-CN" sz="5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指正</a:t>
            </a:r>
            <a:endParaRPr lang="zh-CN" sz="5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  <a:endParaRPr sz="2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3474720" cy="4114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4151376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2026年中国大学生计算机设计大赛</a:t>
            </a:r>
            <a:endParaRPr sz="13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 flipV="1">
            <a:off x="731520" y="4747895"/>
            <a:ext cx="3470275" cy="7620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2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3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4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5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6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7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8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9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10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11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12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13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14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15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16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17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18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19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20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21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22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23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24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25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26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27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28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29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30.xml><?xml version="1.0" encoding="utf-8"?>
<p:tagLst xmlns:p="http://schemas.openxmlformats.org/presentationml/2006/main">
  <p:tag name="KSO_WM_DIAGRAM_VIRTUALLY_FRAME" val="{&quot;height&quot;:267.3,&quot;left&quot;:50.4,&quot;top&quot;:149.65,&quot;width&quot;:874.8}"/>
</p:tagLst>
</file>

<file path=ppt/tags/tag31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32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33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34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35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36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37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38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39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40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41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42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43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44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45.xml><?xml version="1.0" encoding="utf-8"?>
<p:tagLst xmlns:p="http://schemas.openxmlformats.org/presentationml/2006/main">
  <p:tag name="KSO_WM_DIAGRAM_VIRTUALLY_FRAME" val="{&quot;height&quot;:158.4,&quot;left&quot;:50.4,&quot;top&quot;:158.4,&quot;width&quot;:806.4}"/>
</p:tagLst>
</file>

<file path=ppt/tags/tag46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47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48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49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50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51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52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53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54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55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56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57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58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59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60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61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62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63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64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65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66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67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68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69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70.xml><?xml version="1.0" encoding="utf-8"?>
<p:tagLst xmlns:p="http://schemas.openxmlformats.org/presentationml/2006/main">
  <p:tag name="KSO_WM_DIAGRAM_VIRTUALLY_FRAME" val="{&quot;height&quot;:368.64,&quot;left&quot;:576,&quot;top&quot;:93.6,&quot;width&quot;:345.6}"/>
</p:tagLst>
</file>

<file path=ppt/tags/tag71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72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73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74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75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76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77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78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79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80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81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82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83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84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85.xml><?xml version="1.0" encoding="utf-8"?>
<p:tagLst xmlns:p="http://schemas.openxmlformats.org/presentationml/2006/main">
  <p:tag name="KSO_WM_DIAGRAM_VIRTUALLY_FRAME" val="{&quot;height&quot;:36,&quot;left&quot;:36,&quot;top&quot;:428.4,&quot;width&quot;:712.0800000000002}"/>
</p:tagLst>
</file>

<file path=ppt/tags/tag86.xml><?xml version="1.0" encoding="utf-8"?>
<p:tagLst xmlns:p="http://schemas.openxmlformats.org/presentationml/2006/main">
  <p:tag name="KSO_WM_DIAGRAM_VIRTUALLY_FRAME" val="{&quot;height&quot;:136.8,&quot;left&quot;:50.4,&quot;top&quot;:118.8,&quot;width&quot;:374.4}"/>
</p:tagLst>
</file>

<file path=ppt/tags/tag87.xml><?xml version="1.0" encoding="utf-8"?>
<p:tagLst xmlns:p="http://schemas.openxmlformats.org/presentationml/2006/main">
  <p:tag name="KSO_WM_DIAGRAM_VIRTUALLY_FRAME" val="{&quot;height&quot;:136.8,&quot;left&quot;:50.4,&quot;top&quot;:118.8,&quot;width&quot;:374.4}"/>
</p:tagLst>
</file>

<file path=ppt/tags/tag88.xml><?xml version="1.0" encoding="utf-8"?>
<p:tagLst xmlns:p="http://schemas.openxmlformats.org/presentationml/2006/main">
  <p:tag name="KSO_WM_DIAGRAM_VIRTUALLY_FRAME" val="{&quot;height&quot;:136.8,&quot;left&quot;:50.4,&quot;top&quot;:118.8,&quot;width&quot;:374.4}"/>
</p:tagLst>
</file>

<file path=ppt/tags/tag89.xml><?xml version="1.0" encoding="utf-8"?>
<p:tagLst xmlns:p="http://schemas.openxmlformats.org/presentationml/2006/main">
  <p:tag name="KSO_WM_DIAGRAM_VIRTUALLY_FRAME" val="{&quot;height&quot;:136.8,&quot;left&quot;:50.4,&quot;top&quot;:118.8,&quot;width&quot;:374.4}"/>
</p:tagLst>
</file>

<file path=ppt/tags/tag90.xml><?xml version="1.0" encoding="utf-8"?>
<p:tagLst xmlns:p="http://schemas.openxmlformats.org/presentationml/2006/main">
  <p:tag name="KSO_WM_DIAGRAM_VIRTUALLY_FRAME" val="{&quot;height&quot;:136.8,&quot;left&quot;:50.4,&quot;top&quot;:118.8,&quot;width&quot;:374.4}"/>
</p:tagLst>
</file>

<file path=ppt/tags/tag91.xml><?xml version="1.0" encoding="utf-8"?>
<p:tagLst xmlns:p="http://schemas.openxmlformats.org/presentationml/2006/main">
  <p:tag name="KSO_WM_DIAGRAM_VIRTUALLY_FRAME" val="{&quot;height&quot;:136.8,&quot;left&quot;:50.4,&quot;top&quot;:118.8,&quot;width&quot;:374.4}"/>
</p:tagLst>
</file>

<file path=ppt/tags/tag92.xml><?xml version="1.0" encoding="utf-8"?>
<p:tagLst xmlns:p="http://schemas.openxmlformats.org/presentationml/2006/main">
  <p:tag name="KSO_WM_DIAGRAM_VIRTUALLY_FRAME" val="{&quot;height&quot;:331.2,&quot;left&quot;:32.4,&quot;top&quot;:72,&quot;width&quot;:921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3547</Words>
  <Application>WPS 演示</Application>
  <PresentationFormat>宽屏</PresentationFormat>
  <Paragraphs>538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dc:description>generated using python-pptx</dc:description>
  <cp:lastModifiedBy>徐永佳</cp:lastModifiedBy>
  <cp:revision>51</cp:revision>
  <dcterms:created xsi:type="dcterms:W3CDTF">2013-01-27T09:14:00Z</dcterms:created>
  <dcterms:modified xsi:type="dcterms:W3CDTF">2026-05-22T14:30:18Z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54E8767905BD4850AC30018B76BDDFF4_13</vt:lpwstr>
  </property>
</Properties>
</file>