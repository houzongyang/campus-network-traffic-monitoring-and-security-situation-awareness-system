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1005840"/>
            <a:ext cx="5029200" cy="5029200"/>
          </a:xfrm>
          <a:prstGeom prst="ellipse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0"/>
            <a:ext cx="3291840" cy="329184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58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中国大学生计算机设计大赛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19202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面向智慧校园的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细粒度网络流量监控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276148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与安全态势感知系统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04672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7E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 · 设计思路 · 创新点详细答辩版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224528"/>
            <a:ext cx="987552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8396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实时态势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011680" y="4224528"/>
            <a:ext cx="987552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428396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细粒度检索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46120" y="4224528"/>
            <a:ext cx="987552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428396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四套算法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480560" y="4224528"/>
            <a:ext cx="987552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28396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公网演示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77240" y="5806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 无敌暴龙战队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5815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FE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http://8.146.228.64:3000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答辩逻辑：先讲清价值，再讲清方案，最后证明创新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Roadmap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1234440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70432" y="1408176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4676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项目简介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788920" y="14356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为什么做、面向谁、解决什么、交付什么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60120" y="2112264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70432" y="228600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34543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设计思路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788920" y="2313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从数据流、架构、检测链路解释方案为什么成立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2990088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70432" y="316382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22326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核心功能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788920" y="319125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实时大屏、安全中心、流检索、IP画像、3D溯源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60120" y="3867912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70432" y="404164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10108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创新点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788920" y="40690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算法、交互、工程部署、演示可复现四类创新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960120" y="4745736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70432" y="4919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97890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现场演示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788920" y="494690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按“发现—研判—下钻—溯源”展示公网系统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项目简介：面向校园网的“流量观测 + 安全研判”平台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Introduction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170432"/>
            <a:ext cx="5394960" cy="4462272"/>
          </a:xfrm>
          <a:prstGeom prst="roundRect">
            <a:avLst>
              <a:gd name="adj" fmla="val 1230"/>
            </a:avLst>
          </a:prstGeom>
          <a:solidFill>
            <a:srgbClr val="F0FDF4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472184"/>
            <a:ext cx="7315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1828800"/>
            <a:ext cx="4800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系统面向高校智慧校园网络，将原本分散在日志、设备、抓包工具中的网络信息，汇聚成可实时观察、可检索取证、可自动告警、可视化溯源的一体化平台。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2816352"/>
            <a:ext cx="7315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7864" y="2788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服务对象与应用价值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51560" y="322326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3163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网络运维人员：快速看到全网流量变化、协议分布、异常峰值。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051560" y="358902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7864" y="3529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安全管理员：自动识别DDoS、端口扫描、数据外传等风险。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51560" y="395478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7864" y="38953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答辩/教学场景：通过公网系统和打流端复现实验攻击链。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051560" y="432054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7864" y="4261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管理部门：形成校园网运行态势与安全事件的可视化依据。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537960" y="1170432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12710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公网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系统可直接演示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98280" y="1170432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89720" y="12710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4模块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8972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监控/告警/检索/画像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37960" y="2395728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143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29400" y="24963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REST+WS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29400" y="2926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接口+实时推送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98280" y="2395728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89720" y="24963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89720" y="2926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流量与告警存储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37960" y="3703320"/>
            <a:ext cx="4709160" cy="192024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 w="1143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12280" y="4005072"/>
            <a:ext cx="73152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812280" y="4370832"/>
            <a:ext cx="41605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一套已公网部署的前后端分离系统：前端大屏负责态势展示与交互检索；后端负责流量解析、聚合计算、威胁检测、告警输出；打流端负责注入PCAP样例支撑现场演示。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6812280" y="5193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演示地址：http://8.146.228.64:3000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项目简介补充：系统边界、输入输出与典型场景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&amp; Scenario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3246120" cy="33375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8992" y="153619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5956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输入是什么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143000" y="211683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9304" y="2057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PCAP样例/模拟流量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1143000" y="261975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560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五元组流记录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1143000" y="312267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9304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源/目的IP、端口、协议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1143000" y="362559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9304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时间窗与区域维度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526280" y="1234440"/>
            <a:ext cx="3246120" cy="33375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153619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5956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处理什么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846320" y="211683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057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流量聚合与趋势计算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846320" y="261975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560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协议分布与Top-K排序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846320" y="312267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规则检测与算法评分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4846320" y="362559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IP画像与风险归因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8229600" y="1234440"/>
            <a:ext cx="3246120" cy="33375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85632" y="153619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15956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输出什么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549640" y="2116836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95944" y="2057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全网态势大屏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8549640" y="2619756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95944" y="2560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安全告警列表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8549640" y="3122676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95944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流级检索结果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549640" y="3625596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95944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单IP溯源证据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1005840" y="5074920"/>
            <a:ext cx="10058400" cy="713232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325880" y="5321808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典型使用场景：考试周/开学季网络突发、宿舍区异常扫描、服务器被集中访问、疑似数据外传、攻击源IP定位与证据导出。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设计思路：围绕“发现—研判—定位—溯源”构建闭环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Philosophy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88720" y="1417320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5819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47672" y="1773936"/>
            <a:ext cx="10515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395728"/>
            <a:ext cx="1691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971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实时指标发现异常峰值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3447288" y="1417320"/>
            <a:ext cx="694944" cy="6949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5819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1773936"/>
            <a:ext cx="10515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44368" y="2395728"/>
            <a:ext cx="1691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81528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2971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规则+算法判断威胁类型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705856" y="1417320"/>
            <a:ext cx="694944" cy="6949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15819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64808" y="1773936"/>
            <a:ext cx="10515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02936" y="2395728"/>
            <a:ext cx="1691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40096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2971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流检索和IP画像定位证据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7964424" y="1417320"/>
            <a:ext cx="694944" cy="6949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64424" y="15819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23376" y="1773936"/>
            <a:ext cx="10515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61504" y="2395728"/>
            <a:ext cx="1691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98664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0376" y="2971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3D态势和关联关系解释路径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10222992" y="1417320"/>
            <a:ext cx="694944" cy="6949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22992" y="15819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720072" y="2395728"/>
            <a:ext cx="1691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857232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38944" y="2971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打流端复现攻击与告警变化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914400" y="4407408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80560" y="4407408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5F3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4407408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70432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不只做展示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3000" y="4983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大屏只是入口，核心是能继续下钻到原始流记录与IP画像。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4736592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不只靠规则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709160" y="4983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规则保证已知威胁召回，算法负责异常模式和风险评分。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8302752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不只做离线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275320" y="4983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公网部署+WebSocket推送+打流复现，保证答辩时可演示。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设计方案：四层架构与职责划分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Architecture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14300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3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15568" y="138988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44932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148840" y="1307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PCAP/模拟流量输入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解析五元组、协议、字节、包数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286000" y="1947672"/>
            <a:ext cx="0" cy="3383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228600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5568" y="253288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59232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148840" y="2450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PostgreSQL持久化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流记录、告警、画像、统计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286000" y="3090672"/>
            <a:ext cx="0" cy="3383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342900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15568" y="367588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73532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分析检测层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148840" y="3593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聚合计算 + 动态基线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规则检测 + 四套算法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286000" y="4233672"/>
            <a:ext cx="0" cy="3383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457200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15568" y="481888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87832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展示交互层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148840" y="4736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ECharts + WebGL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大屏、检索、下钻、导出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0" y="1143000"/>
            <a:ext cx="6629400" cy="192024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1472184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为什么这样分层？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92040" y="190652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8344" y="18470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采集与展示解耦：前端刷新不会影响后端解析和检测。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892040" y="225399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8344" y="21945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分析与检测解耦：流量聚合可复用，规则和算法可独立扩展。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4892040" y="2601468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2542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存储与计算解耦：历史查询、告警回溯、画像统计都能复用同一数据底座。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572000" y="3657600"/>
            <a:ext cx="6629400" cy="1572768"/>
          </a:xfrm>
          <a:prstGeom prst="roundRect">
            <a:avLst>
              <a:gd name="adj" fmla="val 3488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941064"/>
            <a:ext cx="7315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344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方案取舍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5806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没有选择“只做可视化大屏”，因为大屏无法回答根因；也没有选择“只做离线抓包分析”，因为答辩和运维需要实时性。最终采用“实时大屏 + 检索下钻 + 算法检测 + 3D溯源”的组合方案。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设计方案：数据流与业务闭环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PCAP/流量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打流端注入样例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468880" y="2011680"/>
            <a:ext cx="457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53512" y="146304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44952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流记录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90672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解析五元组与协议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36592" y="2011680"/>
            <a:ext cx="457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21224" y="146304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12664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聚合指标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58384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吞吐/PPS/Top-K/协议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004304" y="2011680"/>
            <a:ext cx="457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88936" y="146304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0376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安全告警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26096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规则命中+算法评分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272016" y="2011680"/>
            <a:ext cx="457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56648" y="146304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48088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893808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大屏/检索/IP画像/3D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05840" y="3364992"/>
            <a:ext cx="10058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34440" y="34747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实时链路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2423160" y="347472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秒级指标通过WebSocket推送到Dashboard，适合现场观察系统运行状态。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05840" y="3931920"/>
            <a:ext cx="10058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34440" y="40416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查询链路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423160" y="4041648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用户按IP/CIDR/端口/协议/时间筛选，后端从流记录中返回证据。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05840" y="4498848"/>
            <a:ext cx="10058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34440" y="46085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检测链路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2423160" y="4608576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安全服务定期计算动态基线并触发规则/算法，生成结构化告警。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1005840" y="5065776"/>
            <a:ext cx="10058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34440" y="517550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2423160" y="5175504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从告警IP进入IP详情，查看通信对端、趋势、最近流记录和攻击路径。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设计方案：规则引擎 + 算法引擎双层检测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Strategy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170432"/>
            <a:ext cx="4983480" cy="3977640"/>
          </a:xfrm>
          <a:prstGeom prst="roundRect">
            <a:avLst>
              <a:gd name="adj" fmla="val 1379"/>
            </a:avLst>
          </a:prstGeom>
          <a:solidFill>
            <a:srgbClr val="FEF2F2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490472"/>
            <a:ext cx="7315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463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规则引擎：解决“已知威胁快速识别”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1979676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19202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DDoS：同一目标短时间内出现大量连接/流量。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1097280" y="2363724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3042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端口扫描：同一源IP访问大量端口或目标。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097280" y="2747772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268833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慢速扫描：低频但持续扩散的探测行为。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097280" y="3131820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30723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蠕虫传播：多个目标间出现扩散式连接。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1097280" y="3515868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34564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钓鱼/数据外传：异常目的、异常流量方向或持续外联。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263640" y="1170432"/>
            <a:ext cx="4983480" cy="3977640"/>
          </a:xfrm>
          <a:prstGeom prst="roundRect">
            <a:avLst>
              <a:gd name="adj" fmla="val 1379"/>
            </a:avLst>
          </a:prstGeom>
          <a:solidFill>
            <a:srgbClr val="F5F3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490472"/>
            <a:ext cx="731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1463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算法引擎：解决“未知模式与误报控制”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197967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19202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EWMA-EAD：流量偏离 + Shannon熵，区分正常突发与攻击。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37960" y="2363724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23042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NBF-RS：七维行为指纹，将IP行为转成可排序风险分。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537960" y="2747772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268833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MDTCE：把同源IP多阶段攻击事件关联成攻击链。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537960" y="3131820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4264" y="30723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TPM-PA：基于趋势残差与跨信号相关做提前预警。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537960" y="3515868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34564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最终告警：规则命中、算法评分、时间窗口去重后统一输出。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920240" y="555955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48840" y="570585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双层检测优势：规则保证可解释、算法提升泛化能力，二者结合降低“只靠阈值”的误报与漏报。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创新点总览：从算法到系统体验的四类创新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Overview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8992" y="1581912"/>
            <a:ext cx="1170432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6413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算法创新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97280" y="20756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四套算法覆盖异常检测、行为评分、威胁关联、趋势预警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11112" y="1581912"/>
            <a:ext cx="1170432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6413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交互创新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6629400" y="20756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全景态势到流记录再到单IP画像，形成6级下钻链路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2960" y="3291840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8992" y="3547872"/>
            <a:ext cx="1170432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60730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可视化创新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097280" y="404164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3D地球攻击路径、WebGL渲染、攻击来源与目标直观呈现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355080" y="3291840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3547872"/>
            <a:ext cx="1170432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360730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工程创新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629400" y="404164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公网部署 + 打流端复现 + WebSocket实时推送，答辩可现场验证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097280" y="5532120"/>
            <a:ext cx="9875520" cy="475488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17320" y="5696712"/>
            <a:ext cx="9235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答辩表达重点：创新点不是“页面好看”，而是把检测算法、下钻证据、实时展示和可复现实验串成完整闭环。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创新点一：EWMA-EAD 指数加权熵异常检测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Detail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14300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472184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解决的问题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校园网存在考试、活动、上课切换等正常突发流量。如果只用固定阈值，正常突发容易被误判为攻击；如果阈值设得过高，又容易漏掉慢速异常。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1097280" y="2697480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2670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309524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30358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EWMA对流量序列做平滑，建立随时间变化的动态基线。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097280" y="346100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4015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Shannon熵衡量协议/端口分布是否集中，识别攻击流量单一性。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97280" y="382676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37673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流量偏离、熵偏离、突发度共同形成异常评分。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400800" y="1143000"/>
            <a:ext cx="4846320" cy="4297680"/>
          </a:xfrm>
          <a:prstGeom prst="roundRect">
            <a:avLst>
              <a:gd name="adj" fmla="val 1277"/>
            </a:avLst>
          </a:prstGeom>
          <a:solidFill>
            <a:srgbClr val="F0FDFA"/>
          </a:solidFill>
          <a:ln w="1143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472184"/>
            <a:ext cx="73152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答辩可讲公式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12280" y="1965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Sₜ = αXₜ + (1-α)Sₜ₋₁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2606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-Σ pᵢ log₂(pᵢ)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33101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AnomalyScore = α·VolumeDeviation + β·EntropyDeviation + γ·Burstiness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693408" y="4187952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创新价值：不仅判断“流量是否大”，还判断“流量结构是否异常”，更适合校园网这种高波动场景。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创新点二：NBF-RS 七维行为指纹风险评分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Detail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143000"/>
            <a:ext cx="5074920" cy="4480560"/>
          </a:xfrm>
          <a:prstGeom prst="roundRect">
            <a:avLst>
              <a:gd name="adj" fmla="val 1224"/>
            </a:avLst>
          </a:prstGeom>
          <a:solidFill>
            <a:srgbClr val="ECFDF5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472184"/>
            <a:ext cx="7315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为什么要做行为指纹？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4526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同样是大流量，不同IP的含义不同：服务器对外服务可能正常，学生终端突然访问大量端口则更可疑。因此系统不只看单次流量，而是给每个IP建立行为画像。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97280" y="2752344"/>
            <a:ext cx="7315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2724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七维特征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3122676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协议熵：协议分布是否异常集中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1097280" y="3415284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3558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对端多样性：连接目标是否突然增多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1097280" y="370789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3648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流量非对称：上/下行是否异常失衡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1097280" y="400050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3584" y="39410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端口离散度：访问端口是否过度分散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1097280" y="4293108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3584" y="4233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时序集中度：连接是否集中爆发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1097280" y="4585716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43584" y="4526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连接强度：单位时间连接频率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1097280" y="4878324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48188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包大小偏差：与历史包长分布差异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6309360" y="1143000"/>
            <a:ext cx="4892040" cy="4480560"/>
          </a:xfrm>
          <a:prstGeom prst="roundRect">
            <a:avLst>
              <a:gd name="adj" fmla="val 1224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1472184"/>
            <a:ext cx="7315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评分方式与价值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20840" y="199339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RiskScore = Σ wᵢ · normalize(Fᵢ)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629400" y="2820924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27614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把复杂行为转成0-100风险分，便于排序和展示。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629400" y="3214116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3154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支持从安全告警跳转到单IP画像，解释为什么这个IP可疑。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629400" y="3607308"/>
            <a:ext cx="77724" cy="777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5704" y="35478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适合校园网内网终端：数量多、角色复杂、行为差异明显。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629400" y="4343400"/>
            <a:ext cx="4160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答辩时可以这样说：我们不是简单地把IP列出来，而是把IP当作对象，构建可解释、可比较、可下钻的风险画像。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创新点三：威胁关联与趋势预警让系统具备前瞻性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Detail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170432"/>
            <a:ext cx="4983480" cy="4434840"/>
          </a:xfrm>
          <a:prstGeom prst="roundRect">
            <a:avLst>
              <a:gd name="adj" fmla="val 1237"/>
            </a:avLst>
          </a:prstGeom>
          <a:solidFill>
            <a:srgbClr val="F5F3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508760"/>
            <a:ext cx="731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MDTCE 多维威胁关联引擎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4389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单个事件可能只是噪声，但同一源IP在时间窗口内先扫描、再爆破、再横向连接，就更像完整攻击链。MDTCE把时间、IP、攻击阶段、地理来源等维度关联起来。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89407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把离散告警组织为攻击阶段。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97280" y="325983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3200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同源IP多阶段事件触发高威胁关联。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097280" y="362559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566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输出比单条规则更有解释力的攻击链。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63640" y="1170432"/>
            <a:ext cx="4983480" cy="4434840"/>
          </a:xfrm>
          <a:prstGeom prst="roundRect">
            <a:avLst>
              <a:gd name="adj" fmla="val 1237"/>
            </a:avLst>
          </a:prstGeom>
          <a:solidFill>
            <a:srgbClr val="FEF2F2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1508760"/>
            <a:ext cx="7315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TPM-PA 时间模式预测预警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1874520"/>
            <a:ext cx="4389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安全系统不能只做事后发现。TPM-PA对字节数、包数、告警数、活跃IP等多信号做趋势分析和残差判断，在异常扩散前给出预警。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894076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趋势分解：识别持续上升或异常残差。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537960" y="3259836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3200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跨信号相关：多个指标同时异常时放大风险。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37960" y="3625596"/>
            <a:ext cx="77724" cy="777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3566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预防性告警：从“事后记录”变成“提前提醒”。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2011680" y="5779008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40280" y="5907024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这两项创新增强的是系统的“研判能力”：不仅看到异常，还能解释关联关系，并预测风险走势。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创新点四：宏观态势与微观证据联动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Innovation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783080" y="173736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58568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355848" y="173736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04488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楼宇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928616" y="173736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04104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交换机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01384" y="173736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76872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50024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074152" y="173736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49640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22792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46920" y="173736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22408" y="1417320"/>
            <a:ext cx="1078992" cy="640080"/>
          </a:xfrm>
          <a:prstGeom prst="roundRect">
            <a:avLst>
              <a:gd name="adj" fmla="val 8571"/>
            </a:avLst>
          </a:prstGeom>
          <a:solidFill>
            <a:srgbClr val="FEF2F2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95560" y="162763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流记录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68680" y="2743200"/>
            <a:ext cx="3291840" cy="2148840"/>
          </a:xfrm>
          <a:prstGeom prst="roundRect">
            <a:avLst>
              <a:gd name="adj" fmla="val 2553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43000" y="3063240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9304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类Wireshark检索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143000" y="3515868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9304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支持源/目的IP、CIDR、端口范围、协议、时间窗组合筛选。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143000" y="389991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9304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分页展示完整五元组，支持CSV导出，便于取证。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4434840" y="2743200"/>
            <a:ext cx="3291840" cy="2148840"/>
          </a:xfrm>
          <a:prstGeom prst="roundRect">
            <a:avLst>
              <a:gd name="adj" fmla="val 2553"/>
            </a:avLst>
          </a:prstGeom>
          <a:solidFill>
            <a:srgbClr val="ECFDF5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063240"/>
            <a:ext cx="7315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单IP画像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09160" y="3515868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展示通信对端、趋势曲线、协议分布和最近流记录。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4709160" y="3899916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从告警直接进入证据页面，缩短排查链路。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8001000" y="2743200"/>
            <a:ext cx="3291840" cy="2148840"/>
          </a:xfrm>
          <a:prstGeom prst="roundRect">
            <a:avLst>
              <a:gd name="adj" fmla="val 2553"/>
            </a:avLst>
          </a:prstGeom>
          <a:solidFill>
            <a:srgbClr val="F5F3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75320" y="3063240"/>
            <a:ext cx="731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1624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3D攻击溯源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275320" y="3515868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21624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WebGL地球展示攻击来源、目标和路径。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8275320" y="3899916"/>
            <a:ext cx="77724" cy="777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1624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把抽象告警转化为评委可理解的态势图。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1508760" y="5532120"/>
            <a:ext cx="9144000" cy="438912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737360" y="567842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交互创新价值：不是看完图就结束，而是每个图表都能继续追问“哪个IP、哪些流、为什么可疑”。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创新点五：可公网演示、可复现、可持续运行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Innovation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261872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51790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57734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异构双机部署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97280" y="2011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Windows主站承载前后端服务，Linux打流端负责PCAP样例注入，模拟真实流量进入系统。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151790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57734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WebSocket实时推送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核心指标和安全态势可秒级更新，答辩现场能观察变化，而不是播放静态截图。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22960" y="3236976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349300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55244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演示数据自维护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097280" y="398678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通过样例流量和时间基准机制，解决历史PCAP在“最近一小时”窗口不可见的问题。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09360" y="3236976"/>
            <a:ext cx="4892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349300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55244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开源技术栈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583680" y="398678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React、Spring Boot、PostgreSQL、ECharts、Docker等成熟组件组合，降低部署和推广成本。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1097280" y="5532120"/>
            <a:ext cx="9875520" cy="475488"/>
          </a:xfrm>
          <a:prstGeom prst="roundRect">
            <a:avLst>
              <a:gd name="adj" fmla="val 11538"/>
            </a:avLst>
          </a:prstGeom>
          <a:solidFill>
            <a:srgbClr val="ECFDF5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17320" y="5696712"/>
            <a:ext cx="9235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工程创新价值：评委看到的不是“PPT方案”，而是一套能访问、能运行、能注入流量、能产生告警的系统。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现场演示方案：按闭环讲，不按页面堆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0" y="6583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Plan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078992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280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33959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打开全景大屏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834640" y="1289304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讲系统已经公网部署，展示吞吐量、PPS、协议分布、Top流、区域热力。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14400" y="2011680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21284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27228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触发/观察异常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834640" y="222199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通过打流端注入样例或观察已有数据，说明威胁检测会生成告警。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914400" y="2944368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43000" y="314553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20497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进入安全中心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834640" y="3154680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展示告警类型、风险等级、时间、源/目的IP，说明规则与算法双层检测。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14400" y="3877056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43000" y="4078224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13766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下钻流量证据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834640" y="4087368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用源IP或CIDR进入微观流检索，展示五元组、协议、端口、时间窗筛选。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914400" y="4809744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43000" y="501091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0703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回到IP画像/3D溯源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834640" y="502005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展示单IP通信对端与3D攻击路径，完成发现—研判—定位—溯源闭环。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1508760" y="5870448"/>
            <a:ext cx="914400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143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737360" y="5998464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建议讲法：每一步都回答一个问题——现在看到了什么？为什么异常？证据在哪里？系统如何帮助处置？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59436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64240" y="6547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188720"/>
            <a:ext cx="4937760" cy="4937760"/>
          </a:xfrm>
          <a:prstGeom prst="ellipse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234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202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84708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项目简介：面向智慧校园网络运维与安全管理，交付一套可访问、可运行、可演示的平台。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254203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4688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设计思路：以“发现—研判—定位—溯源”为主线，四层架构支撑实时监控与深度下钻。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32688" y="316382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09067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创新点：四套算法、六级下钻、3D溯源、异构公网部署共同构成可解释的安全态势闭环。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378561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71246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未来方向：接入真实镜像流量、引入更强模型训练、与处置系统联动形成自动化响应。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感谢各位老师批评指正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6112" y="589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 无敌暴龙战队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苏州大学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subject>计算机设计大赛答辩详细版</dc:subject>
  <dc:creator>苏州大学 无敌暴龙战队</dc:creator>
  <cp:lastModifiedBy>苏州大学 无敌暴龙战队</cp:lastModifiedBy>
  <cp:revision>1</cp:revision>
  <dcterms:created xsi:type="dcterms:W3CDTF">2026-05-13T01:52:10Z</dcterms:created>
  <dcterms:modified xsi:type="dcterms:W3CDTF">2026-05-13T01:52:10Z</dcterms:modified>
</cp:coreProperties>
</file>