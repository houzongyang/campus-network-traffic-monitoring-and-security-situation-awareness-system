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457200"/>
            <a:ext cx="2743200" cy="2743200"/>
          </a:xfrm>
          <a:prstGeom prst="ellipse">
            <a:avLst/>
          </a:prstGeom>
          <a:solidFill>
            <a:srgbClr val="4ECDC4">
              <a:alpha val="1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1A3A5C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54864" cy="25603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</a:rPr>
              <a:t>赛题编号：A19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554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面向智慧校园的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31520" y="21031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D4AA"/>
                </a:solidFill>
              </a:rPr>
              <a:t>细粒度网络流量监控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731520" y="2651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与安全态势感知系统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731520" y="3383280"/>
            <a:ext cx="3657600" cy="18288"/>
          </a:xfrm>
          <a:prstGeom prst="rect">
            <a:avLst/>
          </a:prstGeom>
          <a:solidFill>
            <a:srgbClr val="00D4AA">
              <a:alpha val="5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657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C5D0"/>
                </a:solidFill>
              </a:rPr>
              <a:t>参赛队伍：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无敌暴龙战队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4023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5D0"/>
                </a:solidFill>
              </a:rPr>
              <a:t>参赛编号：</a:t>
            </a:r>
            <a:pPr indent="0" marL="0">
              <a:buNone/>
            </a:pPr>
            <a:r>
              <a:rPr lang="en-US" sz="1400" dirty="0">
                <a:solidFill>
                  <a:srgbClr val="4ECDC4"/>
                </a:solidFill>
              </a:rPr>
              <a:t>T2601487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4389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5D0"/>
                </a:solidFill>
              </a:rPr>
              <a:t>命题单位：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苏州大学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0" y="4389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B8C5D0"/>
                </a:solidFill>
              </a:rPr>
              <a:t>项目简介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par>
              <p:cTn id="2" dur="500000" fill="hold" nodeType="clickEffect">
                <p:stCondLst>
                  <p:cond delay="indefinite">
                    <p:tn val="1"/>
                  </p:cond>
                </p:stCondLst>
                <p:anim presetClass="entr" presetSubtype="0" fill="hold">
                  <p:cBhvr addToSldr="1">
                    <p:stSel val="sBegin"/>
                    <p:endSel val="sEnd"/>
                    <p:tgtEl>
                      <p:spTgt spid="2"/>
                    </p:tgtEl>
                  </p:cBhvr>
                  <p:attList>
                    <p:attr name="style.opacity" fmla="val 0" to="100%"/>
                  </p:attList>
                </p:anim>
              </p:cTn>
            </p:par>
            <p:par>
              <p:cTn id="3" dur="500000" fill="hold" nodeType="clickEffect">
                <p:stCondLst>
                  <p:cond delay="200000">
                    <p:tn val="2"/>
                  </p:cond>
                </p:stCondLst>
                <p:anim presetClass="entr" presetSubtype="0" fill="hold">
                  <p:cBhvr addToSldr="1">
                    <p:stSel val="sBegin"/>
                    <p:endSel val="sEnd"/>
                    <p:tgtEl>
                      <p:spTgt spid="3"/>
                    </p:tgtEl>
                  </p:cBhvr>
                  <p:attList>
                    <p:attr name="style.opacity" fmla="val 0" to="100%"/>
                  </p:attList>
                </p:anim>
              </p:cTn>
            </p:par>
            <p:par>
              <p:cTn id="4" dur="500000" fill="hold" nodeType="clickEffect">
                <p:stCondLst>
                  <p:cond delay="300000">
                    <p:tn val="3"/>
                  </p:cond>
                </p:stCondLst>
                <p:anim presetClass="entr" presetSubtype="0" fill="hold">
                  <p:cBhvr addToSldr="1">
                    <p:stSel val="sBegin"/>
                    <p:endSel val="sEnd"/>
                    <p:tgtEl>
                      <p:spTgt spid="4"/>
                    </p:tgtEl>
                  </p:cBhvr>
                  <p:attList>
                    <p:attr name="style.opacity" fmla="val 0" to="100%"/>
                  </p:attList>
                </p:anim>
              </p:cTn>
            </p:par>
            <p:par>
              <p:cTn id="5" dur="500000" fill="hold" nodeType="clickEffect">
                <p:stCondLst>
                  <p:cond delay="400000">
                    <p:tn val="4"/>
                  </p:cond>
                </p:stCondLst>
                <p:anim presetClass="entr" presetSubtype="1" fill="hold">
                  <p:cBhvr addToSldr="1">
                    <p:stSel val="sBegin"/>
                    <p:endSel val="sEnd"/>
                    <p:tgtEl>
                      <p:spTgt spid="5"/>
                    </p:tgtEl>
                  </p:cBhvr>
                  <p:attList/>
                </p:anim>
              </p:cTn>
            </p:par>
            <p:par>
              <p:cTn id="6" dur="500000" fill="hold" nodeType="clickEffect">
                <p:stCondLst>
                  <p:cond delay="600000">
                    <p:tn val="5"/>
                  </p:cond>
                </p:stCondLst>
                <p:anim presetClass="entr" presetSubtype="0" fill="hold">
                  <p:cBhvr addToSldr="1">
                    <p:stSel val="sBegin"/>
                    <p:endSel val="sEnd"/>
                    <p:tgtEl>
                      <p:spTgt spid="6"/>
                    </p:tgtEl>
                  </p:cBhvr>
                  <p:attList>
                    <p:attr name="style.opacity" fmla="val 0" to="100%"/>
                  </p:attList>
                </p:anim>
              </p:cTn>
            </p:par>
            <p:par>
              <p:cTn id="7" dur="500000" fill="hold" nodeType="clickEffect">
                <p:stCondLst>
                  <p:cond delay="800000">
                    <p:tn val="6"/>
                  </p:cond>
                </p:stCondLst>
                <p:anim presetClass="entr" presetSubtype="0" fill="hold">
                  <p:cBhvr addToSldr="1">
                    <p:stSel val="sBegin"/>
                    <p:endSel val="sEnd"/>
                    <p:tgtEl>
                      <p:spTgt spid="7"/>
                    </p:tgtEl>
                  </p:cBhvr>
                  <p:attList>
                    <p:attr name="style.opacity" fmla="val 0" to="100%"/>
                  </p:attList>
                </p:anim>
              </p:cTn>
            </p:par>
            <p:par>
              <p:cTn id="8" dur="500000" fill="hold" nodeType="clickEffect">
                <p:stCondLst>
                  <p:cond delay="1000000">
                    <p:tn val="7"/>
                  </p:cond>
                </p:stCondLst>
                <p:anim presetClass="entr" presetSubtype="0" fill="hold">
                  <p:cBhvr addToSldr="1">
                    <p:stSel val="sBegin"/>
                    <p:endSel val="sEnd"/>
                    <p:tgtEl>
                      <p:spTgt spid="8"/>
                    </p:tgtEl>
                  </p:cBhvr>
                  <p:attList>
                    <p:attr name="style.opacity" fmla="val 0" to="100%"/>
                  </p:attList>
                </p:anim>
              </p:cTn>
            </p:par>
            <p:par>
              <p:cTn id="9" dur="500000" fill="hold" nodeType="clickEffect">
                <p:stCondLst>
                  <p:cond delay="1200000">
                    <p:tn val="8"/>
                  </p:cond>
                </p:stCondLst>
                <p:anim presetClass="entr" presetSubtype="0" fill="hold">
                  <p:cBhvr addToSldr="1">
                    <p:stSel val="sBegin"/>
                    <p:endSel val="sEnd"/>
                    <p:tgtEl>
                      <p:spTgt spid="9"/>
                    </p:tgtEl>
                  </p:cBhvr>
                  <p:attList>
                    <p:attr name="style.opacity" fmla="val 0" to="100%"/>
                  </p:attList>
                </p:anim>
              </p:cTn>
            </p:par>
            <p:par>
              <p:cTn id="10" dur="500000" fill="hold" nodeType="clickEffect">
                <p:stCondLst>
                  <p:cond delay="1500000">
                    <p:tn val="9"/>
                  </p:cond>
                </p:stCondLst>
                <p:anim presetClass="entr" presetSubtype="2" fill="hold">
                  <p:cBhvr addToSldr="1">
                    <p:stSel val="sBegin"/>
                    <p:endSel val="sEnd"/>
                    <p:tgtEl>
                      <p:spTgt spid="10"/>
                    </p:tgtEl>
                  </p:cBhvr>
                  <p:attList/>
                </p:anim>
              </p:cTn>
            </p:par>
            <p:par>
              <p:cTn id="11" dur="500000" fill="hold" nodeType="clickEffect">
                <p:stCondLst>
                  <p:cond delay="1600000">
                    <p:tn val="10"/>
                  </p:cond>
                </p:stCondLst>
                <p:anim presetClass="entr" presetSubtype="0" fill="hold">
                  <p:cBhvr addToSldr="1">
                    <p:stSel val="sBegin"/>
                    <p:endSel val="sEnd"/>
                    <p:tgtEl>
                      <p:spTgt spid="11"/>
                    </p:tgtEl>
                  </p:cBhvr>
                  <p:attList>
                    <p:attr name="style.opacity" fmla="val 0" to="100%"/>
                  </p:attList>
                </p:anim>
              </p:cTn>
            </p:par>
            <p:par>
              <p:cTn id="12" dur="500000" fill="hold" nodeType="clickEffect">
                <p:stCondLst>
                  <p:cond delay="1700000">
                    <p:tn val="11"/>
                  </p:cond>
                </p:stCondLst>
                <p:anim presetClass="entr" presetSubtype="0" fill="hold">
                  <p:cBhvr addToSldr="1">
                    <p:stSel val="sBegin"/>
                    <p:endSel val="sEnd"/>
                    <p:tgtEl>
                      <p:spTgt spid="12"/>
                    </p:tgtEl>
                  </p:cBhvr>
                  <p:attList>
                    <p:attr name="style.opacity" fmla="val 0" to="100%"/>
                  </p:attList>
                </p:anim>
              </p:cTn>
            </p:par>
            <p:par>
              <p:cTn id="13" dur="500000" fill="hold" nodeType="clickEffect">
                <p:stCondLst>
                  <p:cond delay="1800000">
                    <p:tn val="12"/>
                  </p:cond>
                </p:stCondLst>
                <p:anim presetClass="entr" presetSubtype="0" fill="hold">
                  <p:cBhvr addToSldr="1">
                    <p:stSel val="sBegin"/>
                    <p:endSel val="sEnd"/>
                    <p:tgtEl>
                      <p:spTgt spid="13"/>
                    </p:tgtEl>
                  </p:cBhvr>
                  <p:attList>
                    <p:attr name="style.opacity" fmla="val 0" to="100%"/>
                  </p:attList>
                </p:anim>
              </p:cTn>
            </p:par>
            <p:par>
              <p:cTn id="14" dur="500000" fill="hold" nodeType="clickEffect">
                <p:stCondLst>
                  <p:cond delay="1900000">
                    <p:tn val="13"/>
                  </p:cond>
                </p:stCondLst>
                <p:anim presetClass="entr" presetSubtype="0" fill="hold">
                  <p:cBhvr addToSldr="1">
                    <p:stSel val="sBegin"/>
                    <p:endSel val="sEnd"/>
                    <p:tgtEl>
                      <p:spTgt spid="14"/>
                    </p:tgtEl>
                  </p:cBhvr>
                  <p:attList>
                    <p:attr name="style.opacity" fmla="val 0" to="100%"/>
                  </p:attList>
                </p:anim>
              </p:cTn>
            </p:par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36576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目录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5D0"/>
                </a:solidFill>
              </a:rPr>
              <a:t>CONTENTS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AA"/>
                </a:solidFill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88720" y="1554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背景与问题分析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188720" y="1965960"/>
            <a:ext cx="2743200" cy="9144"/>
          </a:xfrm>
          <a:prstGeom prst="rect">
            <a:avLst/>
          </a:prstGeom>
          <a:solidFill>
            <a:srgbClr val="B8C5D0">
              <a:alpha val="3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2860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AA"/>
                </a:solidFill>
              </a:rPr>
              <a:t>02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188720" y="2377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解决方案概览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188720" y="2788920"/>
            <a:ext cx="2743200" cy="9144"/>
          </a:xfrm>
          <a:prstGeom prst="rect">
            <a:avLst/>
          </a:prstGeom>
          <a:solidFill>
            <a:srgbClr val="B8C5D0">
              <a:alpha val="3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1089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AA"/>
                </a:solidFill>
              </a:rPr>
              <a:t>03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188720" y="3200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系统架构设计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188720" y="3611880"/>
            <a:ext cx="2743200" cy="9144"/>
          </a:xfrm>
          <a:prstGeom prst="rect">
            <a:avLst/>
          </a:prstGeom>
          <a:solidFill>
            <a:srgbClr val="B8C5D0">
              <a:alpha val="3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9319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AA"/>
                </a:solidFill>
              </a:rPr>
              <a:t>04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188720" y="4023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核心功能模块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188720" y="4434840"/>
            <a:ext cx="2743200" cy="9144"/>
          </a:xfrm>
          <a:prstGeom prst="rect">
            <a:avLst/>
          </a:prstGeom>
          <a:solidFill>
            <a:srgbClr val="B8C5D0">
              <a:alpha val="3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14630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AA"/>
                </a:solidFill>
              </a:rPr>
              <a:t>05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577840" y="1554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核心算法设计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577840" y="1965960"/>
            <a:ext cx="2743200" cy="9144"/>
          </a:xfrm>
          <a:prstGeom prst="rect">
            <a:avLst/>
          </a:prstGeom>
          <a:solidFill>
            <a:srgbClr val="B8C5D0">
              <a:alpha val="3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22860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AA"/>
                </a:solidFill>
              </a:rPr>
              <a:t>06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577840" y="2377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技术路线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577840" y="2788920"/>
            <a:ext cx="2743200" cy="9144"/>
          </a:xfrm>
          <a:prstGeom prst="rect">
            <a:avLst/>
          </a:prstGeom>
          <a:solidFill>
            <a:srgbClr val="B8C5D0">
              <a:alpha val="3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31089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AA"/>
                </a:solidFill>
              </a:rPr>
              <a:t>07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5577840" y="3200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业务模式与可行性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5577840" y="3611880"/>
            <a:ext cx="2743200" cy="9144"/>
          </a:xfrm>
          <a:prstGeom prst="rect">
            <a:avLst/>
          </a:prstGeom>
          <a:solidFill>
            <a:srgbClr val="B8C5D0">
              <a:alpha val="3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39319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AA"/>
                </a:solidFill>
              </a:rPr>
              <a:t>08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5577840" y="4023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团队介绍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5577840" y="4434840"/>
            <a:ext cx="2743200" cy="9144"/>
          </a:xfrm>
          <a:prstGeom prst="rect">
            <a:avLst/>
          </a:prstGeom>
          <a:solidFill>
            <a:srgbClr val="B8C5D0">
              <a:alpha val="3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0" y="4937760"/>
            <a:ext cx="9144000" cy="18288"/>
          </a:xfrm>
          <a:prstGeom prst="rect">
            <a:avLst/>
          </a:prstGeom>
          <a:solidFill>
            <a:srgbClr val="00D4AA">
              <a:alpha val="5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0" y="498348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5D0"/>
                </a:solidFill>
              </a:rPr>
              <a:t>2 / 18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74320" y="49834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8C5D0"/>
                </a:solidFill>
              </a:rPr>
              <a:t>无敌暴龙战队 | 苏州大学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par>
              <p:cTn id="2" dur="500000" fill="hold" nodeType="clickEffect">
                <p:stCondLst>
                  <p:cond delay="indefinite">
                    <p:tn val="1"/>
                  </p:cond>
                </p:stCondLst>
                <p:anim presetClass="entr" presetSubtype="0" fill="hold">
                  <p:cBhvr addToSldr="1">
                    <p:stSel val="sBegin"/>
                    <p:endSel val="sEnd"/>
                    <p:tgtEl>
                      <p:spTgt spid="2"/>
                    </p:tgtEl>
                  </p:cBhvr>
                  <p:attList>
                    <p:attr name="style.opacity" fmla="val 0" to="100%"/>
                  </p:attList>
                </p:anim>
              </p:cTn>
            </p:par>
            <p:par>
              <p:cTn id="3" dur="500000" fill="hold" nodeType="clickEffect">
                <p:stCondLst>
                  <p:cond delay="300000">
                    <p:tn val="2"/>
                  </p:cond>
                </p:stCondLst>
                <p:anim presetClass="entr" presetSubtype="4" fill="hold">
                  <p:cBhvr addToSldr="1">
                    <p:stSel val="sBegin"/>
                    <p:endSel val="sEnd"/>
                    <p:tgtEl>
                      <p:spTgt spid="3"/>
                    </p:tgtEl>
                  </p:cBhvr>
                  <p:attList/>
                </p:anim>
              </p:cTn>
            </p:par>
            <p:par>
              <p:cTn id="4" dur="500000" fill="hold" nodeType="clickEffect">
                <p:stCondLst>
                  <p:cond delay="500000">
                    <p:tn val="3"/>
                  </p:cond>
                </p:stCondLst>
                <p:anim presetClass="entr" presetSubtype="4" fill="hold">
                  <p:cBhvr addToSldr="1">
                    <p:stSel val="sBegin"/>
                    <p:endSel val="sEnd"/>
                    <p:tgtEl>
                      <p:spTgt spid="4"/>
                    </p:tgtEl>
                  </p:cBhvr>
                  <p:attList/>
                </p:anim>
              </p:cTn>
            </p:par>
            <p:par>
              <p:cTn id="5" dur="500000" fill="hold" nodeType="clickEffect">
                <p:stCondLst>
                  <p:cond delay="700000">
                    <p:tn val="4"/>
                  </p:cond>
                </p:stCondLst>
                <p:anim presetClass="entr" presetSubtype="4" fill="hold">
                  <p:cBhvr addToSldr="1">
                    <p:stSel val="sBegin"/>
                    <p:endSel val="sEnd"/>
                    <p:tgtEl>
                      <p:spTgt spid="5"/>
                    </p:tgtEl>
                  </p:cBhvr>
                  <p:attList/>
                </p:anim>
              </p:cTn>
            </p:par>
            <p:par>
              <p:cTn id="6" dur="500000" fill="hold" nodeType="clickEffect">
                <p:stCondLst>
                  <p:cond delay="900000">
                    <p:tn val="5"/>
                  </p:cond>
                </p:stCondLst>
                <p:anim presetClass="entr" presetSubtype="4" fill="hold">
                  <p:cBhvr addToSldr="1">
                    <p:stSel val="sBegin"/>
                    <p:endSel val="sEnd"/>
                    <p:tgtEl>
                      <p:spTgt spid="6"/>
                    </p:tgtEl>
                  </p:cBhvr>
                  <p:attList/>
                </p:anim>
              </p:cTn>
            </p:par>
            <p:par>
              <p:cTn id="7" dur="500000" fill="hold" nodeType="clickEffect">
                <p:stCondLst>
                  <p:cond delay="1100000">
                    <p:tn val="6"/>
                  </p:cond>
                </p:stCondLst>
                <p:anim presetClass="entr" presetSubtype="4" fill="hold">
                  <p:cBhvr addToSldr="1">
                    <p:stSel val="sBegin"/>
                    <p:endSel val="sEnd"/>
                    <p:tgtEl>
                      <p:spTgt spid="7"/>
                    </p:tgtEl>
                  </p:cBhvr>
                  <p:attList/>
                </p:anim>
              </p:cTn>
            </p:par>
            <p:par>
              <p:cTn id="8" dur="500000" fill="hold" nodeType="clickEffect">
                <p:stCondLst>
                  <p:cond delay="1300000">
                    <p:tn val="7"/>
                  </p:cond>
                </p:stCondLst>
                <p:anim presetClass="entr" presetSubtype="4" fill="hold">
                  <p:cBhvr addToSldr="1">
                    <p:stSel val="sBegin"/>
                    <p:endSel val="sEnd"/>
                    <p:tgtEl>
                      <p:spTgt spid="8"/>
                    </p:tgtEl>
                  </p:cBhvr>
                  <p:attList/>
                </p:anim>
              </p:cTn>
            </p:par>
            <p:par>
              <p:cTn id="9" dur="500000" fill="hold" nodeType="clickEffect">
                <p:stCondLst>
                  <p:cond delay="1500000">
                    <p:tn val="8"/>
                  </p:cond>
                </p:stCondLst>
                <p:anim presetClass="entr" presetSubtype="4" fill="hold">
                  <p:cBhvr addToSldr="1">
                    <p:stSel val="sBegin"/>
                    <p:endSel val="sEnd"/>
                    <p:tgtEl>
                      <p:spTgt spid="9"/>
                    </p:tgtEl>
                  </p:cBhvr>
                  <p:attList/>
                </p:anim>
              </p:cTn>
            </p:par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36576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背景与问题分析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5D0"/>
                </a:solidFill>
              </a:rPr>
              <a:t>随着教育信息化2.0深入推进，高校校园网已成为教学、科研与管理的核心基础设施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651760" cy="2560320"/>
          </a:xfrm>
          <a:prstGeom prst="rect">
            <a:avLst/>
          </a:prstGeom>
          <a:solidFill>
            <a:srgbClr val="1A3A5C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63040"/>
            <a:ext cx="2651760" cy="7315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00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👁️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看不清流量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5146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5D0"/>
                </a:solidFill>
              </a:rPr>
              <a:t>SNMP 5分钟级采样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8C5D0"/>
                </a:solidFill>
              </a:rPr>
              <a:t>无法感知秒级波动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3291840"/>
            <a:ext cx="2286000" cy="457200"/>
          </a:xfrm>
          <a:prstGeom prst="rect">
            <a:avLst/>
          </a:prstGeom>
          <a:solidFill>
            <a:srgbClr val="E74C3C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337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74C3C"/>
                </a:solidFill>
              </a:rPr>
              <a:t>精度提升300倍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83280" y="1463040"/>
            <a:ext cx="2651760" cy="2560320"/>
          </a:xfrm>
          <a:prstGeom prst="rect">
            <a:avLst/>
          </a:prstGeom>
          <a:solidFill>
            <a:srgbClr val="1A3A5C"/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83280" y="1463040"/>
            <a:ext cx="2651760" cy="7315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4" name="Text 12"/>
          <p:cNvSpPr/>
          <p:nvPr/>
        </p:nvSpPr>
        <p:spPr>
          <a:xfrm>
            <a:off x="3383280" y="1600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56616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查不到根因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566160" y="25146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5D0"/>
                </a:solidFill>
              </a:rPr>
              <a:t>缺乏流级检索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8C5D0"/>
                </a:solidFill>
              </a:rPr>
              <a:t>故障定位靠经验猜测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566160" y="3291840"/>
            <a:ext cx="2286000" cy="457200"/>
          </a:xfrm>
          <a:prstGeom prst="rect">
            <a:avLst/>
          </a:prstGeom>
          <a:solidFill>
            <a:srgbClr val="F39C12">
              <a:alpha val="2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3566160" y="3337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9C12"/>
                </a:solidFill>
              </a:rPr>
              <a:t>类Wireshark检索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1463040"/>
            <a:ext cx="2651760" cy="2560320"/>
          </a:xfrm>
          <a:prstGeom prst="rect">
            <a:avLst/>
          </a:prstGeom>
          <a:solidFill>
            <a:srgbClr val="1A3A5C"/>
          </a:solidFill>
          <a:ln w="25400">
            <a:solidFill>
              <a:srgbClr val="00D4A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1463040"/>
            <a:ext cx="265176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1600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🛡️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40080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防不住威胁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00800" y="25146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5D0"/>
                </a:solidFill>
              </a:rPr>
              <a:t>蠕虫/慢速扫描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8C5D0"/>
                </a:solidFill>
              </a:rPr>
              <a:t>隐蔽在正常流量中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0" y="3291840"/>
            <a:ext cx="2286000" cy="457200"/>
          </a:xfrm>
          <a:prstGeom prst="rect">
            <a:avLst/>
          </a:prstGeom>
          <a:solidFill>
            <a:srgbClr val="00D4AA">
              <a:alpha val="2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3337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AA"/>
                </a:solidFill>
              </a:rPr>
              <a:t>误报率降低60%+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solidFill>
            <a:srgbClr val="00D4AA">
              <a:alpha val="1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AA"/>
                </a:solidFill>
              </a:rPr>
              <a:t>本项目针对高校校园网「看不清、查不到、防不住」三大运维痛点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0" y="4937760"/>
            <a:ext cx="9144000" cy="18288"/>
          </a:xfrm>
          <a:prstGeom prst="rect">
            <a:avLst/>
          </a:prstGeom>
          <a:solidFill>
            <a:srgbClr val="00D4AA">
              <a:alpha val="5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0" y="498348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5D0"/>
                </a:solidFill>
              </a:rPr>
              <a:t>3 / 18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74320" y="49834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8C5D0"/>
                </a:solidFill>
              </a:rPr>
              <a:t>无敌暴龙战队 | 苏州大学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par>
              <p:cTn id="2" dur="300000" fill="hold" nodeType="clickEffect">
                <p:stCondLst>
                  <p:cond delay="indefinite">
                    <p:tn val="1"/>
                  </p:cond>
                </p:stCondLst>
                <p:anim presetClass="entr" presetSubtype="0" fill="hold">
                  <p:cBhvr addToSldr="1">
                    <p:stSel val="sBegin"/>
                    <p:endSel val="sEnd"/>
                    <p:tgtEl>
                      <p:spTgt spid="2"/>
                    </p:tgtEl>
                  </p:cBhvr>
                  <p:attList>
                    <p:attr name="style.opacity" fmla="val 0" to="100%"/>
                  </p:attList>
                </p:anim>
              </p:cTn>
            </p:par>
            <p:par>
              <p:cTn id="3" dur="300000" fill="hold" nodeType="clickEffect">
                <p:stCondLst>
                  <p:cond delay="200000">
                    <p:tn val="2"/>
                  </p:cond>
                </p:stCondLst>
                <p:anim presetClass="entr" presetSubtype="0" fill="hold">
                  <p:cBhvr addToSldr="1">
                    <p:stSel val="sBegin"/>
                    <p:endSel val="sEnd"/>
                    <p:tgtEl>
                      <p:spTgt spid="3"/>
                    </p:tgtEl>
                  </p:cBhvr>
                  <p:attList>
                    <p:attr name="style.opacity" fmla="val 0" to="100%"/>
                  </p:attList>
                </p:anim>
              </p:cTn>
            </p:par>
            <p:par>
              <p:cTn id="4" dur="500000" fill="hold" nodeType="clickEffect">
                <p:stCondLst>
                  <p:cond delay="400000">
                    <p:tn val="3"/>
                  </p:cond>
                </p:stCondLst>
                <p:anim presetClass="entr" presetSubtype="0" fill="hold">
                  <p:cBhvr addToSldr="1">
                    <p:stSel val="sBegin"/>
                    <p:endSel val="sEnd"/>
                    <p:tgtEl>
                      <p:spTgt spid="4"/>
                    </p:tgtEl>
                  </p:cBhvr>
                  <p:attList>
                    <p:attr name="style.opacity" fmla="val 0" to="100%"/>
                  </p:attList>
                </p:anim>
              </p:cTn>
            </p:par>
            <p:par>
              <p:cTn id="5" dur="500000" fill="hold" nodeType="clickEffect">
                <p:stCondLst>
                  <p:cond delay="600000">
                    <p:tn val="4"/>
                  </p:cond>
                </p:stCondLst>
                <p:anim presetClass="entr" presetSubtype="1" fill="hold">
                  <p:cBhvr addToSldr="1">
                    <p:stSel val="sBegin"/>
                    <p:endSel val="sEnd"/>
                    <p:tgtEl>
                      <p:spTgt spid="5"/>
                    </p:tgtEl>
                  </p:cBhvr>
                  <p:attList/>
                </p:anim>
              </p:cTn>
            </p:par>
            <p:par>
              <p:cTn id="6" dur="300000" fill="hold" nodeType="clickEffect">
                <p:stCondLst>
                  <p:cond delay="700000">
                    <p:tn val="5"/>
                  </p:cond>
                </p:stCondLst>
                <p:anim presetClass="entr" presetSubtype="1" fill="hold">
                  <p:cBhvr addToSldr="1">
                    <p:stSel val="sBegin"/>
                    <p:endSel val="sEnd"/>
                    <p:tgtEl>
                      <p:spTgt spid="6"/>
                    </p:tgtEl>
                  </p:cBhvr>
                  <p:attList/>
                </p:anim>
              </p:cTn>
            </p:par>
            <p:par>
              <p:cTn id="7" dur="300000" fill="hold" nodeType="clickEffect">
                <p:stCondLst>
                  <p:cond delay="800000">
                    <p:tn val="6"/>
                  </p:cond>
                </p:stCondLst>
                <p:anim presetClass="entr" presetSubtype="1" fill="hold">
                  <p:cBhvr addToSldr="1">
                    <p:stSel val="sBegin"/>
                    <p:endSel val="sEnd"/>
                    <p:tgtEl>
                      <p:spTgt spid="7"/>
                    </p:tgtEl>
                  </p:cBhvr>
                  <p:attList/>
                </p:anim>
              </p:cTn>
            </p:par>
            <p:par>
              <p:cTn id="8" dur="300000" fill="hold" nodeType="clickEffect">
                <p:stCondLst>
                  <p:cond delay="900000">
                    <p:tn val="7"/>
                  </p:cond>
                </p:stCondLst>
                <p:anim presetClass="entr" presetSubtype="1" fill="hold">
                  <p:cBhvr addToSldr="1">
                    <p:stSel val="sBegin"/>
                    <p:endSel val="sEnd"/>
                    <p:tgtEl>
                      <p:spTgt spid="8"/>
                    </p:tgtEl>
                  </p:cBhvr>
                  <p:attList/>
                </p:anim>
              </p:cTn>
            </p:par>
            <p:par>
              <p:cTn id="9" dur="300000" fill="hold" nodeType="clickEffect">
                <p:stCondLst>
                  <p:cond delay="1000000">
                    <p:tn val="8"/>
                  </p:cond>
                </p:stCondLst>
                <p:anim presetClass="entr" presetSubtype="1" fill="hold">
                  <p:cBhvr addToSldr="1">
                    <p:stSel val="sBegin"/>
                    <p:endSel val="sEnd"/>
                    <p:tgtEl>
                      <p:spTgt spid="9"/>
                    </p:tgtEl>
                  </p:cBhvr>
                  <p:attList/>
                </p:anim>
              </p:cTn>
            </p:par>
            <p:par>
              <p:cTn id="10" dur="300000" fill="hold" nodeType="clickEffect">
                <p:stCondLst>
                  <p:cond delay="1100000">
                    <p:tn val="9"/>
                  </p:cond>
                </p:stCondLst>
                <p:anim presetClass="entr" presetSubtype="1" fill="hold">
                  <p:cBhvr addToSldr="1">
                    <p:stSel val="sBegin"/>
                    <p:endSel val="sEnd"/>
                    <p:tgtEl>
                      <p:spTgt spid="10"/>
                    </p:tgtEl>
                  </p:cBhvr>
                  <p:attList/>
                </p:anim>
              </p:cTn>
            </p:par>
            <p:par>
              <p:cTn id="11" dur="300000" fill="hold" nodeType="clickEffect">
                <p:stCondLst>
                  <p:cond delay="1300000">
                    <p:tn val="10"/>
                  </p:cond>
                </p:stCondLst>
                <p:anim presetClass="entr" presetSubtype="0" fill="hold">
                  <p:cBhvr addToSldr="1">
                    <p:stSel val="sBegin"/>
                    <p:endSel val="sEnd"/>
                    <p:tgtEl>
                      <p:spTgt spid="11"/>
                    </p:tgtEl>
                  </p:cBhvr>
                  <p:attList>
                    <p:attr name="style.opacity" fmla="val 0" to="100%"/>
                  </p:attList>
                </p:anim>
              </p:cTn>
            </p:par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36576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解决方案概览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D4AA"/>
                </a:solidFill>
              </a:rPr>
              <a:t>系统采用「采集 → 分析 → 检测 → 展示」四层架构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1645920" cy="82296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54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4A"/>
                </a:solidFill>
              </a:rPr>
              <a:t>高吞吐链路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2A4A"/>
                </a:solidFill>
              </a:rPr>
              <a:t>NetFlow采集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3774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ECDC4"/>
                </a:solidFill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834640" y="1463040"/>
            <a:ext cx="1645920" cy="82296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34640" y="1554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4A"/>
                </a:solidFill>
              </a:rPr>
              <a:t>秒级采样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834640" y="1874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2A4A"/>
                </a:solidFill>
              </a:rPr>
              <a:t>精度1秒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48056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ECDC4"/>
                </a:solidFill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4937760" y="1463040"/>
            <a:ext cx="1645920" cy="82296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554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4A"/>
                </a:solidFill>
              </a:rPr>
              <a:t>内存缓冲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1874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2A4A"/>
                </a:solidFill>
              </a:rPr>
              <a:t>实时聚合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8368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ECDC4"/>
                </a:solidFill>
              </a:rPr>
              <a:t>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7040880" y="1463040"/>
            <a:ext cx="1645920" cy="82296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1554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4A"/>
                </a:solidFill>
              </a:rPr>
              <a:t>WebSocket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040880" y="1874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2A4A"/>
                </a:solidFill>
              </a:rPr>
              <a:t>全双工推送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0" y="2468880"/>
            <a:ext cx="18288" cy="457200"/>
          </a:xfrm>
          <a:prstGeom prst="rect">
            <a:avLst/>
          </a:prstGeom>
          <a:solidFill>
            <a:srgbClr val="B8C5D0">
              <a:alpha val="5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108960"/>
            <a:ext cx="2651760" cy="7772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3108960"/>
            <a:ext cx="54864" cy="7772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097280" y="3200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实时全景大屏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97280" y="3520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四维KPI + 趋势图 + 协议分布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83280" y="3108960"/>
            <a:ext cx="2651760" cy="7772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7" name="Shape 25"/>
          <p:cNvSpPr/>
          <p:nvPr/>
        </p:nvSpPr>
        <p:spPr>
          <a:xfrm>
            <a:off x="3383280" y="3108960"/>
            <a:ext cx="54864" cy="7772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8" name="Text 26"/>
          <p:cNvSpPr/>
          <p:nvPr/>
        </p:nvSpPr>
        <p:spPr>
          <a:xfrm>
            <a:off x="352044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🛡️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3931920" y="3200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安全威胁感知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931920" y="3520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6种规则 + 4套算法双重检测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17920" y="3108960"/>
            <a:ext cx="2651760" cy="7772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2" name="Shape 30"/>
          <p:cNvSpPr/>
          <p:nvPr/>
        </p:nvSpPr>
        <p:spPr>
          <a:xfrm>
            <a:off x="6217920" y="3108960"/>
            <a:ext cx="54864" cy="7772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3" name="Text 31"/>
          <p:cNvSpPr/>
          <p:nvPr/>
        </p:nvSpPr>
        <p:spPr>
          <a:xfrm>
            <a:off x="635508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🔎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766560" y="3200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流级检索引擎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766560" y="3520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类Wireshark Web版精确检索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48640" y="4023360"/>
            <a:ext cx="2651760" cy="7772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7" name="Shape 35"/>
          <p:cNvSpPr/>
          <p:nvPr/>
        </p:nvSpPr>
        <p:spPr>
          <a:xfrm>
            <a:off x="548640" y="4023360"/>
            <a:ext cx="54864" cy="7772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8" name="Text 36"/>
          <p:cNvSpPr/>
          <p:nvPr/>
        </p:nvSpPr>
        <p:spPr>
          <a:xfrm>
            <a:off x="68580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1097280" y="4114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IP详情画像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097280" y="4434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单IP行为分析与威胁评估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383280" y="4023360"/>
            <a:ext cx="2651760" cy="7772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42" name="Shape 40"/>
          <p:cNvSpPr/>
          <p:nvPr/>
        </p:nvSpPr>
        <p:spPr>
          <a:xfrm>
            <a:off x="3383280" y="4023360"/>
            <a:ext cx="54864" cy="7772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3" name="Text 41"/>
          <p:cNvSpPr/>
          <p:nvPr/>
        </p:nvSpPr>
        <p:spPr>
          <a:xfrm>
            <a:off x="352044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🔽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3931920" y="4114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六层下钻交互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3931920" y="4434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全景→区域→楼宇→端口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0" y="4937760"/>
            <a:ext cx="9144000" cy="18288"/>
          </a:xfrm>
          <a:prstGeom prst="rect">
            <a:avLst/>
          </a:prstGeom>
          <a:solidFill>
            <a:srgbClr val="00D4AA">
              <a:alpha val="5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8229600" y="498348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5D0"/>
                </a:solidFill>
              </a:rPr>
              <a:t>4 / 18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274320" y="49834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8C5D0"/>
                </a:solidFill>
              </a:rPr>
              <a:t>无敌暴龙战队 | 苏州大学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par>
              <p:cTn id="2" dur="300000" fill="hold" nodeType="clickEffect">
                <p:stCondLst>
                  <p:cond delay="indefinite">
                    <p:tn val="1"/>
                  </p:cond>
                </p:stCondLst>
                <p:anim presetClass="entr" presetSubtype="0" fill="hold">
                  <p:cBhvr addToSldr="1">
                    <p:stSel val="sBegin"/>
                    <p:endSel val="sEnd"/>
                    <p:tgtEl>
                      <p:spTgt spid="2"/>
                    </p:tgtEl>
                  </p:cBhvr>
                  <p:attList>
                    <p:attr name="style.opacity" fmla="val 0" to="100%"/>
                  </p:attList>
                </p:anim>
              </p:cTn>
            </p:par>
            <p:par>
              <p:cTn id="3" dur="300000" fill="hold" nodeType="clickEffect">
                <p:stCondLst>
                  <p:cond delay="200000">
                    <p:tn val="2"/>
                  </p:cond>
                </p:stCondLst>
                <p:anim presetClass="entr" presetSubtype="0" fill="hold">
                  <p:cBhvr addToSldr="1">
                    <p:stSel val="sBegin"/>
                    <p:endSel val="sEnd"/>
                    <p:tgtEl>
                      <p:spTgt spid="3"/>
                    </p:tgtEl>
                  </p:cBhvr>
                  <p:attList>
                    <p:attr name="style.opacity" fmla="val 0" to="100%"/>
                  </p:attList>
                </p:anim>
              </p:cTn>
            </p:par>
            <p:par>
              <p:cTn id="4" dur="500000" fill="hold" nodeType="clickEffect">
                <p:stCondLst>
                  <p:cond delay="400000">
                    <p:tn val="3"/>
                  </p:cond>
                </p:stCondLst>
                <p:anim presetClass="entr" presetSubtype="4" fill="hold">
                  <p:cBhvr addToSldr="1">
                    <p:stSel val="sBegin"/>
                    <p:endSel val="sEnd"/>
                    <p:tgtEl>
                      <p:spTgt spid="4"/>
                    </p:tgtEl>
                  </p:cBhvr>
                  <p:attList/>
                </p:anim>
              </p:cTn>
            </p:par>
            <p:par>
              <p:cTn id="5" dur="500000" fill="hold" nodeType="clickEffect">
                <p:stCondLst>
                  <p:cond delay="600000">
                    <p:tn val="4"/>
                  </p:cond>
                </p:stCondLst>
                <p:anim presetClass="entr" presetSubtype="4" fill="hold">
                  <p:cBhvr addToSldr="1">
                    <p:stSel val="sBegin"/>
                    <p:endSel val="sEnd"/>
                    <p:tgtEl>
                      <p:spTgt spid="5"/>
                    </p:tgtEl>
                  </p:cBhvr>
                  <p:attList/>
                </p:anim>
              </p:cTn>
            </p:par>
            <p:par>
              <p:cTn id="6" dur="500000" fill="hold" nodeType="clickEffect">
                <p:stCondLst>
                  <p:cond delay="800000">
                    <p:tn val="5"/>
                  </p:cond>
                </p:stCondLst>
                <p:anim presetClass="entr" presetSubtype="4" fill="hold">
                  <p:cBhvr addToSldr="1">
                    <p:stSel val="sBegin"/>
                    <p:endSel val="sEnd"/>
                    <p:tgtEl>
                      <p:spTgt spid="6"/>
                    </p:tgtEl>
                  </p:cBhvr>
                  <p:attList/>
                </p:anim>
              </p:cTn>
            </p:par>
            <p:par>
              <p:cTn id="7" dur="500000" fill="hold" nodeType="clickEffect">
                <p:stCondLst>
                  <p:cond delay="1000000">
                    <p:tn val="6"/>
                  </p:cond>
                </p:stCondLst>
                <p:anim presetClass="entr" presetSubtype="4" fill="hold">
                  <p:cBhvr addToSldr="1">
                    <p:stSel val="sBegin"/>
                    <p:endSel val="sEnd"/>
                    <p:tgtEl>
                      <p:spTgt spid="7"/>
                    </p:tgtEl>
                  </p:cBhvr>
                  <p:attList/>
                </p:anim>
              </p:cTn>
            </p:par>
            <p:par>
              <p:cTn id="8" dur="500000" fill="hold" nodeType="clickEffect">
                <p:stCondLst>
                  <p:cond delay="1200000">
                    <p:tn val="7"/>
                  </p:cond>
                </p:stCondLst>
                <p:anim presetClass="entr" presetSubtype="4" fill="hold">
                  <p:cBhvr addToSldr="1">
                    <p:stSel val="sBegin"/>
                    <p:endSel val="sEnd"/>
                    <p:tgtEl>
                      <p:spTgt spid="8"/>
                    </p:tgtEl>
                  </p:cBhvr>
                  <p:attList/>
                </p:anim>
              </p:cTn>
            </p:par>
            <p:par>
              <p:cTn id="9" dur="500000" fill="hold" nodeType="clickEffect">
                <p:stCondLst>
                  <p:cond delay="1400000">
                    <p:tn val="8"/>
                  </p:cond>
                </p:stCondLst>
                <p:anim presetClass="entr" presetSubtype="4" fill="hold">
                  <p:cBhvr addToSldr="1">
                    <p:stSel val="sBegin"/>
                    <p:endSel val="sEnd"/>
                    <p:tgtEl>
                      <p:spTgt spid="9"/>
                    </p:tgtEl>
                  </p:cBhvr>
                  <p:attList/>
                </p:anim>
              </p:cTn>
            </p:par>
            <p:par>
              <p:cTn id="10" dur="500000" fill="hold" nodeType="clickEffect">
                <p:stCondLst>
                  <p:cond delay="1600000">
                    <p:tn val="9"/>
                  </p:cond>
                </p:stCondLst>
                <p:anim presetClass="entr" presetSubtype="4" fill="hold">
                  <p:cBhvr addToSldr="1">
                    <p:stSel val="sBegin"/>
                    <p:endSel val="sEnd"/>
                    <p:tgtEl>
                      <p:spTgt spid="10"/>
                    </p:tgtEl>
                  </p:cBhvr>
                  <p:attList/>
                </p:anim>
              </p:cTn>
            </p:par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36576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系统架构设计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188720"/>
          </a:xfrm>
          <a:prstGeom prst="rect">
            <a:avLst/>
          </a:prstGeom>
          <a:solidFill>
            <a:srgbClr val="1A3A5C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137160" cy="11887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43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AA"/>
                </a:solidFill>
              </a:rPr>
              <a:t>前端展示层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React 18 + Vite 5 + ECharts 5 + ECharts-GL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783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0"/>
                </a:solidFill>
              </a:rPr>
              <a:t>Dashboard | SecurityCenter | FlowSearch | IpDetails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0" y="21945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D4AA"/>
                </a:solidFill>
              </a:rPr>
              <a:t>⬇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8229600" cy="1188720"/>
          </a:xfrm>
          <a:prstGeom prst="rect">
            <a:avLst/>
          </a:prstGeom>
          <a:solidFill>
            <a:srgbClr val="1A3A5C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377440"/>
            <a:ext cx="137160" cy="118872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514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ECDC4"/>
                </a:solidFill>
              </a:rPr>
              <a:t>后端服务层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2880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Spring Boot 3.x + Spring Data JPA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3154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0"/>
                </a:solidFill>
              </a:rPr>
              <a:t>流量分析 | 威胁检测 | 算法引擎 | WebSocket推送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89120" y="35661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ECDC4"/>
                </a:solidFill>
              </a:rPr>
              <a:t>⬇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3749040"/>
            <a:ext cx="8229600" cy="1188720"/>
          </a:xfrm>
          <a:prstGeom prst="rect">
            <a:avLst/>
          </a:prstGeom>
          <a:solidFill>
            <a:srgbClr val="1A3A5C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749040"/>
            <a:ext cx="137160" cy="118872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886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98DB"/>
                </a:solidFill>
              </a:rPr>
              <a:t>数据存储层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" y="4251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PostgreSQL 15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4526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0"/>
                </a:solidFill>
              </a:rPr>
              <a:t>流量记录 + 安全告警 + 地理信息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0" y="1005840"/>
            <a:ext cx="3017520" cy="11887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2" name="Text 20"/>
          <p:cNvSpPr/>
          <p:nvPr/>
        </p:nvSpPr>
        <p:spPr>
          <a:xfrm>
            <a:off x="5852160" y="1188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</a:rPr>
              <a:t>HTTP REST + WebSocket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52160" y="15087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0"/>
                </a:solidFill>
              </a:rPr>
              <a:t>实时全双工推送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C5D0"/>
                </a:solidFill>
              </a:rPr>
              <a:t>≤1秒数据刷新延迟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0" y="2377440"/>
            <a:ext cx="3017520" cy="11887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5" name="Text 23"/>
          <p:cNvSpPr/>
          <p:nvPr/>
        </p:nvSpPr>
        <p:spPr>
          <a:xfrm>
            <a:off x="5852160" y="2560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CDC4"/>
                </a:solidFill>
              </a:rPr>
              <a:t>JPA / SQL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852160" y="28803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0"/>
                </a:solidFill>
              </a:rPr>
              <a:t>JSONB威胁上下文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C5D0"/>
                </a:solidFill>
              </a:rPr>
              <a:t>GIN索引加速检索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4937760"/>
            <a:ext cx="9144000" cy="18288"/>
          </a:xfrm>
          <a:prstGeom prst="rect">
            <a:avLst/>
          </a:prstGeom>
          <a:solidFill>
            <a:srgbClr val="00D4AA">
              <a:alpha val="5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0" y="498348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5D0"/>
                </a:solidFill>
              </a:rPr>
              <a:t>5 / 18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74320" y="49834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8C5D0"/>
                </a:solidFill>
              </a:rPr>
              <a:t>无敌暴龙战队 | 苏州大学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par>
              <p:cTn id="2" dur="300000" fill="hold" nodeType="clickEffect">
                <p:stCondLst>
                  <p:cond delay="indefinite">
                    <p:tn val="1"/>
                  </p:cond>
                </p:stCondLst>
                <p:anim presetClass="entr" presetSubtype="0" fill="hold">
                  <p:cBhvr addToSldr="1">
                    <p:stSel val="sBegin"/>
                    <p:endSel val="sEnd"/>
                    <p:tgtEl>
                      <p:spTgt spid="2"/>
                    </p:tgtEl>
                  </p:cBhvr>
                  <p:attList>
                    <p:attr name="style.opacity" fmla="val 0" to="100%"/>
                  </p:attList>
                </p:anim>
              </p:cTn>
            </p:par>
            <p:par>
              <p:cTn id="3" dur="300000" fill="hold" nodeType="clickEffect">
                <p:stCondLst>
                  <p:cond delay="200000">
                    <p:tn val="2"/>
                  </p:cond>
                </p:stCondLst>
                <p:anim presetClass="entr" presetSubtype="0" fill="hold">
                  <p:cBhvr addToSldr="1">
                    <p:stSel val="sBegin"/>
                    <p:endSel val="sEnd"/>
                    <p:tgtEl>
                      <p:spTgt spid="3"/>
                    </p:tgtEl>
                  </p:cBhvr>
                  <p:attList>
                    <p:attr name="style.opacity" fmla="val 0" to="100%"/>
                  </p:attList>
                </p:anim>
              </p:cTn>
            </p:par>
            <p:par>
              <p:cTn id="4" dur="600000" fill="hold" nodeType="clickEffect">
                <p:stCondLst>
                  <p:cond delay="500000">
                    <p:tn val="3"/>
                  </p:cond>
                </p:stCondLst>
                <p:anim presetClass="entr" presetSubtype="4" fill="hold">
                  <p:cBhvr addToSldr="1">
                    <p:stSel val="sBegin"/>
                    <p:endSel val="sEnd"/>
                    <p:tgtEl>
                      <p:spTgt spid="4"/>
                    </p:tgtEl>
                  </p:cBhvr>
                  <p:attList/>
                </p:anim>
              </p:cTn>
            </p:par>
            <p:par>
              <p:cTn id="5" dur="600000" fill="hold" nodeType="clickEffect">
                <p:stCondLst>
                  <p:cond delay="800000">
                    <p:tn val="4"/>
                  </p:cond>
                </p:stCondLst>
                <p:anim presetClass="entr" presetSubtype="4" fill="hold">
                  <p:cBhvr addToSldr="1">
                    <p:stSel val="sBegin"/>
                    <p:endSel val="sEnd"/>
                    <p:tgtEl>
                      <p:spTgt spid="5"/>
                    </p:tgtEl>
                  </p:cBhvr>
                  <p:attList/>
                </p:anim>
              </p:cTn>
            </p:par>
            <p:par>
              <p:cTn id="6" dur="600000" fill="hold" nodeType="clickEffect">
                <p:stCondLst>
                  <p:cond delay="1100000">
                    <p:tn val="5"/>
                  </p:cond>
                </p:stCondLst>
                <p:anim presetClass="entr" presetSubtype="4" fill="hold">
                  <p:cBhvr addToSldr="1">
                    <p:stSel val="sBegin"/>
                    <p:endSel val="sEnd"/>
                    <p:tgtEl>
                      <p:spTgt spid="6"/>
                    </p:tgtEl>
                  </p:cBhvr>
                  <p:attList/>
                </p:anim>
              </p:cTn>
            </p:par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36576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核心功能：实时全景大屏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0" y="3657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D4AA"/>
                </a:solidFill>
              </a:rPr>
              <a:t>Dashboard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2011680" cy="10058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960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AA"/>
                </a:solidFill>
              </a:rPr>
              <a:t>3.2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828800" y="12344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Gbps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0"/>
                </a:solidFill>
              </a:rPr>
              <a:t>实时吞吐量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06040" y="914400"/>
            <a:ext cx="2011680" cy="10058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1" name="Text 9"/>
          <p:cNvSpPr/>
          <p:nvPr/>
        </p:nvSpPr>
        <p:spPr>
          <a:xfrm>
            <a:off x="2606040" y="10058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063240" y="960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AA"/>
                </a:solidFill>
              </a:rPr>
              <a:t>892K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977640" y="12344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PPS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97480" y="1554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0"/>
                </a:solidFill>
              </a:rPr>
              <a:t>每秒包数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914400"/>
            <a:ext cx="2011680" cy="10058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0058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👥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212080" y="960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AA"/>
                </a:solidFill>
              </a:rPr>
              <a:t>15,623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126480" y="12344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个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1554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0"/>
                </a:solidFill>
              </a:rPr>
              <a:t>活跃IP数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03720" y="914400"/>
            <a:ext cx="2011680" cy="10058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1" name="Text 19"/>
          <p:cNvSpPr/>
          <p:nvPr/>
        </p:nvSpPr>
        <p:spPr>
          <a:xfrm>
            <a:off x="6903720" y="10058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🚨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360920" y="960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AA"/>
                </a:solidFill>
              </a:rPr>
              <a:t>47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275320" y="12344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条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995160" y="1554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0"/>
                </a:solidFill>
              </a:rPr>
              <a:t>告警总数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2103120"/>
            <a:ext cx="4114800" cy="11430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2103120"/>
            <a:ext cx="73152" cy="11430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2194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吞吐趋势图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" y="25603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0"/>
                </a:solidFill>
              </a:rPr>
              <a:t>时间桶对齐折线图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C5D0"/>
                </a:solidFill>
              </a:rPr>
              <a:t>支持Bytes/Packets双维切换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C5D0"/>
                </a:solidFill>
              </a:rPr>
              <a:t>60fps流畅刷新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2103120"/>
            <a:ext cx="4114800" cy="11430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0" name="Shape 28"/>
          <p:cNvSpPr/>
          <p:nvPr/>
        </p:nvSpPr>
        <p:spPr>
          <a:xfrm>
            <a:off x="4754880" y="2103120"/>
            <a:ext cx="73152" cy="11430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1" name="Text 29"/>
          <p:cNvSpPr/>
          <p:nvPr/>
        </p:nvSpPr>
        <p:spPr>
          <a:xfrm>
            <a:off x="4937760" y="2194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协议分布饼图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937760" y="25603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0"/>
                </a:solidFill>
              </a:rPr>
              <a:t>覆盖27种应用协议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C5D0"/>
                </a:solidFill>
              </a:rPr>
              <a:t>实时占比分析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C5D0"/>
                </a:solidFill>
              </a:rPr>
              <a:t>支持维度切换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3383280"/>
            <a:ext cx="4114800" cy="11430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4" name="Shape 32"/>
          <p:cNvSpPr/>
          <p:nvPr/>
        </p:nvSpPr>
        <p:spPr>
          <a:xfrm>
            <a:off x="457200" y="3383280"/>
            <a:ext cx="73152" cy="11430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3474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Top-K突发大流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40080" y="38404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0"/>
                </a:solidFill>
              </a:rPr>
              <a:t>按流量排序Top-10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C5D0"/>
                </a:solidFill>
              </a:rPr>
              <a:t>点击直接下钻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C5D0"/>
                </a:solidFill>
              </a:rPr>
              <a:t>至单IP详情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54880" y="3383280"/>
            <a:ext cx="4114800" cy="11430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8" name="Shape 36"/>
          <p:cNvSpPr/>
          <p:nvPr/>
        </p:nvSpPr>
        <p:spPr>
          <a:xfrm>
            <a:off x="4754880" y="3383280"/>
            <a:ext cx="73152" cy="11430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9" name="Text 37"/>
          <p:cNvSpPr/>
          <p:nvPr/>
        </p:nvSpPr>
        <p:spPr>
          <a:xfrm>
            <a:off x="4937760" y="3474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区域热力图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937760" y="38404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0"/>
                </a:solidFill>
              </a:rPr>
              <a:t>按宿舍区/教学区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C5D0"/>
                </a:solidFill>
              </a:rPr>
              <a:t>行政区/科研区展示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C5D0"/>
                </a:solidFill>
              </a:rPr>
              <a:t>流量差异分布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0" y="4937760"/>
            <a:ext cx="9144000" cy="18288"/>
          </a:xfrm>
          <a:prstGeom prst="rect">
            <a:avLst/>
          </a:prstGeom>
          <a:solidFill>
            <a:srgbClr val="00D4AA">
              <a:alpha val="5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8229600" y="498348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5D0"/>
                </a:solidFill>
              </a:rPr>
              <a:t>6 / 18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74320" y="49834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8C5D0"/>
                </a:solidFill>
              </a:rPr>
              <a:t>无敌暴龙战队 | 苏州大学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par>
              <p:cTn id="2" dur="300000" fill="hold" nodeType="clickEffect">
                <p:stCondLst>
                  <p:cond delay="indefinite">
                    <p:tn val="1"/>
                  </p:cond>
                </p:stCondLst>
                <p:anim presetClass="entr" presetSubtype="0" fill="hold">
                  <p:cBhvr addToSldr="1">
                    <p:stSel val="sBegin"/>
                    <p:endSel val="sEnd"/>
                    <p:tgtEl>
                      <p:spTgt spid="2"/>
                    </p:tgtEl>
                  </p:cBhvr>
                  <p:attList>
                    <p:attr name="style.opacity" fmla="val 0" to="100%"/>
                  </p:attList>
                </p:anim>
              </p:cTn>
            </p:par>
            <p:par>
              <p:cTn id="3" dur="500000" fill="hold" nodeType="clickEffect">
                <p:stCondLst>
                  <p:cond delay="300000">
                    <p:tn val="2"/>
                  </p:cond>
                </p:stCondLst>
                <p:anim presetClass="entr" presetSubtype="4" fill="hold">
                  <p:cBhvr addToSldr="1">
                    <p:stSel val="sBegin"/>
                    <p:endSel val="sEnd"/>
                    <p:tgtEl>
                      <p:spTgt spid="3"/>
                    </p:tgtEl>
                  </p:cBhvr>
                  <p:attList/>
                </p:anim>
              </p:cTn>
            </p:par>
            <p:par>
              <p:cTn id="4" dur="500000" fill="hold" nodeType="clickEffect">
                <p:stCondLst>
                  <p:cond delay="500000">
                    <p:tn val="3"/>
                  </p:cond>
                </p:stCondLst>
                <p:anim presetClass="entr" presetSubtype="4" fill="hold">
                  <p:cBhvr addToSldr="1">
                    <p:stSel val="sBegin"/>
                    <p:endSel val="sEnd"/>
                    <p:tgtEl>
                      <p:spTgt spid="4"/>
                    </p:tgtEl>
                  </p:cBhvr>
                  <p:attList/>
                </p:anim>
              </p:cTn>
            </p:par>
            <p:par>
              <p:cTn id="5" dur="500000" fill="hold" nodeType="clickEffect">
                <p:stCondLst>
                  <p:cond delay="700000">
                    <p:tn val="4"/>
                  </p:cond>
                </p:stCondLst>
                <p:anim presetClass="entr" presetSubtype="4" fill="hold">
                  <p:cBhvr addToSldr="1">
                    <p:stSel val="sBegin"/>
                    <p:endSel val="sEnd"/>
                    <p:tgtEl>
                      <p:spTgt spid="5"/>
                    </p:tgtEl>
                  </p:cBhvr>
                  <p:attList/>
                </p:anim>
              </p:cTn>
            </p:par>
            <p:par>
              <p:cTn id="6" dur="500000" fill="hold" nodeType="clickEffect">
                <p:stCondLst>
                  <p:cond delay="900000">
                    <p:tn val="5"/>
                  </p:cond>
                </p:stCondLst>
                <p:anim presetClass="entr" presetSubtype="4" fill="hold">
                  <p:cBhvr addToSldr="1">
                    <p:stSel val="sBegin"/>
                    <p:endSel val="sEnd"/>
                    <p:tgtEl>
                      <p:spTgt spid="6"/>
                    </p:tgtEl>
                  </p:cBhvr>
                  <p:attList/>
                </p:anim>
              </p:cTn>
            </p:par>
            <p:par>
              <p:cTn id="7" dur="500000" fill="hold" nodeType="clickEffect">
                <p:stCondLst>
                  <p:cond delay="1100000">
                    <p:tn val="6"/>
                  </p:cond>
                </p:stCondLst>
                <p:anim presetClass="entr" presetSubtype="4" fill="hold">
                  <p:cBhvr addToSldr="1">
                    <p:stSel val="sBegin"/>
                    <p:endSel val="sEnd"/>
                    <p:tgtEl>
                      <p:spTgt spid="7"/>
                    </p:tgtEl>
                  </p:cBhvr>
                  <p:attList/>
                </p:anim>
              </p:cTn>
            </p:par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36576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核心功能：安全威胁感知中心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589520" y="3657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D4AA"/>
                </a:solidFill>
              </a:rPr>
              <a:t>SecurityCenter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AA"/>
                </a:solidFill>
              </a:rPr>
              <a:t>双层威胁检测体系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931920" cy="16459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280160"/>
            <a:ext cx="3931920" cy="36576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规则驱动层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1783080"/>
            <a:ext cx="1097280" cy="365760"/>
          </a:xfrm>
          <a:prstGeom prst="rect">
            <a:avLst/>
          </a:prstGeom>
          <a:solidFill>
            <a:srgbClr val="E74C3C">
              <a:alpha val="3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828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DDoS攻击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74520" y="1783080"/>
            <a:ext cx="1097280" cy="365760"/>
          </a:xfrm>
          <a:prstGeom prst="rect">
            <a:avLst/>
          </a:prstGeom>
          <a:solidFill>
            <a:srgbClr val="E74C3C">
              <a:alpha val="3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874520" y="1828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端口扫描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08960" y="1783080"/>
            <a:ext cx="1097280" cy="365760"/>
          </a:xfrm>
          <a:prstGeom prst="rect">
            <a:avLst/>
          </a:prstGeom>
          <a:solidFill>
            <a:srgbClr val="E74C3C">
              <a:alpha val="3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108960" y="1828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慢速扫描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2286000"/>
            <a:ext cx="1097280" cy="365760"/>
          </a:xfrm>
          <a:prstGeom prst="rect">
            <a:avLst/>
          </a:prstGeom>
          <a:solidFill>
            <a:srgbClr val="E74C3C">
              <a:alpha val="3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3317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蠕虫传播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74520" y="2286000"/>
            <a:ext cx="1097280" cy="365760"/>
          </a:xfrm>
          <a:prstGeom prst="rect">
            <a:avLst/>
          </a:prstGeom>
          <a:solidFill>
            <a:srgbClr val="E74C3C">
              <a:alpha val="3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874520" y="23317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钓鱼攻击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108960" y="2286000"/>
            <a:ext cx="1097280" cy="365760"/>
          </a:xfrm>
          <a:prstGeom prst="rect">
            <a:avLst/>
          </a:prstGeom>
          <a:solidFill>
            <a:srgbClr val="E74C3C">
              <a:alpha val="3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3108960" y="23317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数据外泄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063240"/>
            <a:ext cx="3931920" cy="9144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3063240"/>
            <a:ext cx="3931920" cy="36576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108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</a:rPr>
              <a:t>算法增强层（4套原创算法）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3520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EWMA-EAD | MDTCE | NBF-RS | TPM-PA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0" y="1280160"/>
            <a:ext cx="4114800" cy="16459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</a:rPr>
              <a:t>🌍  3D地球攻击溯源地图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754880" y="18288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0"/>
                </a:solidFill>
              </a:rPr>
              <a:t>• WebGL渲染全球攻击源分布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C5D0"/>
                </a:solidFill>
              </a:rPr>
              <a:t>• 支持旋转/缩放/点击查看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C5D0"/>
                </a:solidFill>
              </a:rPr>
              <a:t>• Jitter坐标抖动防重叠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C5D0"/>
                </a:solidFill>
              </a:rPr>
              <a:t>• Bloom泛光特效科技感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0" y="3063240"/>
            <a:ext cx="4114800" cy="9144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0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</a:rPr>
              <a:t>📋  告警列表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754880" y="3566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0"/>
                </a:solidFill>
              </a:rPr>
              <a:t>多维筛选 | CSV导出取证 | IP下钻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0" y="4937760"/>
            <a:ext cx="9144000" cy="18288"/>
          </a:xfrm>
          <a:prstGeom prst="rect">
            <a:avLst/>
          </a:prstGeom>
          <a:solidFill>
            <a:srgbClr val="00D4AA">
              <a:alpha val="5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0" y="498348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5D0"/>
                </a:solidFill>
              </a:rPr>
              <a:t>7 / 18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74320" y="49834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8C5D0"/>
                </a:solidFill>
              </a:rPr>
              <a:t>无敌暴龙战队 | 苏州大学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par>
              <p:cTn id="2" dur="300000" fill="hold" nodeType="clickEffect">
                <p:stCondLst>
                  <p:cond delay="indefinite">
                    <p:tn val="1"/>
                  </p:cond>
                </p:stCondLst>
                <p:anim presetClass="entr" presetSubtype="0" fill="hold">
                  <p:cBhvr addToSldr="1">
                    <p:stSel val="sBegin"/>
                    <p:endSel val="sEnd"/>
                    <p:tgtEl>
                      <p:spTgt spid="2"/>
                    </p:tgtEl>
                  </p:cBhvr>
                  <p:attList>
                    <p:attr name="style.opacity" fmla="val 0" to="100%"/>
                  </p:attList>
                </p:anim>
              </p:cTn>
            </p:par>
            <p:par>
              <p:cTn id="3" dur="300000" fill="hold" nodeType="clickEffect">
                <p:stCondLst>
                  <p:cond delay="200000">
                    <p:tn val="2"/>
                  </p:cond>
                </p:stCondLst>
                <p:anim presetClass="entr" presetSubtype="0" fill="hold">
                  <p:cBhvr addToSldr="1">
                    <p:stSel val="sBegin"/>
                    <p:endSel val="sEnd"/>
                    <p:tgtEl>
                      <p:spTgt spid="3"/>
                    </p:tgtEl>
                  </p:cBhvr>
                  <p:attList>
                    <p:attr name="style.opacity" fmla="val 0" to="100%"/>
                  </p:attList>
                </p:anim>
              </p:cTn>
            </p:par>
            <p:par>
              <p:cTn id="4" dur="600000" fill="hold" nodeType="clickEffect">
                <p:stCondLst>
                  <p:cond delay="500000">
                    <p:tn val="3"/>
                  </p:cond>
                </p:stCondLst>
                <p:anim presetClass="entr" presetSubtype="4" fill="hold">
                  <p:cBhvr addToSldr="1">
                    <p:stSel val="sBegin"/>
                    <p:endSel val="sEnd"/>
                    <p:tgtEl>
                      <p:spTgt spid="4"/>
                    </p:tgtEl>
                  </p:cBhvr>
                  <p:attList/>
                </p:anim>
              </p:cTn>
            </p:par>
            <p:par>
              <p:cTn id="5" dur="600000" fill="hold" nodeType="clickEffect">
                <p:stCondLst>
                  <p:cond delay="800000">
                    <p:tn val="4"/>
                  </p:cond>
                </p:stCondLst>
                <p:anim presetClass="entr" presetSubtype="4" fill="hold">
                  <p:cBhvr addToSldr="1">
                    <p:stSel val="sBegin"/>
                    <p:endSel val="sEnd"/>
                    <p:tgtEl>
                      <p:spTgt spid="5"/>
                    </p:tgtEl>
                  </p:cBhvr>
                  <p:attList/>
                </p:anim>
              </p:cTn>
            </p:par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36576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核心功能：流级检索引擎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589520" y="3657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D4AA"/>
                </a:solidFill>
              </a:rPr>
              <a:t>FlowSearch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D4AA"/>
                </a:solidFill>
              </a:rPr>
              <a:t>类Wireshark Web版检索，精准故障取证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931920" cy="219456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多维组合检索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</a:rPr>
              <a:t>源/目IP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554480" y="1920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精确IP 或 CIDR通配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926080" y="1920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0"/>
                </a:solidFill>
              </a:rPr>
              <a:t>192.168.1.1 / 10.0.0.0/8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2240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</a:rPr>
              <a:t>端口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554480" y="2240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精确端口 或 范围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926080" y="2240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0"/>
                </a:solidFill>
              </a:rPr>
              <a:t>80 / 1024-65535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2560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</a:rPr>
              <a:t>协议类型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554480" y="2560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TCP / UDP / ICMP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926080" y="2560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0"/>
                </a:solidFill>
              </a:rPr>
              <a:t>TCP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" y="2880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</a:rPr>
              <a:t>应用协议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554480" y="2880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27种协议覆盖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926080" y="2880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0"/>
                </a:solidFill>
              </a:rPr>
              <a:t>HTTPS / DNS / HTTP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" y="3200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</a:rPr>
              <a:t>时间范围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554480" y="3200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起止时间 或 最近N分钟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926080" y="3200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0"/>
                </a:solidFill>
              </a:rPr>
              <a:t>minutesAgo=30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0" y="1371600"/>
            <a:ext cx="4114800" cy="219456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分页展示与导出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754880" y="1920240"/>
            <a:ext cx="3749040" cy="146304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26" name="Shape 24"/>
          <p:cNvSpPr/>
          <p:nvPr/>
        </p:nvSpPr>
        <p:spPr>
          <a:xfrm>
            <a:off x="4754880" y="1920240"/>
            <a:ext cx="3749040" cy="274320"/>
          </a:xfrm>
          <a:prstGeom prst="rect">
            <a:avLst/>
          </a:prstGeom>
          <a:solidFill>
            <a:srgbClr val="00D4AA">
              <a:alpha val="3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1965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源IP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669280" y="1965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目的IP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583680" y="1965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端口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498080" y="1965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协议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54880" y="2240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C5D0"/>
                </a:solidFill>
              </a:rPr>
              <a:t>192.168.1.105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669280" y="2240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C5D0"/>
                </a:solidFill>
              </a:rPr>
              <a:t>8.8.8.8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583680" y="2240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C5D0"/>
                </a:solidFill>
              </a:rPr>
              <a:t>443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498080" y="2240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C5D0"/>
                </a:solidFill>
              </a:rPr>
              <a:t>TCP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754880" y="2560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C5D0"/>
                </a:solidFill>
              </a:rPr>
              <a:t>10.0.2.15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669280" y="2560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C5D0"/>
                </a:solidFill>
              </a:rPr>
              <a:t>114.114.114.114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583680" y="2560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C5D0"/>
                </a:solidFill>
              </a:rPr>
              <a:t>53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498080" y="2560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C5D0"/>
                </a:solidFill>
              </a:rPr>
              <a:t>UDP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754880" y="2880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C5D0"/>
                </a:solidFill>
              </a:rPr>
              <a:t>172.16.0.50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669280" y="2880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C5D0"/>
                </a:solidFill>
              </a:rPr>
              <a:t>139.xxx.xx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583680" y="2880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C5D0"/>
                </a:solidFill>
              </a:rPr>
              <a:t>445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498080" y="2880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C5D0"/>
                </a:solidFill>
              </a:rPr>
              <a:t>TCP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CDC4"/>
                </a:solidFill>
              </a:rPr>
              <a:t>📤 CSV导出  |  🔍 IP下钻  |  📄 分页浏览（默认20条/页）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45" name="Text 43"/>
          <p:cNvSpPr/>
          <p:nvPr/>
        </p:nvSpPr>
        <p:spPr>
          <a:xfrm>
            <a:off x="640080" y="42976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💡 任意IP字段均可点击跳转至 IpDetails 单IP详情页，实现无缝下钻分析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0" y="4937760"/>
            <a:ext cx="9144000" cy="18288"/>
          </a:xfrm>
          <a:prstGeom prst="rect">
            <a:avLst/>
          </a:prstGeom>
          <a:solidFill>
            <a:srgbClr val="00D4AA">
              <a:alpha val="5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8229600" y="498348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5D0"/>
                </a:solidFill>
              </a:rPr>
              <a:t>8 / 18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274320" y="49834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8C5D0"/>
                </a:solidFill>
              </a:rPr>
              <a:t>无敌暴龙战队 | 苏州大学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par>
              <p:cTn id="2" dur="300000" fill="hold" nodeType="clickEffect">
                <p:stCondLst>
                  <p:cond delay="indefinite">
                    <p:tn val="1"/>
                  </p:cond>
                </p:stCondLst>
                <p:anim presetClass="entr" presetSubtype="0" fill="hold">
                  <p:cBhvr addToSldr="1">
                    <p:stSel val="sBegin"/>
                    <p:endSel val="sEnd"/>
                    <p:tgtEl>
                      <p:spTgt spid="2"/>
                    </p:tgtEl>
                  </p:cBhvr>
                  <p:attList>
                    <p:attr name="style.opacity" fmla="val 0" to="100%"/>
                  </p:attList>
                </p:anim>
              </p:cTn>
            </p:par>
            <p:par>
              <p:cTn id="3" dur="300000" fill="hold" nodeType="clickEffect">
                <p:stCondLst>
                  <p:cond delay="200000">
                    <p:tn val="2"/>
                  </p:cond>
                </p:stCondLst>
                <p:anim presetClass="entr" presetSubtype="0" fill="hold">
                  <p:cBhvr addToSldr="1">
                    <p:stSel val="sBegin"/>
                    <p:endSel val="sEnd"/>
                    <p:tgtEl>
                      <p:spTgt spid="3"/>
                    </p:tgtEl>
                  </p:cBhvr>
                  <p:attList>
                    <p:attr name="style.opacity" fmla="val 0" to="100%"/>
                  </p:attList>
                </p:anim>
              </p:cTn>
            </p:par>
            <p:par>
              <p:cTn id="4" dur="500000" fill="hold" nodeType="clickEffect">
                <p:stCondLst>
                  <p:cond delay="500000">
                    <p:tn val="3"/>
                  </p:cond>
                </p:stCondLst>
                <p:anim presetClass="entr" presetSubtype="4" fill="hold">
                  <p:cBhvr addToSldr="1">
                    <p:stSel val="sBegin"/>
                    <p:endSel val="sEnd"/>
                    <p:tgtEl>
                      <p:spTgt spid="4"/>
                    </p:tgtEl>
                  </p:cBhvr>
                  <p:attList/>
                </p:anim>
              </p:cTn>
            </p:par>
            <p:par>
              <p:cTn id="5" dur="500000" fill="hold" nodeType="clickEffect">
                <p:stCondLst>
                  <p:cond delay="700000">
                    <p:tn val="4"/>
                  </p:cond>
                </p:stCondLst>
                <p:anim presetClass="entr" presetSubtype="4" fill="hold">
                  <p:cBhvr addToSldr="1">
                    <p:stSel val="sBegin"/>
                    <p:endSel val="sEnd"/>
                    <p:tgtEl>
                      <p:spTgt spid="5"/>
                    </p:tgtEl>
                  </p:cBhvr>
                  <p:attList/>
                </p:anim>
              </p:cTn>
            </p:par>
            <p:par>
              <p:cTn id="6" dur="500000" fill="hold" nodeType="clickEffect">
                <p:stCondLst>
                  <p:cond delay="900000">
                    <p:tn val="5"/>
                  </p:cond>
                </p:stCondLst>
                <p:anim presetClass="entr" presetSubtype="4" fill="hold">
                  <p:cBhvr addToSldr="1">
                    <p:stSel val="sBegin"/>
                    <p:endSel val="sEnd"/>
                    <p:tgtEl>
                      <p:spTgt spid="6"/>
                    </p:tgtEl>
                  </p:cBhvr>
                  <p:attList/>
                </p:anim>
              </p:cTn>
            </p:par>
            <p:par>
              <p:cTn id="7" dur="500000" fill="hold" nodeType="clickEffect">
                <p:stCondLst>
                  <p:cond delay="1100000">
                    <p:tn val="6"/>
                  </p:cond>
                </p:stCondLst>
                <p:anim presetClass="entr" presetSubtype="4" fill="hold">
                  <p:cBhvr addToSldr="1">
                    <p:stSel val="sBegin"/>
                    <p:endSel val="sEnd"/>
                    <p:tgtEl>
                      <p:spTgt spid="7"/>
                    </p:tgtEl>
                  </p:cBhvr>
                  <p:attList/>
                </p:anim>
              </p:cTn>
            </p:par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36576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核心功能：六层下钻交互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589520" y="3657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D4AA"/>
                </a:solidFill>
              </a:rPr>
              <a:t>IpDetails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5D0"/>
                </a:solidFill>
              </a:rPr>
              <a:t>对标企业级NetFlow Analyzer产品，实现从宏观到微观的无缝逐级下钻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280160" cy="1828800"/>
          </a:xfrm>
          <a:prstGeom prst="rect">
            <a:avLst/>
          </a:prstGeom>
          <a:solidFill>
            <a:srgbClr val="1A3A5C"/>
          </a:solidFill>
          <a:ln w="25400">
            <a:solidFill>
              <a:srgbClr val="00D4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1645920"/>
            <a:ext cx="457200" cy="45720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691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1945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48640" y="26974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全网全景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29718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C5D0"/>
                </a:solidFill>
              </a:rPr>
              <a:t>全网总览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828800" y="228600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D4AA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965960" y="1554480"/>
            <a:ext cx="1280160" cy="1828800"/>
          </a:xfrm>
          <a:prstGeom prst="rect">
            <a:avLst/>
          </a:prstGeom>
          <a:solidFill>
            <a:srgbClr val="1A3A5C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0" y="1645920"/>
            <a:ext cx="457200" cy="457200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15" name="Text 13"/>
          <p:cNvSpPr/>
          <p:nvPr/>
        </p:nvSpPr>
        <p:spPr>
          <a:xfrm>
            <a:off x="2377440" y="1691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965960" y="21945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🏫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965960" y="26974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网络区域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011680" y="29718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C5D0"/>
                </a:solidFill>
              </a:rPr>
              <a:t>宿舍区/教学区/行政区/科研区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246120" y="228600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383280" y="1554480"/>
            <a:ext cx="1280160" cy="1828800"/>
          </a:xfrm>
          <a:prstGeom prst="rect">
            <a:avLst/>
          </a:prstGeom>
          <a:solidFill>
            <a:srgbClr val="1A3A5C"/>
          </a:solidFill>
          <a:ln w="25400">
            <a:solidFill>
              <a:srgbClr val="3498D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94760" y="1645920"/>
            <a:ext cx="457200" cy="457200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22" name="Text 20"/>
          <p:cNvSpPr/>
          <p:nvPr/>
        </p:nvSpPr>
        <p:spPr>
          <a:xfrm>
            <a:off x="3794760" y="1691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383280" y="21945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🏢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3383280" y="26974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楼宇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29000" y="29718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C5D0"/>
                </a:solidFill>
              </a:rPr>
              <a:t>宿舍A栋/教学楼/行政楼...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663440" y="228600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498DB"/>
                </a:solidFill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800600" y="1554480"/>
            <a:ext cx="1280160" cy="1828800"/>
          </a:xfrm>
          <a:prstGeom prst="rect">
            <a:avLst/>
          </a:prstGeom>
          <a:solidFill>
            <a:srgbClr val="1A3A5C"/>
          </a:solidFill>
          <a:ln w="25400">
            <a:solidFill>
              <a:srgbClr val="9B59B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12080" y="1645920"/>
            <a:ext cx="457200" cy="457200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29" name="Text 27"/>
          <p:cNvSpPr/>
          <p:nvPr/>
        </p:nvSpPr>
        <p:spPr>
          <a:xfrm>
            <a:off x="5212080" y="1691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800600" y="21945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🔌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4800600" y="26974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交换机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46320" y="29718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C5D0"/>
                </a:solidFill>
              </a:rPr>
              <a:t>SW-001 / SW-002 ...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080760" y="228600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59B6"/>
                </a:solidFill>
              </a:rPr>
              <a:t>→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217920" y="1554480"/>
            <a:ext cx="1280160" cy="1828800"/>
          </a:xfrm>
          <a:prstGeom prst="rect">
            <a:avLst/>
          </a:prstGeom>
          <a:solidFill>
            <a:srgbClr val="1A3A5C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629400" y="1645920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36" name="Text 34"/>
          <p:cNvSpPr/>
          <p:nvPr/>
        </p:nvSpPr>
        <p:spPr>
          <a:xfrm>
            <a:off x="6629400" y="1691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217920" y="21945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🔹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6217920" y="26974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端口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263640" y="29718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C5D0"/>
                </a:solidFill>
              </a:rPr>
              <a:t>GE0/0/1 ~ GE0/0/48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498080" y="228600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7E22"/>
                </a:solidFill>
              </a:rPr>
              <a:t>→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635240" y="1554480"/>
            <a:ext cx="1280160" cy="1828800"/>
          </a:xfrm>
          <a:prstGeom prst="rect">
            <a:avLst/>
          </a:prstGeom>
          <a:solidFill>
            <a:srgbClr val="1A3A5C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046720" y="1645920"/>
            <a:ext cx="457200" cy="45720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43" name="Text 41"/>
          <p:cNvSpPr/>
          <p:nvPr/>
        </p:nvSpPr>
        <p:spPr>
          <a:xfrm>
            <a:off x="8046720" y="1691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635240" y="21945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👤</a:t>
            </a:r>
            <a:endParaRPr lang="en-US" sz="2400" dirty="0"/>
          </a:p>
        </p:txBody>
      </p:sp>
      <p:sp>
        <p:nvSpPr>
          <p:cNvPr id="45" name="Text 43"/>
          <p:cNvSpPr/>
          <p:nvPr/>
        </p:nvSpPr>
        <p:spPr>
          <a:xfrm>
            <a:off x="7635240" y="26974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单IP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680960" y="29718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C5D0"/>
                </a:solidFill>
              </a:rPr>
              <a:t>IP详情画像分析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48" name="Text 46"/>
          <p:cNvSpPr/>
          <p:nvPr/>
        </p:nvSpPr>
        <p:spPr>
          <a:xfrm>
            <a:off x="640080" y="3749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</a:rPr>
              <a:t>单IP详情画像功能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640080" y="4206240"/>
            <a:ext cx="228600" cy="22860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50" name="Text 48"/>
          <p:cNvSpPr/>
          <p:nvPr/>
        </p:nvSpPr>
        <p:spPr>
          <a:xfrm>
            <a:off x="960120" y="4160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入/出流量趋势时序图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651760" y="4206240"/>
            <a:ext cx="228600" cy="22860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52" name="Text 50"/>
          <p:cNvSpPr/>
          <p:nvPr/>
        </p:nvSpPr>
        <p:spPr>
          <a:xfrm>
            <a:off x="2971800" y="4160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通信对端TOP-10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663440" y="4206240"/>
            <a:ext cx="228600" cy="22860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54" name="Text 52"/>
          <p:cNvSpPr/>
          <p:nvPr/>
        </p:nvSpPr>
        <p:spPr>
          <a:xfrm>
            <a:off x="4983480" y="4160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协议分布饼图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675120" y="4206240"/>
            <a:ext cx="228600" cy="22860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56" name="Text 54"/>
          <p:cNvSpPr/>
          <p:nvPr/>
        </p:nvSpPr>
        <p:spPr>
          <a:xfrm>
            <a:off x="6995160" y="4160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端口使用分析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0" y="4937760"/>
            <a:ext cx="9144000" cy="18288"/>
          </a:xfrm>
          <a:prstGeom prst="rect">
            <a:avLst/>
          </a:prstGeom>
          <a:solidFill>
            <a:srgbClr val="00D4AA">
              <a:alpha val="50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8229600" y="498348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5D0"/>
                </a:solidFill>
              </a:rPr>
              <a:t>9 / 18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274320" y="49834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8C5D0"/>
                </a:solidFill>
              </a:rPr>
              <a:t>无敌暴龙战队 | 苏州大学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par>
              <p:cTn id="2" dur="300000" fill="hold" nodeType="clickEffect">
                <p:stCondLst>
                  <p:cond delay="indefinite">
                    <p:tn val="1"/>
                  </p:cond>
                </p:stCondLst>
                <p:anim presetClass="entr" presetSubtype="0" fill="hold">
                  <p:cBhvr addToSldr="1">
                    <p:stSel val="sBegin"/>
                    <p:endSel val="sEnd"/>
                    <p:tgtEl>
                      <p:spTgt spid="2"/>
                    </p:tgtEl>
                  </p:cBhvr>
                  <p:attList>
                    <p:attr name="style.opacity" fmla="val 0" to="100%"/>
                  </p:attList>
                </p:anim>
              </p:cTn>
            </p:par>
            <p:par>
              <p:cTn id="3" dur="300000" fill="hold" nodeType="clickEffect">
                <p:stCondLst>
                  <p:cond delay="200000">
                    <p:tn val="2"/>
                  </p:cond>
                </p:stCondLst>
                <p:anim presetClass="entr" presetSubtype="0" fill="hold">
                  <p:cBhvr addToSldr="1">
                    <p:stSel val="sBegin"/>
                    <p:endSel val="sEnd"/>
                    <p:tgtEl>
                      <p:spTgt spid="3"/>
                    </p:tgtEl>
                  </p:cBhvr>
                  <p:attList>
                    <p:attr name="style.opacity" fmla="val 0" to="100%"/>
                  </p:attList>
                </p:anim>
              </p:cTn>
            </p:par>
            <p:par>
              <p:cTn id="4" dur="500000" fill="hold" nodeType="clickEffect">
                <p:stCondLst>
                  <p:cond delay="500000">
                    <p:tn val="3"/>
                  </p:cond>
                </p:stCondLst>
                <p:anim presetClass="entr" presetSubtype="1" fill="hold">
                  <p:cBhvr addToSldr="1">
                    <p:stSel val="sBegin"/>
                    <p:endSel val="sEnd"/>
                    <p:tgtEl>
                      <p:spTgt spid="4"/>
                    </p:tgtEl>
                  </p:cBhvr>
                  <p:attList/>
                </p:anim>
              </p:cTn>
            </p:par>
            <p:par>
              <p:cTn id="5" dur="500000" fill="hold" nodeType="clickEffect">
                <p:stCondLst>
                  <p:cond delay="700000">
                    <p:tn val="4"/>
                  </p:cond>
                </p:stCondLst>
                <p:anim presetClass="entr" presetSubtype="1" fill="hold">
                  <p:cBhvr addToSldr="1">
                    <p:stSel val="sBegin"/>
                    <p:endSel val="sEnd"/>
                    <p:tgtEl>
                      <p:spTgt spid="5"/>
                    </p:tgtEl>
                  </p:cBhvr>
                  <p:attList/>
                </p:anim>
              </p:cTn>
            </p:par>
            <p:par>
              <p:cTn id="6" dur="500000" fill="hold" nodeType="clickEffect">
                <p:stCondLst>
                  <p:cond delay="900000">
                    <p:tn val="5"/>
                  </p:cond>
                </p:stCondLst>
                <p:anim presetClass="entr" presetSubtype="1" fill="hold">
                  <p:cBhvr addToSldr="1">
                    <p:stSel val="sBegin"/>
                    <p:endSel val="sEnd"/>
                    <p:tgtEl>
                      <p:spTgt spid="6"/>
                    </p:tgtEl>
                  </p:cBhvr>
                  <p:attList/>
                </p:anim>
              </p:cTn>
            </p:par>
            <p:par>
              <p:cTn id="7" dur="500000" fill="hold" nodeType="clickEffect">
                <p:stCondLst>
                  <p:cond delay="1100000">
                    <p:tn val="6"/>
                  </p:cond>
                </p:stCondLst>
                <p:anim presetClass="entr" presetSubtype="1" fill="hold">
                  <p:cBhvr addToSldr="1">
                    <p:stSel val="sBegin"/>
                    <p:endSel val="sEnd"/>
                    <p:tgtEl>
                      <p:spTgt spid="7"/>
                    </p:tgtEl>
                  </p:cBhvr>
                  <p:attList/>
                </p:anim>
              </p:cTn>
            </p:par>
            <p:par>
              <p:cTn id="8" dur="500000" fill="hold" nodeType="clickEffect">
                <p:stCondLst>
                  <p:cond delay="1300000">
                    <p:tn val="7"/>
                  </p:cond>
                </p:stCondLst>
                <p:anim presetClass="entr" presetSubtype="1" fill="hold">
                  <p:cBhvr addToSldr="1">
                    <p:stSel val="sBegin"/>
                    <p:endSel val="sEnd"/>
                    <p:tgtEl>
                      <p:spTgt spid="8"/>
                    </p:tgtEl>
                  </p:cBhvr>
                  <p:attList/>
                </p:anim>
              </p:cTn>
            </p:par>
            <p:par>
              <p:cTn id="9" dur="500000" fill="hold" nodeType="clickEffect">
                <p:stCondLst>
                  <p:cond delay="1500000">
                    <p:tn val="8"/>
                  </p:cond>
                </p:stCondLst>
                <p:anim presetClass="entr" presetSubtype="1" fill="hold">
                  <p:cBhvr addToSldr="1">
                    <p:stSel val="sBegin"/>
                    <p:endSel val="sEnd"/>
                    <p:tgtEl>
                      <p:spTgt spid="9"/>
                    </p:tgtEl>
                  </p:cBhvr>
                  <p:attList/>
                </p:anim>
              </p:cTn>
            </p:par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36576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核心算法设计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D4AA"/>
                </a:solidFill>
              </a:rPr>
              <a:t>四套原创算法，超越规则驱动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114800" cy="15544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71600"/>
            <a:ext cx="4114800" cy="914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54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AA"/>
                </a:solidFill>
              </a:rPr>
              <a:t>EWMA-EAD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011680" y="1600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5D0"/>
                </a:solidFill>
              </a:rPr>
              <a:t>指数加权熵异常检测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融合流量统计与协议熵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区分正常突发与攻击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560320"/>
            <a:ext cx="3749040" cy="274320"/>
          </a:xfrm>
          <a:prstGeom prst="rect">
            <a:avLst/>
          </a:prstGeom>
          <a:solidFill>
            <a:srgbClr val="00D4AA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578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AA"/>
                </a:solidFill>
              </a:rPr>
              <a:t>✨ 误报率降低60%+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371600"/>
            <a:ext cx="4114800" cy="15544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3" name="Shape 11"/>
          <p:cNvSpPr/>
          <p:nvPr/>
        </p:nvSpPr>
        <p:spPr>
          <a:xfrm>
            <a:off x="4754880" y="1371600"/>
            <a:ext cx="4114800" cy="9144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554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ECDC4"/>
                </a:solidFill>
              </a:rPr>
              <a:t>MDTCE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309360" y="1600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5D0"/>
                </a:solidFill>
              </a:rPr>
              <a:t>多维威胁关联引擎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20116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基于Kill Chain建模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识别完整攻击链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37760" y="2560320"/>
            <a:ext cx="3749040" cy="274320"/>
          </a:xfrm>
          <a:prstGeom prst="rect">
            <a:avLst/>
          </a:prstGeom>
          <a:solidFill>
            <a:srgbClr val="4ECDC4">
              <a:alpha val="2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2578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CDC4"/>
                </a:solidFill>
              </a:rPr>
              <a:t>✨ 填补校园网安全空白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063240"/>
            <a:ext cx="4114800" cy="15544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063240"/>
            <a:ext cx="4114800" cy="9144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246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98DB"/>
                </a:solidFill>
              </a:rPr>
              <a:t>NBF-RS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2011680" y="3291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5D0"/>
                </a:solidFill>
              </a:rPr>
              <a:t>7维行为指纹评分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37033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协议熵/对端多样性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流量非对称性等综合评估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251960"/>
            <a:ext cx="3749040" cy="274320"/>
          </a:xfrm>
          <a:prstGeom prst="rect">
            <a:avLst/>
          </a:prstGeom>
          <a:solidFill>
            <a:srgbClr val="3498DB">
              <a:alpha val="2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2702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98DB"/>
                </a:solidFill>
              </a:rPr>
              <a:t>✨ 7维特征向量画像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3063240"/>
            <a:ext cx="4114800" cy="15544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7" name="Shape 25"/>
          <p:cNvSpPr/>
          <p:nvPr/>
        </p:nvSpPr>
        <p:spPr>
          <a:xfrm>
            <a:off x="4754880" y="3063240"/>
            <a:ext cx="4114800" cy="9144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3246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B59B6"/>
                </a:solidFill>
              </a:rPr>
              <a:t>TPM-PA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309360" y="3291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5D0"/>
                </a:solidFill>
              </a:rPr>
              <a:t>时序预测预警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37760" y="37033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Pearson跨信号相关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+趋势预测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937760" y="4251960"/>
            <a:ext cx="3749040" cy="274320"/>
          </a:xfrm>
          <a:prstGeom prst="rect">
            <a:avLst/>
          </a:prstGeom>
          <a:solidFill>
            <a:srgbClr val="9B59B6">
              <a:alpha val="2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0" y="42702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59B6"/>
                </a:solidFill>
              </a:rPr>
              <a:t>✨ 预防性告警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solidFill>
            <a:srgbClr val="00D4AA">
              <a:alpha val="15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D4AA"/>
                </a:solidFill>
              </a:rPr>
              <a:t>从「被动响应」到「主动预防」的能力跃升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0" y="4937760"/>
            <a:ext cx="9144000" cy="18288"/>
          </a:xfrm>
          <a:prstGeom prst="rect">
            <a:avLst/>
          </a:prstGeom>
          <a:solidFill>
            <a:srgbClr val="00D4AA">
              <a:alpha val="5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0" y="498348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5D0"/>
                </a:solidFill>
              </a:rPr>
              <a:t>10 / 18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74320" y="49834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8C5D0"/>
                </a:solidFill>
              </a:rPr>
              <a:t>无敌暴龙战队 | 苏州大学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par>
              <p:cTn id="2" dur="300000" fill="hold" nodeType="clickEffect">
                <p:stCondLst>
                  <p:cond delay="indefinite">
                    <p:tn val="1"/>
                  </p:cond>
                </p:stCondLst>
                <p:anim presetClass="entr" presetSubtype="0" fill="hold">
                  <p:cBhvr addToSldr="1">
                    <p:stSel val="sBegin"/>
                    <p:endSel val="sEnd"/>
                    <p:tgtEl>
                      <p:spTgt spid="2"/>
                    </p:tgtEl>
                  </p:cBhvr>
                  <p:attList>
                    <p:attr name="style.opacity" fmla="val 0" to="100%"/>
                  </p:attList>
                </p:anim>
              </p:cTn>
            </p:par>
            <p:par>
              <p:cTn id="3" dur="300000" fill="hold" nodeType="clickEffect">
                <p:stCondLst>
                  <p:cond delay="200000">
                    <p:tn val="2"/>
                  </p:cond>
                </p:stCondLst>
                <p:anim presetClass="entr" presetSubtype="0" fill="hold">
                  <p:cBhvr addToSldr="1">
                    <p:stSel val="sBegin"/>
                    <p:endSel val="sEnd"/>
                    <p:tgtEl>
                      <p:spTgt spid="3"/>
                    </p:tgtEl>
                  </p:cBhvr>
                  <p:attList>
                    <p:attr name="style.opacity" fmla="val 0" to="100%"/>
                  </p:attList>
                </p:anim>
              </p:cTn>
            </p:par>
            <p:par>
              <p:cTn id="4" dur="600000" fill="hold" nodeType="clickEffect">
                <p:stCondLst>
                  <p:cond delay="500000">
                    <p:tn val="3"/>
                  </p:cond>
                </p:stCondLst>
                <p:anim presetClass="entr" presetSubtype="4" fill="hold">
                  <p:cBhvr addToSldr="1">
                    <p:stSel val="sBegin"/>
                    <p:endSel val="sEnd"/>
                    <p:tgtEl>
                      <p:spTgt spid="4"/>
                    </p:tgtEl>
                  </p:cBhvr>
                  <p:attList/>
                </p:anim>
              </p:cTn>
            </p:par>
            <p:par>
              <p:cTn id="5" dur="600000" fill="hold" nodeType="clickEffect">
                <p:stCondLst>
                  <p:cond delay="800000">
                    <p:tn val="4"/>
                  </p:cond>
                </p:stCondLst>
                <p:anim presetClass="entr" presetSubtype="4" fill="hold">
                  <p:cBhvr addToSldr="1">
                    <p:stSel val="sBegin"/>
                    <p:endSel val="sEnd"/>
                    <p:tgtEl>
                      <p:spTgt spid="5"/>
                    </p:tgtEl>
                  </p:cBhvr>
                  <p:attList/>
                </p:anim>
              </p:cTn>
            </p:par>
            <p:par>
              <p:cTn id="6" dur="600000" fill="hold" nodeType="clickEffect">
                <p:stCondLst>
                  <p:cond delay="1100000">
                    <p:tn val="5"/>
                  </p:cond>
                </p:stCondLst>
                <p:anim presetClass="entr" presetSubtype="4" fill="hold">
                  <p:cBhvr addToSldr="1">
                    <p:stSel val="sBegin"/>
                    <p:endSel val="sEnd"/>
                    <p:tgtEl>
                      <p:spTgt spid="6"/>
                    </p:tgtEl>
                  </p:cBhvr>
                  <p:attList/>
                </p:anim>
              </p:cTn>
            </p:par>
            <p:par>
              <p:cTn id="7" dur="600000" fill="hold" nodeType="clickEffect">
                <p:stCondLst>
                  <p:cond delay="1400000">
                    <p:tn val="6"/>
                  </p:cond>
                </p:stCondLst>
                <p:anim presetClass="entr" presetSubtype="4" fill="hold">
                  <p:cBhvr addToSldr="1">
                    <p:stSel val="sBegin"/>
                    <p:endSel val="sEnd"/>
                    <p:tgtEl>
                      <p:spTgt spid="7"/>
                    </p:tgtEl>
                  </p:cBhvr>
                  <p:attList/>
                </p:anim>
              </p:cTn>
            </p:par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36576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算法详解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31920" cy="21031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14400"/>
            <a:ext cx="91440" cy="21031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</a:rPr>
              <a:t>EWMA-EAD 指数加权熵异常检测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C5D0"/>
                </a:solidFill>
              </a:rPr>
              <a:t>核心思路：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1. EWMA平滑：抑制流量噪声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   S_t = α×X_t + (1-α)×S_{t-1}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2. Shannon熵：协议分布分析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   H = -Σ p_i × log₂(p_i)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3. 融合判断：流量超3σ 且 熵低于阈值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D4AA"/>
                </a:solidFill>
              </a:rPr>
              <a:t>优势：融合熵分析后可区分正常突发</a:t>
            </a:r>
            <a:pPr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（协议多样）与攻击（协议单一）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0" y="914400"/>
            <a:ext cx="4114800" cy="21031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0" y="914400"/>
            <a:ext cx="91440" cy="210312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CDC4"/>
                </a:solidFill>
              </a:rPr>
              <a:t>MDTCE 多维威胁关联引擎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1371600"/>
            <a:ext cx="3840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C5D0"/>
                </a:solidFill>
              </a:rPr>
              <a:t>核心思路：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基于网络杀伤链（Kill Chain）模型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B8C5D0"/>
                </a:solidFill>
              </a:rPr>
              <a:t>攻击阶段：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侦察 → 武器化 → 投递 → 利用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→ 持久化 → 横向移动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关联规则：同源IP在时间窗内出现≥2个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不同攻击阶段事件，触发高威胁关联告警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3931920" cy="15544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3200400"/>
            <a:ext cx="91440" cy="155448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291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98DB"/>
                </a:solidFill>
              </a:rPr>
              <a:t>NBF-RS 7维行为指纹评分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6576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C5D0"/>
                </a:solidFill>
              </a:rPr>
              <a:t>7个维度：</a:t>
            </a:r>
            <a:pPr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协议熵 | 对端多样性 | 流量非对称性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端口分散度 | 时序集中度 | 连接强度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包大小偏差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综合评分：7维度加权求和，超过阈值触发风险告警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3200400"/>
            <a:ext cx="4114800" cy="15544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0" y="3200400"/>
            <a:ext cx="91440" cy="155448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3291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59B6"/>
                </a:solidFill>
              </a:rPr>
              <a:t>TPM-PA 时序预测预警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0" y="36576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C5D0"/>
                </a:solidFill>
              </a:rPr>
              <a:t>核心思路：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1. 线性趋势分解：提取异常残差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2. Pearson跨信号相关分析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   r = Σ(X_i-X̄)(Y_i-Ȳ) / 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3. 多区域异常相关+残差超阈值，提前预警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实现「预防性告警」而非事后发现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0" y="4937760"/>
            <a:ext cx="9144000" cy="18288"/>
          </a:xfrm>
          <a:prstGeom prst="rect">
            <a:avLst/>
          </a:prstGeom>
          <a:solidFill>
            <a:srgbClr val="00D4AA">
              <a:alpha val="5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0" y="498348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5D0"/>
                </a:solidFill>
              </a:rPr>
              <a:t>11 / 18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74320" y="49834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8C5D0"/>
                </a:solidFill>
              </a:rPr>
              <a:t>无敌暴龙战队 | 苏州大学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par>
              <p:cTn id="2" dur="300000" fill="hold" nodeType="clickEffect">
                <p:stCondLst>
                  <p:cond delay="indefinite">
                    <p:tn val="1"/>
                  </p:cond>
                </p:stCondLst>
                <p:anim presetClass="entr" presetSubtype="0" fill="hold">
                  <p:cBhvr addToSldr="1">
                    <p:stSel val="sBegin"/>
                    <p:endSel val="sEnd"/>
                    <p:tgtEl>
                      <p:spTgt spid="2"/>
                    </p:tgtEl>
                  </p:cBhvr>
                  <p:attList>
                    <p:attr name="style.opacity" fmla="val 0" to="100%"/>
                  </p:attList>
                </p:anim>
              </p:cTn>
            </p:par>
            <p:par>
              <p:cTn id="3" dur="300000" fill="hold" nodeType="clickEffect">
                <p:stCondLst>
                  <p:cond delay="200000">
                    <p:tn val="2"/>
                  </p:cond>
                </p:stCondLst>
                <p:anim presetClass="entr" presetSubtype="0" fill="hold">
                  <p:cBhvr addToSldr="1">
                    <p:stSel val="sBegin"/>
                    <p:endSel val="sEnd"/>
                    <p:tgtEl>
                      <p:spTgt spid="3"/>
                    </p:tgtEl>
                  </p:cBhvr>
                  <p:attList>
                    <p:attr name="style.opacity" fmla="val 0" to="100%"/>
                  </p:attList>
                </p:anim>
              </p:cTn>
            </p:par>
            <p:par>
              <p:cTn id="4" dur="600000" fill="hold" nodeType="clickEffect">
                <p:stCondLst>
                  <p:cond delay="500000">
                    <p:tn val="3"/>
                  </p:cond>
                </p:stCondLst>
                <p:anim presetClass="entr" presetSubtype="4" fill="hold">
                  <p:cBhvr addToSldr="1">
                    <p:stSel val="sBegin"/>
                    <p:endSel val="sEnd"/>
                    <p:tgtEl>
                      <p:spTgt spid="4"/>
                    </p:tgtEl>
                  </p:cBhvr>
                  <p:attList/>
                </p:anim>
              </p:cTn>
            </p:par>
            <p:par>
              <p:cTn id="5" dur="600000" fill="hold" nodeType="clickEffect">
                <p:stCondLst>
                  <p:cond delay="800000">
                    <p:tn val="4"/>
                  </p:cond>
                </p:stCondLst>
                <p:anim presetClass="entr" presetSubtype="4" fill="hold">
                  <p:cBhvr addToSldr="1">
                    <p:stSel val="sBegin"/>
                    <p:endSel val="sEnd"/>
                    <p:tgtEl>
                      <p:spTgt spid="5"/>
                    </p:tgtEl>
                  </p:cBhvr>
                  <p:attList/>
                </p:anim>
              </p:cTn>
            </p:par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36576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技术路线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60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A"/>
                </a:solidFill>
              </a:rPr>
              <a:t>层次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645920" y="960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A"/>
                </a:solidFill>
              </a:rPr>
              <a:t>技术选型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931920" y="960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A"/>
                </a:solidFill>
              </a:rPr>
              <a:t>选型理由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3990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前端框架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45920" y="13990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React 18 + Vite 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931920" y="1399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组件化开发，Vite极速HMR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737360"/>
            <a:ext cx="8229600" cy="41148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8105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状态管理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45920" y="18105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Zustand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931920" y="1810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轻量无样板，跨组件共享状态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148840"/>
            <a:ext cx="8229600" cy="4114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2219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可视化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645920" y="22219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ECharts 5 + ECharts-GL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931920" y="22219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WebGL 3D地球渲染，Bloom特效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560320"/>
            <a:ext cx="8229600" cy="41148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26334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后端框架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645920" y="26334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Spring Boot 3.x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931920" y="26334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生产级Java框架，Actuator监控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2971800"/>
            <a:ext cx="8229600" cy="4114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044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ORM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645920" y="3044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Spring Data JPA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931920" y="3044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简化数据访问，支持复杂动态查询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383280"/>
            <a:ext cx="8229600" cy="41148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34564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数据库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645920" y="34564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PostgreSQL 15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931920" y="34564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强类型、JSONB列、GIN索引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3794760"/>
            <a:ext cx="8229600" cy="4114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38679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实时通信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645920" y="38679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Spring WebSocket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931920" y="38679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原生集成STOMP，低延迟推送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4206240"/>
            <a:ext cx="8229600" cy="411480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42793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容器化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645920" y="42793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Docker + Docker Compose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931920" y="42793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一键部署，环境隔离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00D4AA">
              <a:alpha val="15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AA"/>
                </a:solidFill>
              </a:rPr>
              <a:t>跨平台支持：Linux / Windows | API文档：springdoc-openapi (Swagger UI)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0" y="4937760"/>
            <a:ext cx="9144000" cy="18288"/>
          </a:xfrm>
          <a:prstGeom prst="rect">
            <a:avLst/>
          </a:prstGeom>
          <a:solidFill>
            <a:srgbClr val="00D4AA">
              <a:alpha val="5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8229600" y="498348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5D0"/>
                </a:solidFill>
              </a:rPr>
              <a:t>12 / 18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74320" y="49834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8C5D0"/>
                </a:solidFill>
              </a:rPr>
              <a:t>无敌暴龙战队 | 苏州大学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par>
              <p:cTn id="2" dur="300000" fill="hold" nodeType="clickEffect">
                <p:stCondLst>
                  <p:cond delay="indefinite">
                    <p:tn val="1"/>
                  </p:cond>
                </p:stCondLst>
                <p:anim presetClass="entr" presetSubtype="0" fill="hold">
                  <p:cBhvr addToSldr="1">
                    <p:stSel val="sBegin"/>
                    <p:endSel val="sEnd"/>
                    <p:tgtEl>
                      <p:spTgt spid="2"/>
                    </p:tgtEl>
                  </p:cBhvr>
                  <p:attList>
                    <p:attr name="style.opacity" fmla="val 0" to="100%"/>
                  </p:attList>
                </p:anim>
              </p:cTn>
            </p:par>
            <p:par>
              <p:cTn id="3" dur="300000" fill="hold" nodeType="clickEffect">
                <p:stCondLst>
                  <p:cond delay="200000">
                    <p:tn val="2"/>
                  </p:cond>
                </p:stCondLst>
                <p:anim presetClass="entr" presetSubtype="0" fill="hold">
                  <p:cBhvr addToSldr="1">
                    <p:stSel val="sBegin"/>
                    <p:endSel val="sEnd"/>
                    <p:tgtEl>
                      <p:spTgt spid="3"/>
                    </p:tgtEl>
                  </p:cBhvr>
                  <p:attList>
                    <p:attr name="style.opacity" fmla="val 0" to="100%"/>
                  </p:attList>
                </p:anim>
              </p:cTn>
            </p:par>
            <p:par>
              <p:cTn id="4" dur="500000" fill="hold" nodeType="clickEffect">
                <p:stCondLst>
                  <p:cond delay="500000">
                    <p:tn val="3"/>
                  </p:cond>
                </p:stCondLst>
                <p:anim presetClass="entr" presetSubtype="4" fill="hold">
                  <p:cBhvr addToSldr="1">
                    <p:stSel val="sBegin"/>
                    <p:endSel val="sEnd"/>
                    <p:tgtEl>
                      <p:spTgt spid="4"/>
                    </p:tgtEl>
                  </p:cBhvr>
                  <p:attList/>
                </p:anim>
              </p:cTn>
            </p:par>
            <p:par>
              <p:cTn id="5" dur="500000" fill="hold" nodeType="clickEffect">
                <p:stCondLst>
                  <p:cond delay="700000">
                    <p:tn val="4"/>
                  </p:cond>
                </p:stCondLst>
                <p:anim presetClass="entr" presetSubtype="4" fill="hold">
                  <p:cBhvr addToSldr="1">
                    <p:stSel val="sBegin"/>
                    <p:endSel val="sEnd"/>
                    <p:tgtEl>
                      <p:spTgt spid="5"/>
                    </p:tgtEl>
                  </p:cBhvr>
                  <p:attList/>
                </p:anim>
              </p:cTn>
            </p:par>
            <p:par>
              <p:cTn id="6" dur="500000" fill="hold" nodeType="clickEffect">
                <p:stCondLst>
                  <p:cond delay="900000">
                    <p:tn val="5"/>
                  </p:cond>
                </p:stCondLst>
                <p:anim presetClass="entr" presetSubtype="4" fill="hold">
                  <p:cBhvr addToSldr="1">
                    <p:stSel val="sBegin"/>
                    <p:endSel val="sEnd"/>
                    <p:tgtEl>
                      <p:spTgt spid="6"/>
                    </p:tgtEl>
                  </p:cBhvr>
                  <p:attList/>
                </p:anim>
              </p:cTn>
            </p:par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36576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业务模式与可行性分析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AA"/>
                </a:solidFill>
              </a:rPr>
              <a:t>应用对象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114800" cy="5486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80160"/>
            <a:ext cx="73152" cy="5486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258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网络运维工程师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5544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0"/>
                </a:solidFill>
              </a:rPr>
              <a:t>实时监控、快速定位故障根因、处理安全告警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1280160"/>
            <a:ext cx="4114800" cy="5486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1280160"/>
            <a:ext cx="73152" cy="5486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3258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网络安全管理员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15544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0"/>
                </a:solidFill>
              </a:rPr>
              <a:t>威胁态势感知、攻击溯源分析、应急响应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1920240"/>
            <a:ext cx="4114800" cy="5486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1920240"/>
            <a:ext cx="73152" cy="5486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19659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信息化管理部门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21945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0"/>
                </a:solidFill>
              </a:rPr>
              <a:t>全校网络运行态势总览、辅助决策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54880" y="1920240"/>
            <a:ext cx="4114800" cy="5486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8" name="Shape 16"/>
          <p:cNvSpPr/>
          <p:nvPr/>
        </p:nvSpPr>
        <p:spPr>
          <a:xfrm>
            <a:off x="4754880" y="1920240"/>
            <a:ext cx="73152" cy="5486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19659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竞赛评审专家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21945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0"/>
                </a:solidFill>
              </a:rPr>
              <a:t>一键部署快速复现、体验完整功能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2651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AA"/>
                </a:solidFill>
              </a:rPr>
              <a:t>可推广场景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57200" y="3017520"/>
            <a:ext cx="2560320" cy="4572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063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企业园区网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91840" y="3017520"/>
            <a:ext cx="2560320" cy="4572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5" name="Text 23"/>
          <p:cNvSpPr/>
          <p:nvPr/>
        </p:nvSpPr>
        <p:spPr>
          <a:xfrm>
            <a:off x="3291840" y="3063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政务专网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126480" y="3017520"/>
            <a:ext cx="2560320" cy="4572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7" name="Text 25"/>
          <p:cNvSpPr/>
          <p:nvPr/>
        </p:nvSpPr>
        <p:spPr>
          <a:xfrm>
            <a:off x="6126480" y="3063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数据中心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3657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AA"/>
                </a:solidFill>
              </a:rPr>
              <a:t>可行性分析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457200" y="4023360"/>
            <a:ext cx="2651760" cy="7772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4114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14400" y="41148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技术可行性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640" y="4434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主流技术栈，组件成熟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91840" y="4023360"/>
            <a:ext cx="2651760" cy="7772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4" name="Text 32"/>
          <p:cNvSpPr/>
          <p:nvPr/>
        </p:nvSpPr>
        <p:spPr>
          <a:xfrm>
            <a:off x="3383280" y="4114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💰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749040" y="41148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经济可行性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383280" y="4434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开源组件，低部署成本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126480" y="4023360"/>
            <a:ext cx="2651760" cy="7772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8" name="Text 36"/>
          <p:cNvSpPr/>
          <p:nvPr/>
        </p:nvSpPr>
        <p:spPr>
          <a:xfrm>
            <a:off x="6217920" y="4114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🚀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583680" y="41148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操作可行性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217920" y="4434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Docker一键部署，即开即用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0" y="4937760"/>
            <a:ext cx="9144000" cy="18288"/>
          </a:xfrm>
          <a:prstGeom prst="rect">
            <a:avLst/>
          </a:prstGeom>
          <a:solidFill>
            <a:srgbClr val="00D4AA">
              <a:alpha val="5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8229600" y="498348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5D0"/>
                </a:solidFill>
              </a:rPr>
              <a:t>13 / 18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74320" y="49834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8C5D0"/>
                </a:solidFill>
              </a:rPr>
              <a:t>无敌暴龙战队 | 苏州大学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par>
              <p:cTn id="2" dur="300000" fill="hold" nodeType="clickEffect">
                <p:stCondLst>
                  <p:cond delay="indefinite">
                    <p:tn val="1"/>
                  </p:cond>
                </p:stCondLst>
                <p:anim presetClass="entr" presetSubtype="0" fill="hold">
                  <p:cBhvr addToSldr="1">
                    <p:stSel val="sBegin"/>
                    <p:endSel val="sEnd"/>
                    <p:tgtEl>
                      <p:spTgt spid="2"/>
                    </p:tgtEl>
                  </p:cBhvr>
                  <p:attList>
                    <p:attr name="style.opacity" fmla="val 0" to="100%"/>
                  </p:attList>
                </p:anim>
              </p:cTn>
            </p:par>
            <p:par>
              <p:cTn id="3" dur="300000" fill="hold" nodeType="clickEffect">
                <p:stCondLst>
                  <p:cond delay="200000">
                    <p:tn val="2"/>
                  </p:cond>
                </p:stCondLst>
                <p:anim presetClass="entr" presetSubtype="0" fill="hold">
                  <p:cBhvr addToSldr="1">
                    <p:stSel val="sBegin"/>
                    <p:endSel val="sEnd"/>
                    <p:tgtEl>
                      <p:spTgt spid="3"/>
                    </p:tgtEl>
                  </p:cBhvr>
                  <p:attList>
                    <p:attr name="style.opacity" fmla="val 0" to="100%"/>
                  </p:attList>
                </p:anim>
              </p:cTn>
            </p:par>
            <p:par>
              <p:cTn id="4" dur="600000" fill="hold" nodeType="clickEffect">
                <p:stCondLst>
                  <p:cond delay="500000">
                    <p:tn val="3"/>
                  </p:cond>
                </p:stCondLst>
                <p:anim presetClass="entr" presetSubtype="4" fill="hold">
                  <p:cBhvr addToSldr="1">
                    <p:stSel val="sBegin"/>
                    <p:endSel val="sEnd"/>
                    <p:tgtEl>
                      <p:spTgt spid="4"/>
                    </p:tgtEl>
                  </p:cBhvr>
                  <p:attList/>
                </p:anim>
              </p:cTn>
            </p:par>
            <p:par>
              <p:cTn id="5" dur="600000" fill="hold" nodeType="clickEffect">
                <p:stCondLst>
                  <p:cond delay="800000">
                    <p:tn val="4"/>
                  </p:cond>
                </p:stCondLst>
                <p:anim presetClass="entr" presetSubtype="4" fill="hold">
                  <p:cBhvr addToSldr="1">
                    <p:stSel val="sBegin"/>
                    <p:endSel val="sEnd"/>
                    <p:tgtEl>
                      <p:spTgt spid="5"/>
                    </p:tgtEl>
                  </p:cBhvr>
                  <p:attList/>
                </p:anim>
              </p:cTn>
            </p:par>
            <p:par>
              <p:cTn id="6" dur="600000" fill="hold" nodeType="clickEffect">
                <p:stCondLst>
                  <p:cond delay="1100000">
                    <p:tn val="5"/>
                  </p:cond>
                </p:stCondLst>
                <p:anim presetClass="entr" presetSubtype="4" fill="hold">
                  <p:cBhvr addToSldr="1">
                    <p:stSel val="sBegin"/>
                    <p:endSel val="sEnd"/>
                    <p:tgtEl>
                      <p:spTgt spid="6"/>
                    </p:tgtEl>
                  </p:cBhvr>
                  <p:attList/>
                </p:anim>
              </p:cTn>
            </p:par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36576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团队介绍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14400"/>
            <a:ext cx="137160" cy="109728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05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AA"/>
                </a:solidFill>
              </a:rPr>
              <a:t>无敌暴龙战队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5D0"/>
                </a:solidFill>
              </a:rPr>
              <a:t>参赛编号：T2601487  |  命题单位：苏州大学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AA"/>
                </a:solidFill>
              </a:rPr>
              <a:t>核心成员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4114800" cy="8686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2788920"/>
            <a:ext cx="502920" cy="502920"/>
          </a:xfrm>
          <a:prstGeom prst="ellipse">
            <a:avLst/>
          </a:prstGeom>
          <a:solidFill>
            <a:srgbClr val="00D4AA">
              <a:alpha val="5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8620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队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743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队长 / 开发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34440" y="30175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系统架构设计与核心算法实现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234440" y="32461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CDC4"/>
                </a:solidFill>
              </a:rPr>
              <a:t>Java / Spring Boot / 数据库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54880" y="2606040"/>
            <a:ext cx="4114800" cy="8686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6" name="Shape 14"/>
          <p:cNvSpPr/>
          <p:nvPr/>
        </p:nvSpPr>
        <p:spPr>
          <a:xfrm>
            <a:off x="4892040" y="2788920"/>
            <a:ext cx="502920" cy="502920"/>
          </a:xfrm>
          <a:prstGeom prst="ellipse">
            <a:avLst/>
          </a:prstGeom>
          <a:solidFill>
            <a:srgbClr val="00D4AA">
              <a:alpha val="5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8620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前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532120" y="2743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前端开发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532120" y="30175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React组件开发与可视化实现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532120" y="32461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CDC4"/>
                </a:solidFill>
              </a:rPr>
              <a:t>React / ECharts / WebSocket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611880"/>
            <a:ext cx="4114800" cy="8686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2" name="Shape 20"/>
          <p:cNvSpPr/>
          <p:nvPr/>
        </p:nvSpPr>
        <p:spPr>
          <a:xfrm>
            <a:off x="594360" y="3794760"/>
            <a:ext cx="502920" cy="502920"/>
          </a:xfrm>
          <a:prstGeom prst="ellipse">
            <a:avLst/>
          </a:prstGeom>
          <a:solidFill>
            <a:srgbClr val="00D4AA">
              <a:alpha val="5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386791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算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3749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算法工程师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34440" y="40233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威胁检测算法设计与优化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234440" y="425196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CDC4"/>
                </a:solidFill>
              </a:rPr>
              <a:t>Python / 数据分析 / 机器学习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54880" y="3611880"/>
            <a:ext cx="4114800" cy="8686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8" name="Shape 26"/>
          <p:cNvSpPr/>
          <p:nvPr/>
        </p:nvSpPr>
        <p:spPr>
          <a:xfrm>
            <a:off x="4892040" y="3794760"/>
            <a:ext cx="502920" cy="502920"/>
          </a:xfrm>
          <a:prstGeom prst="ellipse">
            <a:avLst/>
          </a:prstGeom>
          <a:solidFill>
            <a:srgbClr val="00D4AA">
              <a:alpha val="5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892040" y="386791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测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532120" y="3749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测试运维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532120" y="40233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Docker部署与系统测试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32120" y="425196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CDC4"/>
                </a:solidFill>
              </a:rPr>
              <a:t>Docker / Linux / 性能调优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0" y="4937760"/>
            <a:ext cx="9144000" cy="18288"/>
          </a:xfrm>
          <a:prstGeom prst="rect">
            <a:avLst/>
          </a:prstGeom>
          <a:solidFill>
            <a:srgbClr val="00D4AA">
              <a:alpha val="5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8229600" y="498348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5D0"/>
                </a:solidFill>
              </a:rPr>
              <a:t>14 / 18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74320" y="49834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8C5D0"/>
                </a:solidFill>
              </a:rPr>
              <a:t>无敌暴龙战队 | 苏州大学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par>
              <p:cTn id="2" dur="300000" fill="hold" nodeType="clickEffect">
                <p:stCondLst>
                  <p:cond delay="indefinite">
                    <p:tn val="1"/>
                  </p:cond>
                </p:stCondLst>
                <p:anim presetClass="entr" presetSubtype="0" fill="hold">
                  <p:cBhvr addToSldr="1">
                    <p:stSel val="sBegin"/>
                    <p:endSel val="sEnd"/>
                    <p:tgtEl>
                      <p:spTgt spid="2"/>
                    </p:tgtEl>
                  </p:cBhvr>
                  <p:attList>
                    <p:attr name="style.opacity" fmla="val 0" to="100%"/>
                  </p:attList>
                </p:anim>
              </p:cTn>
            </p:par>
            <p:par>
              <p:cTn id="3" dur="300000" fill="hold" nodeType="clickEffect">
                <p:stCondLst>
                  <p:cond delay="200000">
                    <p:tn val="2"/>
                  </p:cond>
                </p:stCondLst>
                <p:anim presetClass="entr" presetSubtype="0" fill="hold">
                  <p:cBhvr addToSldr="1">
                    <p:stSel val="sBegin"/>
                    <p:endSel val="sEnd"/>
                    <p:tgtEl>
                      <p:spTgt spid="3"/>
                    </p:tgtEl>
                  </p:cBhvr>
                  <p:attList>
                    <p:attr name="style.opacity" fmla="val 0" to="100%"/>
                  </p:attList>
                </p:anim>
              </p:cTn>
            </p:par>
            <p:par>
              <p:cTn id="4" dur="600000" fill="hold" nodeType="clickEffect">
                <p:stCondLst>
                  <p:cond delay="500000">
                    <p:tn val="3"/>
                  </p:cond>
                </p:stCondLst>
                <p:anim presetClass="entr" presetSubtype="4" fill="hold">
                  <p:cBhvr addToSldr="1">
                    <p:stSel val="sBegin"/>
                    <p:endSel val="sEnd"/>
                    <p:tgtEl>
                      <p:spTgt spid="4"/>
                    </p:tgtEl>
                  </p:cBhvr>
                  <p:attList/>
                </p:anim>
              </p:cTn>
            </p:par>
            <p:par>
              <p:cTn id="5" dur="600000" fill="hold" nodeType="clickEffect">
                <p:stCondLst>
                  <p:cond delay="800000">
                    <p:tn val="4"/>
                  </p:cond>
                </p:stCondLst>
                <p:anim presetClass="entr" presetSubtype="4" fill="hold">
                  <p:cBhvr addToSldr="1">
                    <p:stSel val="sBegin"/>
                    <p:endSel val="sEnd"/>
                    <p:tgtEl>
                      <p:spTgt spid="5"/>
                    </p:tgtEl>
                  </p:cBhvr>
                  <p:attList/>
                </p:anim>
              </p:cTn>
            </p:par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36576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部署方案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D4AA"/>
                </a:solidFill>
              </a:rPr>
              <a:t>Docker Compose 一键容器化部署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2560320" cy="13716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371600"/>
            <a:ext cx="2560320" cy="73152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08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98DB"/>
                </a:solidFill>
              </a:rPr>
              <a:t>PostgreSQL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874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5D0"/>
                </a:solidFill>
              </a:rPr>
              <a:t>数据库服务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8C5D0"/>
                </a:solidFill>
              </a:rPr>
              <a:t>持久化存储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4688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AA"/>
                </a:solidFill>
              </a:rPr>
              <a:t>:5432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91840" y="18288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8C5D0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566160" y="1371600"/>
            <a:ext cx="2560320" cy="13716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2" name="Shape 10"/>
          <p:cNvSpPr/>
          <p:nvPr/>
        </p:nvSpPr>
        <p:spPr>
          <a:xfrm>
            <a:off x="3566160" y="1371600"/>
            <a:ext cx="256032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3" name="Text 11"/>
          <p:cNvSpPr/>
          <p:nvPr/>
        </p:nvSpPr>
        <p:spPr>
          <a:xfrm>
            <a:off x="3566160" y="1508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AA"/>
                </a:solidFill>
              </a:rPr>
              <a:t>Backend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0" y="1874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5D0"/>
                </a:solidFill>
              </a:rPr>
              <a:t>Spring Boot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8C5D0"/>
                </a:solidFill>
              </a:rPr>
              <a:t>REST API + WebSocket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66160" y="24688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AA"/>
                </a:solidFill>
              </a:rPr>
              <a:t>:8080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126480" y="18288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8C5D0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400800" y="1371600"/>
            <a:ext cx="2560320" cy="13716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0" y="1371600"/>
            <a:ext cx="2560320" cy="73152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1508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CDC4"/>
                </a:solidFill>
              </a:rPr>
              <a:t>Frontend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92240" y="1874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5D0"/>
                </a:solidFill>
              </a:rPr>
              <a:t>React + Nginx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8C5D0"/>
                </a:solidFill>
              </a:rPr>
              <a:t>静态托管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0" y="24688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AA"/>
                </a:solidFill>
              </a:rPr>
              <a:t>:80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017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D4AA"/>
                </a:solidFill>
              </a:rPr>
              <a:t>$ docker-compose up -d --build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3657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D4AA"/>
                </a:solidFill>
              </a:rPr>
              <a:t>访问地址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4023360"/>
            <a:ext cx="2651760" cy="5486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0690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前端大屏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42976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CDC4"/>
                </a:solidFill>
              </a:rPr>
              <a:t>http://localhost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91840" y="4023360"/>
            <a:ext cx="2651760" cy="5486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9" name="Text 27"/>
          <p:cNvSpPr/>
          <p:nvPr/>
        </p:nvSpPr>
        <p:spPr>
          <a:xfrm>
            <a:off x="3383280" y="40690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后端API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383280" y="42976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CDC4"/>
                </a:solidFill>
              </a:rPr>
              <a:t>http://localhost:8080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26480" y="4023360"/>
            <a:ext cx="2651760" cy="5486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2" name="Text 30"/>
          <p:cNvSpPr/>
          <p:nvPr/>
        </p:nvSpPr>
        <p:spPr>
          <a:xfrm>
            <a:off x="6217920" y="40690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Swagger文档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17920" y="42976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CDC4"/>
                </a:solidFill>
              </a:rPr>
              <a:t>http://localhost:8080/swagger-ui.html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solidFill>
            <a:srgbClr val="00D4AA">
              <a:alpha val="15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AA"/>
                </a:solidFill>
              </a:rPr>
              <a:t>🎯 智能演示数据自维护：12Gbps吞吐量 | 2万活跃IP | 5%异常流量比例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0" y="4937760"/>
            <a:ext cx="9144000" cy="18288"/>
          </a:xfrm>
          <a:prstGeom prst="rect">
            <a:avLst/>
          </a:prstGeom>
          <a:solidFill>
            <a:srgbClr val="00D4AA">
              <a:alpha val="5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8229600" y="498348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5D0"/>
                </a:solidFill>
              </a:rPr>
              <a:t>15 / 18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74320" y="49834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8C5D0"/>
                </a:solidFill>
              </a:rPr>
              <a:t>无敌暴龙战队 | 苏州大学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par>
              <p:cTn id="2" dur="300000" fill="hold" nodeType="clickEffect">
                <p:stCondLst>
                  <p:cond delay="indefinite">
                    <p:tn val="1"/>
                  </p:cond>
                </p:stCondLst>
                <p:anim presetClass="entr" presetSubtype="0" fill="hold">
                  <p:cBhvr addToSldr="1">
                    <p:stSel val="sBegin"/>
                    <p:endSel val="sEnd"/>
                    <p:tgtEl>
                      <p:spTgt spid="2"/>
                    </p:tgtEl>
                  </p:cBhvr>
                  <p:attList>
                    <p:attr name="style.opacity" fmla="val 0" to="100%"/>
                  </p:attList>
                </p:anim>
              </p:cTn>
            </p:par>
            <p:par>
              <p:cTn id="3" dur="300000" fill="hold" nodeType="clickEffect">
                <p:stCondLst>
                  <p:cond delay="200000">
                    <p:tn val="2"/>
                  </p:cond>
                </p:stCondLst>
                <p:anim presetClass="entr" presetSubtype="0" fill="hold">
                  <p:cBhvr addToSldr="1">
                    <p:stSel val="sBegin"/>
                    <p:endSel val="sEnd"/>
                    <p:tgtEl>
                      <p:spTgt spid="3"/>
                    </p:tgtEl>
                  </p:cBhvr>
                  <p:attList>
                    <p:attr name="style.opacity" fmla="val 0" to="100%"/>
                  </p:attList>
                </p:anim>
              </p:cTn>
            </p:par>
            <p:par>
              <p:cTn id="4" dur="600000" fill="hold" nodeType="clickEffect">
                <p:stCondLst>
                  <p:cond delay="500000">
                    <p:tn val="3"/>
                  </p:cond>
                </p:stCondLst>
                <p:anim presetClass="entr" presetSubtype="4" fill="hold">
                  <p:cBhvr addToSldr="1">
                    <p:stSel val="sBegin"/>
                    <p:endSel val="sEnd"/>
                    <p:tgtEl>
                      <p:spTgt spid="4"/>
                    </p:tgtEl>
                  </p:cBhvr>
                  <p:attList/>
                </p:anim>
              </p:cTn>
            </p:par>
            <p:par>
              <p:cTn id="5" dur="600000" fill="hold" nodeType="clickEffect">
                <p:stCondLst>
                  <p:cond delay="800000">
                    <p:tn val="4"/>
                  </p:cond>
                </p:stCondLst>
                <p:anim presetClass="entr" presetSubtype="4" fill="hold">
                  <p:cBhvr addToSldr="1">
                    <p:stSel val="sBegin"/>
                    <p:endSel val="sEnd"/>
                    <p:tgtEl>
                      <p:spTgt spid="5"/>
                    </p:tgtEl>
                  </p:cBhvr>
                  <p:attList/>
                </p:anim>
              </p:cTn>
            </p:par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36576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创新亮点总结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651760" cy="18288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AA"/>
                </a:solidFill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四套原创算法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88720" y="1874520"/>
            <a:ext cx="1188720" cy="1828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9659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EWMA-EAD、MDTCE、NBF-RS、TPM-PA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实现从「被动响应」到「主动预防」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914400"/>
            <a:ext cx="2651760" cy="18288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0058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ECDC4"/>
                </a:solidFill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383280" y="1508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6级下钻交互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023360" y="1874520"/>
            <a:ext cx="1188720" cy="18288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19659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全景→区域→楼宇→交换机→端口→单IP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对标企业级NetFlow Analyzer产品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914400"/>
            <a:ext cx="2651760" cy="18288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10058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498DB"/>
                </a:solidFill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217920" y="1508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3D地球攻击溯源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858000" y="1874520"/>
            <a:ext cx="1188720" cy="18288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19659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纯前端WebGL渲染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Canvas纹理+Jitter+Bloom特效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926080"/>
            <a:ext cx="2651760" cy="18288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017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B59B6"/>
                </a:solidFill>
              </a:rPr>
              <a:t>04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48640" y="3520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类Wireshark检索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188720" y="3886200"/>
            <a:ext cx="1188720" cy="18288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9776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CIDR通配+端口范围+协议组合检索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CSV导出精准取证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91840" y="2926080"/>
            <a:ext cx="2651760" cy="18288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5" name="Text 23"/>
          <p:cNvSpPr/>
          <p:nvPr/>
        </p:nvSpPr>
        <p:spPr>
          <a:xfrm>
            <a:off x="3291840" y="3017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67E22"/>
                </a:solidFill>
              </a:rPr>
              <a:t>05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3383280" y="3520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演示数据智能自维护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023360" y="3886200"/>
            <a:ext cx="1188720" cy="1828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8" name="Text 26"/>
          <p:cNvSpPr/>
          <p:nvPr/>
        </p:nvSpPr>
        <p:spPr>
          <a:xfrm>
            <a:off x="3383280" y="39776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12Gbps吞吐量自动续流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评审全程即开即用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2926080"/>
            <a:ext cx="2651760" cy="18288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0" name="Text 28"/>
          <p:cNvSpPr/>
          <p:nvPr/>
        </p:nvSpPr>
        <p:spPr>
          <a:xfrm>
            <a:off x="6126480" y="3017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4C3C"/>
                </a:solidFill>
              </a:rPr>
              <a:t>06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6217920" y="3520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高性能实时架构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858000" y="3886200"/>
            <a:ext cx="1188720" cy="18288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3" name="Text 31"/>
          <p:cNvSpPr/>
          <p:nvPr/>
        </p:nvSpPr>
        <p:spPr>
          <a:xfrm>
            <a:off x="6217920" y="39776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CompletableFuture并行查询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8C5D0"/>
                </a:solidFill>
              </a:rPr>
              <a:t>WebSocket≤1秒推送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4937760"/>
            <a:ext cx="9144000" cy="18288"/>
          </a:xfrm>
          <a:prstGeom prst="rect">
            <a:avLst/>
          </a:prstGeom>
          <a:solidFill>
            <a:srgbClr val="00D4AA">
              <a:alpha val="5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8229600" y="498348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5D0"/>
                </a:solidFill>
              </a:rPr>
              <a:t>16 / 18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74320" y="49834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8C5D0"/>
                </a:solidFill>
              </a:rPr>
              <a:t>无敌暴龙战队 | 苏州大学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par>
              <p:cTn id="2" dur="300000" fill="hold" nodeType="clickEffect">
                <p:stCondLst>
                  <p:cond delay="indefinite">
                    <p:tn val="1"/>
                  </p:cond>
                </p:stCondLst>
                <p:anim presetClass="entr" presetSubtype="0" fill="hold">
                  <p:cBhvr addToSldr="1">
                    <p:stSel val="sBegin"/>
                    <p:endSel val="sEnd"/>
                    <p:tgtEl>
                      <p:spTgt spid="2"/>
                    </p:tgtEl>
                  </p:cBhvr>
                  <p:attList>
                    <p:attr name="style.opacity" fmla="val 0" to="100%"/>
                  </p:attList>
                </p:anim>
              </p:cTn>
            </p:par>
            <p:par>
              <p:cTn id="3" dur="300000" fill="hold" nodeType="clickEffect">
                <p:stCondLst>
                  <p:cond delay="200000">
                    <p:tn val="2"/>
                  </p:cond>
                </p:stCondLst>
                <p:anim presetClass="entr" presetSubtype="0" fill="hold">
                  <p:cBhvr addToSldr="1">
                    <p:stSel val="sBegin"/>
                    <p:endSel val="sEnd"/>
                    <p:tgtEl>
                      <p:spTgt spid="3"/>
                    </p:tgtEl>
                  </p:cBhvr>
                  <p:attList>
                    <p:attr name="style.opacity" fmla="val 0" to="100%"/>
                  </p:attList>
                </p:anim>
              </p:cTn>
            </p:par>
            <p:par>
              <p:cTn id="4" dur="500000" fill="hold" nodeType="clickEffect">
                <p:stCondLst>
                  <p:cond delay="500000">
                    <p:tn val="3"/>
                  </p:cond>
                </p:stCondLst>
                <p:anim presetClass="entr" presetSubtype="4" fill="hold">
                  <p:cBhvr addToSldr="1">
                    <p:stSel val="sBegin"/>
                    <p:endSel val="sEnd"/>
                    <p:tgtEl>
                      <p:spTgt spid="4"/>
                    </p:tgtEl>
                  </p:cBhvr>
                  <p:attList/>
                </p:anim>
              </p:cTn>
            </p:par>
            <p:par>
              <p:cTn id="5" dur="500000" fill="hold" nodeType="clickEffect">
                <p:stCondLst>
                  <p:cond delay="700000">
                    <p:tn val="4"/>
                  </p:cond>
                </p:stCondLst>
                <p:anim presetClass="entr" presetSubtype="4" fill="hold">
                  <p:cBhvr addToSldr="1">
                    <p:stSel val="sBegin"/>
                    <p:endSel val="sEnd"/>
                    <p:tgtEl>
                      <p:spTgt spid="5"/>
                    </p:tgtEl>
                  </p:cBhvr>
                  <p:attList/>
                </p:anim>
              </p:cTn>
            </p:par>
            <p:par>
              <p:cTn id="6" dur="500000" fill="hold" nodeType="clickEffect">
                <p:stCondLst>
                  <p:cond delay="900000">
                    <p:tn val="5"/>
                  </p:cond>
                </p:stCondLst>
                <p:anim presetClass="entr" presetSubtype="4" fill="hold">
                  <p:cBhvr addToSldr="1">
                    <p:stSel val="sBegin"/>
                    <p:endSel val="sEnd"/>
                    <p:tgtEl>
                      <p:spTgt spid="6"/>
                    </p:tgtEl>
                  </p:cBhvr>
                  <p:attList/>
                </p:anim>
              </p:cTn>
            </p:par>
            <p:par>
              <p:cTn id="7" dur="500000" fill="hold" nodeType="clickEffect">
                <p:stCondLst>
                  <p:cond delay="1100000">
                    <p:tn val="6"/>
                  </p:cond>
                </p:stCondLst>
                <p:anim presetClass="entr" presetSubtype="4" fill="hold">
                  <p:cBhvr addToSldr="1">
                    <p:stSel val="sBegin"/>
                    <p:endSel val="sEnd"/>
                    <p:tgtEl>
                      <p:spTgt spid="7"/>
                    </p:tgtEl>
                  </p:cBhvr>
                  <p:attList/>
                </p:anim>
              </p:cTn>
            </p:par>
            <p:par>
              <p:cTn id="8" dur="500000" fill="hold" nodeType="clickEffect">
                <p:stCondLst>
                  <p:cond delay="1300000">
                    <p:tn val="7"/>
                  </p:cond>
                </p:stCondLst>
                <p:anim presetClass="entr" presetSubtype="4" fill="hold">
                  <p:cBhvr addToSldr="1">
                    <p:stSel val="sBegin"/>
                    <p:endSel val="sEnd"/>
                    <p:tgtEl>
                      <p:spTgt spid="8"/>
                    </p:tgtEl>
                  </p:cBhvr>
                  <p:attList/>
                </p:anim>
              </p:cTn>
            </p:par>
            <p:par>
              <p:cTn id="9" dur="500000" fill="hold" nodeType="clickEffect">
                <p:stCondLst>
                  <p:cond delay="1500000">
                    <p:tn val="8"/>
                  </p:cond>
                </p:stCondLst>
                <p:anim presetClass="entr" presetSubtype="4" fill="hold">
                  <p:cBhvr addToSldr="1">
                    <p:stSel val="sBegin"/>
                    <p:endSel val="sEnd"/>
                    <p:tgtEl>
                      <p:spTgt spid="9"/>
                    </p:tgtEl>
                  </p:cBhvr>
                  <p:attList/>
                </p:anim>
              </p:cTn>
            </p:par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36576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未来展望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651760" cy="2560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14400"/>
            <a:ext cx="265176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D4AA"/>
                </a:solidFill>
              </a:rPr>
              <a:t>算法深化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0"/>
                </a:solidFill>
              </a:rPr>
              <a:t>• 引入深度学习模型提升检测精度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0"/>
                </a:solidFill>
              </a:rPr>
              <a:t>• 基于时序网络的异常检测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651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0"/>
                </a:solidFill>
              </a:rPr>
              <a:t>• 用户行为分析(UEBA)集成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914400"/>
            <a:ext cx="2651760" cy="2560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1" name="Shape 9"/>
          <p:cNvSpPr/>
          <p:nvPr/>
        </p:nvSpPr>
        <p:spPr>
          <a:xfrm>
            <a:off x="3291840" y="914400"/>
            <a:ext cx="2651760" cy="73152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1097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ECDC4"/>
                </a:solidFill>
              </a:rPr>
              <a:t>场景拓展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74720" y="1554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0"/>
                </a:solidFill>
              </a:rPr>
              <a:t>• 支持5G/IoT流量监控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74720" y="2103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0"/>
                </a:solidFill>
              </a:rPr>
              <a:t>• 多校区集中管控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0" y="2651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0"/>
                </a:solidFill>
              </a:rPr>
              <a:t>• 云原生架构升级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914400"/>
            <a:ext cx="2651760" cy="2560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7" name="Shape 15"/>
          <p:cNvSpPr/>
          <p:nvPr/>
        </p:nvSpPr>
        <p:spPr>
          <a:xfrm>
            <a:off x="6126480" y="914400"/>
            <a:ext cx="2651760" cy="73152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1097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498DB"/>
                </a:solidFill>
              </a:rPr>
              <a:t>生态建设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09360" y="1554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0"/>
                </a:solidFill>
              </a:rPr>
              <a:t>• 开放API供第三方集成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09360" y="2103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0"/>
                </a:solidFill>
              </a:rPr>
              <a:t>• 威胁情报共享联盟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09360" y="2651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0"/>
                </a:solidFill>
              </a:rPr>
              <a:t>• 行业标准化输出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solidFill>
            <a:srgbClr val="00D4AA">
              <a:alpha val="1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749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</a:rPr>
              <a:t>愿景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40690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为高校网络安全治理提供可复制、可推广的标准化参考范式，成为智慧校园网络运维的标杆解决方案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4937760"/>
            <a:ext cx="9144000" cy="18288"/>
          </a:xfrm>
          <a:prstGeom prst="rect">
            <a:avLst/>
          </a:prstGeom>
          <a:solidFill>
            <a:srgbClr val="00D4AA">
              <a:alpha val="5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0" y="498348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5D0"/>
                </a:solidFill>
              </a:rPr>
              <a:t>17 / 18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74320" y="49834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8C5D0"/>
                </a:solidFill>
              </a:rPr>
              <a:t>无敌暴龙战队 | 苏州大学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par>
              <p:cTn id="2" dur="300000" fill="hold" nodeType="clickEffect">
                <p:stCondLst>
                  <p:cond delay="indefinite">
                    <p:tn val="1"/>
                  </p:cond>
                </p:stCondLst>
                <p:anim presetClass="entr" presetSubtype="0" fill="hold">
                  <p:cBhvr addToSldr="1">
                    <p:stSel val="sBegin"/>
                    <p:endSel val="sEnd"/>
                    <p:tgtEl>
                      <p:spTgt spid="2"/>
                    </p:tgtEl>
                  </p:cBhvr>
                  <p:attList>
                    <p:attr name="style.opacity" fmla="val 0" to="100%"/>
                  </p:attList>
                </p:anim>
              </p:cTn>
            </p:par>
            <p:par>
              <p:cTn id="3" dur="300000" fill="hold" nodeType="clickEffect">
                <p:stCondLst>
                  <p:cond delay="200000">
                    <p:tn val="2"/>
                  </p:cond>
                </p:stCondLst>
                <p:anim presetClass="entr" presetSubtype="0" fill="hold">
                  <p:cBhvr addToSldr="1">
                    <p:stSel val="sBegin"/>
                    <p:endSel val="sEnd"/>
                    <p:tgtEl>
                      <p:spTgt spid="3"/>
                    </p:tgtEl>
                  </p:cBhvr>
                  <p:attList>
                    <p:attr name="style.opacity" fmla="val 0" to="100%"/>
                  </p:attList>
                </p:anim>
              </p:cTn>
            </p:par>
            <p:par>
              <p:cTn id="4" dur="600000" fill="hold" nodeType="clickEffect">
                <p:stCondLst>
                  <p:cond delay="500000">
                    <p:tn val="3"/>
                  </p:cond>
                </p:stCondLst>
                <p:anim presetClass="entr" presetSubtype="4" fill="hold">
                  <p:cBhvr addToSldr="1">
                    <p:stSel val="sBegin"/>
                    <p:endSel val="sEnd"/>
                    <p:tgtEl>
                      <p:spTgt spid="4"/>
                    </p:tgtEl>
                  </p:cBhvr>
                  <p:attList/>
                </p:anim>
              </p:cTn>
            </p:par>
            <p:par>
              <p:cTn id="5" dur="600000" fill="hold" nodeType="clickEffect">
                <p:stCondLst>
                  <p:cond delay="800000">
                    <p:tn val="4"/>
                  </p:cond>
                </p:stCondLst>
                <p:anim presetClass="entr" presetSubtype="4" fill="hold">
                  <p:cBhvr addToSldr="1">
                    <p:stSel val="sBegin"/>
                    <p:endSel val="sEnd"/>
                    <p:tgtEl>
                      <p:spTgt spid="5"/>
                    </p:tgtEl>
                  </p:cBhvr>
                  <p:attList/>
                </p:anim>
              </p:cTn>
            </p:par>
            <p:par>
              <p:cTn id="6" dur="600000" fill="hold" nodeType="clickEffect">
                <p:stCondLst>
                  <p:cond delay="1100000">
                    <p:tn val="5"/>
                  </p:cond>
                </p:stCondLst>
                <p:anim presetClass="entr" presetSubtype="4" fill="hold">
                  <p:cBhvr addToSldr="1">
                    <p:stSel val="sBegin"/>
                    <p:endSel val="sEnd"/>
                    <p:tgtEl>
                      <p:spTgt spid="6"/>
                    </p:tgtEl>
                  </p:cBhvr>
                  <p:attList/>
                </p:anim>
              </p:cTn>
            </p:par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0D4AA">
              <a:alpha val="1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3200400"/>
            <a:ext cx="4572000" cy="4572000"/>
          </a:xfrm>
          <a:prstGeom prst="ellipse">
            <a:avLst/>
          </a:prstGeom>
          <a:solidFill>
            <a:srgbClr val="1A3A5C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3657600"/>
            <a:ext cx="2743200" cy="2743200"/>
          </a:xfrm>
          <a:prstGeom prst="ellipse">
            <a:avLst/>
          </a:prstGeom>
          <a:solidFill>
            <a:srgbClr val="4ECDC4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45920"/>
            <a:ext cx="54864" cy="18288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459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感谢聆听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800" kern="0" dirty="0">
                <a:solidFill>
                  <a:srgbClr val="00D4AA"/>
                </a:solidFill>
              </a:rPr>
              <a:t>THANK YOU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31520" y="3017520"/>
            <a:ext cx="3657600" cy="18288"/>
          </a:xfrm>
          <a:prstGeom prst="rect">
            <a:avLst/>
          </a:prstGeom>
          <a:solidFill>
            <a:srgbClr val="00D4AA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200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5D0"/>
                </a:solidFill>
              </a:rPr>
              <a:t>面向智慧校园的细粒度网络流量监控与安全态势感知系统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657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</a:rPr>
              <a:t>无敌暴龙战队</a:t>
            </a:r>
            <a:pPr indent="0" marL="0">
              <a:buNone/>
            </a:pPr>
            <a:r>
              <a:rPr lang="en-US" sz="1300" dirty="0">
                <a:solidFill>
                  <a:srgbClr val="B8C5D0"/>
                </a:solidFill>
              </a:rPr>
              <a:t xml:space="preserve">  |  T2601487</a:t>
            </a:r>
            <a:pPr indent="0" marL="0">
              <a:buNone/>
            </a:pPr>
            <a:r>
              <a:rPr lang="en-US" sz="1300" dirty="0">
                <a:solidFill>
                  <a:srgbClr val="B8C5D0"/>
                </a:solidFill>
              </a:rPr>
              <a:t xml:space="preserve">  |  苏州大学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CDC4"/>
                </a:solidFill>
              </a:rPr>
              <a:t>赛题编号：A19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0" y="4572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8C5D0"/>
                </a:solidFill>
              </a:rPr>
              <a:t>智慧校园 · 安全先行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par>
              <p:cTn id="2" dur="500000" fill="hold" nodeType="clickEffect">
                <p:stCondLst>
                  <p:cond delay="indefinite">
                    <p:tn val="1"/>
                  </p:cond>
                </p:stCondLst>
                <p:anim presetClass="entr" presetSubtype="0" fill="hold">
                  <p:cBhvr addToSldr="1">
                    <p:stSel val="sBegin"/>
                    <p:endSel val="sEnd"/>
                    <p:tgtEl>
                      <p:spTgt spid="2"/>
                    </p:tgtEl>
                  </p:cBhvr>
                  <p:attList>
                    <p:attr name="style.opacity" fmla="val 0" to="100%"/>
                  </p:attList>
                </p:anim>
              </p:cTn>
            </p:par>
            <p:par>
              <p:cTn id="3" dur="800000" fill="hold" nodeType="clickEffect">
                <p:stCondLst>
                  <p:cond delay="300000">
                    <p:tn val="2"/>
                  </p:cond>
                </p:stCondLst>
                <p:anim presetClass="entr" presetSubtype="4" fill="hold">
                  <p:cBhvr addToSldr="1">
                    <p:stSel val="sBegin"/>
                    <p:endSel val="sEnd"/>
                    <p:tgtEl>
                      <p:spTgt spid="3"/>
                    </p:tgtEl>
                  </p:cBhvr>
                  <p:attList/>
                </p:anim>
              </p:cTn>
            </p:par>
            <p:par>
              <p:cTn id="4" dur="500000" fill="hold" nodeType="clickEffect">
                <p:stCondLst>
                  <p:cond delay="800000">
                    <p:tn val="3"/>
                  </p:cond>
                </p:stCondLst>
                <p:anim presetClass="entr" presetSubtype="0" fill="hold">
                  <p:cBhvr addToSldr="1">
                    <p:stSel val="sBegin"/>
                    <p:endSel val="sEnd"/>
                    <p:tgtEl>
                      <p:spTgt spid="4"/>
                    </p:tgtEl>
                  </p:cBhvr>
                  <p:attList>
                    <p:attr name="style.opacity" fmla="val 0" to="100%"/>
                  </p:attList>
                </p:anim>
              </p:cTn>
            </p:par>
            <p:par>
              <p:cTn id="5" dur="500000" fill="hold" nodeType="clickEffect">
                <p:stCondLst>
                  <p:cond delay="1000000">
                    <p:tn val="4"/>
                  </p:cond>
                </p:stCondLst>
                <p:anim presetClass="entr" presetSubtype="0" fill="hold">
                  <p:cBhvr addToSldr="1">
                    <p:stSel val="sBegin"/>
                    <p:endSel val="sEnd"/>
                    <p:tgtEl>
                      <p:spTgt spid="5"/>
                    </p:tgtEl>
                  </p:cBhvr>
                  <p:attList>
                    <p:attr name="style.opacity" fmla="val 0" to="100%"/>
                  </p:attList>
                </p:anim>
              </p:cTn>
            </p:par>
            <p:par>
              <p:cTn id="6" dur="500000" fill="hold" nodeType="clickEffect">
                <p:stCondLst>
                  <p:cond delay="1200000">
                    <p:tn val="5"/>
                  </p:cond>
                </p:stCondLst>
                <p:anim presetClass="entr" presetSubtype="0" fill="hold">
                  <p:cBhvr addToSldr="1">
                    <p:stSel val="sBegin"/>
                    <p:endSel val="sEnd"/>
                    <p:tgtEl>
                      <p:spTgt spid="6"/>
                    </p:tgtEl>
                  </p:cBhvr>
                  <p:attList>
                    <p:attr name="style.opacity" fmla="val 0" to="100%"/>
                  </p:attList>
                </p:anim>
              </p:cTn>
            </p:par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项目简介PPT - A19</dc:title>
  <dc:subject>面向智慧校园的细粒度网络流量监控与安全态势感知系统</dc:subject>
  <dc:creator>无敌暴龙战队</dc:creator>
  <cp:lastModifiedBy>无敌暴龙战队</cp:lastModifiedBy>
  <cp:revision>1</cp:revision>
  <dcterms:created xsi:type="dcterms:W3CDTF">2026-04-16T23:29:03Z</dcterms:created>
  <dcterms:modified xsi:type="dcterms:W3CDTF">2026-04-16T23:29:03Z</dcterms:modified>
</cp:coreProperties>
</file>