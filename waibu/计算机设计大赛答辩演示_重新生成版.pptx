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 w="12700">
            <a:solidFill>
              <a:srgbClr val="06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5C">
              <a:alpha val="55000"/>
            </a:srgbClr>
          </a:solidFill>
          <a:ln w="12700">
            <a:solidFill>
              <a:srgbClr val="0B3A5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005840"/>
            <a:ext cx="5303520" cy="5303520"/>
          </a:xfrm>
          <a:prstGeom prst="arc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4389120"/>
            <a:ext cx="3474720" cy="3474720"/>
          </a:xfrm>
          <a:prstGeom prst="arc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58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8FE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中国大学生计算机设计大赛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115568"/>
            <a:ext cx="19202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08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FF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面向智慧校园的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细粒度网络流量监控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761488"/>
            <a:ext cx="9601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与安全态势感知系统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4672" y="373075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E4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NetFlow · Intelligent Detection · Visual Traceback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224528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06B6D4">
              <a:alpha val="9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8853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秒级监控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0" y="4224528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428853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双引擎检测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4224528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428853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3D溯源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0" y="4224528"/>
            <a:ext cx="987552" cy="310896"/>
          </a:xfrm>
          <a:prstGeom prst="roundRect">
            <a:avLst>
              <a:gd name="adj" fmla="val 14706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288536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公网可演示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5806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 无敌暴龙战队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52360" y="5833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E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http://8.146.228.64:3000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840480" cy="3840480"/>
          </a:xfrm>
          <a:prstGeom prst="arc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212080"/>
            <a:ext cx="2926080" cy="2926080"/>
          </a:xfrm>
          <a:prstGeom prst="arc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852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我们解决什么问题？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Campus Traffic to Security Situation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444752"/>
            <a:ext cx="2286000" cy="290779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44752" y="1783080"/>
            <a:ext cx="841248" cy="841248"/>
          </a:xfrm>
          <a:prstGeom prst="ellipse">
            <a:avLst/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4752" y="19385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" y="3246120"/>
            <a:ext cx="18288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传统SNMP分钟级采样，突发流量和异常峰值容易被平均掉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1444752"/>
            <a:ext cx="2286000" cy="290779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33672" y="1783080"/>
            <a:ext cx="841248" cy="841248"/>
          </a:xfrm>
          <a:prstGeom prst="ellipse">
            <a:avLst/>
          </a:prstGeom>
          <a:solidFill>
            <a:srgbClr val="EF4444">
              <a:alpha val="9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9385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4904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查不准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749040" y="3246120"/>
            <a:ext cx="18288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缺少面向IP、端口、协议、CIDR的细粒度检索和下钻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444752"/>
            <a:ext cx="2286000" cy="290779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22592" y="1783080"/>
            <a:ext cx="841248" cy="841248"/>
          </a:xfrm>
          <a:prstGeom prst="ellipse">
            <a:avLst/>
          </a:prstGeom>
          <a:solidFill>
            <a:srgbClr val="7C3AED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19385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判不稳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37960" y="3246120"/>
            <a:ext cx="18288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固定阈值不适应校园网昼夜波动，误报和漏报并存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98280" y="1444752"/>
            <a:ext cx="2286000" cy="290779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06B6D4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811512" y="1783080"/>
            <a:ext cx="841248" cy="841248"/>
          </a:xfrm>
          <a:prstGeom prst="ellipse">
            <a:avLst/>
          </a:prstGeom>
          <a:solidFill>
            <a:srgbClr val="06B6D4">
              <a:alpha val="9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938528"/>
            <a:ext cx="841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2688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讲不明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326880" y="3246120"/>
            <a:ext cx="182880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安全事件缺少可视化溯源链路，答辩与运维展示成本高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0" y="4956048"/>
            <a:ext cx="8961120" cy="640080"/>
          </a:xfrm>
          <a:prstGeom prst="chevron">
            <a:avLst/>
          </a:prstGeom>
          <a:solidFill>
            <a:srgbClr val="2563EB">
              <a:alpha val="9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5175504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目标：把校园网络从“事后查日志”升级为“实时看态势、自动判威胁、快速做溯源”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9436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1018520" y="6537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840480" cy="3840480"/>
          </a:xfrm>
          <a:prstGeom prst="arc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212080"/>
            <a:ext cx="2926080" cy="2926080"/>
          </a:xfrm>
          <a:prstGeom prst="arc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852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项目简介：一套可运行的校园网安全态势平台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Overview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1298448"/>
            <a:ext cx="5029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572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系统定位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2011680"/>
            <a:ext cx="43891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面向智慧校园网络运维场景，围绕流量采集、实时分析、异常检测、攻击溯源和态势展示构建全栈系统。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30632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3063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ECharts + WebGL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5021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5021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 + PostgreSQL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94106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9410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 + WebSocket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437997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43799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公网双机：主站 + 打流端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1298448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90488" y="14081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12Gbps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90488" y="1865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模拟吞吐能力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641080" y="1298448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50808" y="14081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27类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50808" y="1865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协议识别分析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080760" y="2587752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90488" y="2697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4套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190488" y="3154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原创检测算法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641080" y="2587752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50808" y="2697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6级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750808" y="3154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流量下钻粒度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080760" y="4160520"/>
            <a:ext cx="4800600" cy="1572768"/>
          </a:xfrm>
          <a:prstGeom prst="roundRect">
            <a:avLst>
              <a:gd name="adj" fmla="val 4651"/>
            </a:avLst>
          </a:prstGeom>
          <a:solidFill>
            <a:srgbClr val="F0FDFA"/>
          </a:solidFill>
          <a:ln w="10160">
            <a:solidFill>
              <a:srgbClr val="06B6D4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答辩演示方式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55080" y="4809744"/>
            <a:ext cx="4315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前端公网地址：http://8.146.228.64:3000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后端接口地址：http://8.146.228.64:8080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打流端注入PCAP样例，现场观察告警与态势图变化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9436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11018520" y="6537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840480" cy="3840480"/>
          </a:xfrm>
          <a:prstGeom prst="arc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212080"/>
            <a:ext cx="2926080" cy="2926080"/>
          </a:xfrm>
          <a:prstGeom prst="arc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73152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852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总体设计：采集、分析、检测、展示分层解耦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536192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06B6D4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536192"/>
            <a:ext cx="224028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2359152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NetFlow / PCAP打流 / 协议解析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99816" y="22128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66160" y="1536192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1536192"/>
            <a:ext cx="224028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49040" y="2359152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时间桶聚合 / 动态基线 / 画像缓存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88736" y="22128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55080" y="1536192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1536192"/>
            <a:ext cx="22402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2359152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 / 原创算法 / 告警归因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77656" y="22128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0" y="1536192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0" y="1536192"/>
            <a:ext cx="224028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18288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26880" y="2359152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ECharts图表 / WebSocket推送 / 3D溯源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" y="416052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416052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416052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4128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为什么分层？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24128" y="475488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降低耦合：采集高频、检测异步、展示实时，各层可独立扩展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36008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为什么动态基线？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636008" y="475488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校园网昼夜波动明显，固定阈值容易误报，基线随历史数据自适应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47888" y="44074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为什么双引擎？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247888" y="475488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规则覆盖已知威胁，算法识别未知模式，兼顾召回率与准确率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9436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11018520" y="6537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840480" cy="3840480"/>
          </a:xfrm>
          <a:prstGeom prst="arc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212080"/>
            <a:ext cx="2926080" cy="2926080"/>
          </a:xfrm>
          <a:prstGeom prst="arc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73152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852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核心功能：从实时监测到事件溯源的闭环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Functions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353312"/>
            <a:ext cx="3154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160934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00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63624" y="15819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实时流量大屏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563624" y="1993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秒级展示总流量、协议分布、活跃IP、趋势曲线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80560" y="1353312"/>
            <a:ext cx="3154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60934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700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66944" y="15819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细粒度流量检索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66944" y="1993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支持IP/CIDR、端口范围、协议、时间窗组合筛选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83880" y="1353312"/>
            <a:ext cx="3154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66760" y="160934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17007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70264" y="15819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异常检测中心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970264" y="19933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规则告警与算法评分统一归集，形成事件列表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3410712"/>
            <a:ext cx="3154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0120" y="3666744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7581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63624" y="36393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IP画像与下钻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563624" y="4050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按IP聚合连接、流量、协议、风险行为，定位异常源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3410712"/>
            <a:ext cx="3154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66744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581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66944" y="36393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3D攻击态势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266944" y="4050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WebGL地球与大圆弧路径展示攻击来源与目标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83880" y="3410712"/>
            <a:ext cx="315468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06B6D4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66760" y="3666744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37581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70264" y="36393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现场演示打流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970264" y="40507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Linux端PCAP样例注入，复现实验攻击与告警变化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31720" y="5440680"/>
            <a:ext cx="75438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920240" y="5650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→ 分析 → 告警 → 下钻 → 溯源 → 演示验证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9436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11018520" y="6537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840480" cy="3840480"/>
          </a:xfrm>
          <a:prstGeom prst="arc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212080"/>
            <a:ext cx="2926080" cy="2926080"/>
          </a:xfrm>
          <a:prstGeom prst="arc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73152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852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算法创新：四套原创检测算法形成互补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Innovation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" y="1298448"/>
            <a:ext cx="48280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298448"/>
            <a:ext cx="118872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1499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EWMA熵异常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24712" y="19568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流量偏离 + 端口/协议熵变化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24712" y="23591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发现DDoS、扫描等分布异常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217920" y="1298448"/>
            <a:ext cx="48280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98448"/>
            <a:ext cx="118872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4996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行为指纹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65392" y="19568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IP通信模式、端口访问、时间行为画像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65392" y="235915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识别偏离历史习惯的主机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7240" y="3474720"/>
            <a:ext cx="48280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474720"/>
            <a:ext cx="118872" cy="15727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4712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拓扑扩散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24712" y="41330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攻击路径、连接关系、风险传播建模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24712" y="453542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发现横向移动和扩散趋势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217920" y="3474720"/>
            <a:ext cx="48280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3474720"/>
            <a:ext cx="118872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因果归因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565392" y="41330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从异常指标反推最可能触发原因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65392" y="453542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让告警从“有异常”变成“为什么异常”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2960" y="5504688"/>
            <a:ext cx="10561320" cy="493776"/>
          </a:xfrm>
          <a:prstGeom prst="roundRect">
            <a:avLst>
              <a:gd name="adj" fmla="val 14815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51560" y="5650992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创新点不是单个算法堆砌，而是将“统计偏离、行为画像、图关系、因果解释”串成可解释的检测链路。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11018520" y="6537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840480" cy="3840480"/>
          </a:xfrm>
          <a:prstGeom prst="arc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212080"/>
            <a:ext cx="2926080" cy="2926080"/>
          </a:xfrm>
          <a:prstGeom prst="arc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852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工程实现亮点：不是原型，而是可部署系统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Highlights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1380744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0240" y="1325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分层服务，采集、聚合、检测、告警模块解耦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2093976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039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920240" y="2039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保存流量记录、告警事件、IP画像与统计结果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2807208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2752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实时通信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20240" y="27523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推送关键指标，前端无需频繁轮询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3520440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34655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920240" y="34655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构建趋势图/分布图，WebGL 构建攻击态势地球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4233672"/>
            <a:ext cx="82296" cy="822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178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920240" y="4178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Windows主站运行前后端，Linux端负责PCAP打流注入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29400" y="1280160"/>
            <a:ext cx="4389120" cy="3977640"/>
          </a:xfrm>
          <a:prstGeom prst="roundRect">
            <a:avLst>
              <a:gd name="adj" fmla="val 1839"/>
            </a:avLst>
          </a:prstGeom>
          <a:solidFill>
            <a:srgbClr val="F0FDF4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1627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公网部署链路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15200" y="2240280"/>
            <a:ext cx="1325880" cy="566928"/>
          </a:xfrm>
          <a:prstGeom prst="roundRect">
            <a:avLst>
              <a:gd name="adj" fmla="val 8065"/>
            </a:avLst>
          </a:prstGeom>
          <a:solidFill>
            <a:srgbClr val="2563E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2386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用户/评委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0" y="3246120"/>
            <a:ext cx="1325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33924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:3000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89720" y="3246120"/>
            <a:ext cx="1325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62872" y="33924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:8080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89720" y="2240280"/>
            <a:ext cx="1325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2386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Linux打流端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PCAP注入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973568" y="2807208"/>
            <a:ext cx="0" cy="384048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641080" y="3529584"/>
            <a:ext cx="50292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857232" y="2816352"/>
            <a:ext cx="0" cy="-384048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887968" y="2523744"/>
            <a:ext cx="-32004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967728" y="46817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演示时可边打流边观察告警、趋势和攻击路径变化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11018520" y="6537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840480" cy="3840480"/>
          </a:xfrm>
          <a:prstGeom prst="arc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212080"/>
            <a:ext cx="2926080" cy="2926080"/>
          </a:xfrm>
          <a:prstGeom prst="arc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73152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852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现场演示路线：3分钟讲清系统价值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 Script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150876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664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1837944"/>
            <a:ext cx="12618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" y="251460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打开大屏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69264" y="31272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展示实时流量、协议分布、核心指标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447288" y="1508760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1664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78808" y="1837944"/>
            <a:ext cx="12618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35808" y="251460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45536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启动打流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3182112" y="31272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Linux端注入PCAP样例，制造可控异常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660136" y="1508760"/>
            <a:ext cx="658368" cy="6583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0136" y="1664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91656" y="1837944"/>
            <a:ext cx="12618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248656" y="251460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58384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观察告警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394960" y="31272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异常检测中心出现规则/算法告警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72984" y="1508760"/>
            <a:ext cx="658368" cy="6583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2984" y="1664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04504" y="1837944"/>
            <a:ext cx="12618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61504" y="251460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71232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下钻IP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7607808" y="31272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查看异常IP画像、连接关系、协议行为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0085832" y="1508760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85832" y="1664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674352" y="251460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784080" y="27614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展示溯源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9820656" y="3127248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3D地球展示攻击来源、路径和目标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1143000" y="4864608"/>
            <a:ext cx="9921240" cy="658368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417320" y="5074920"/>
            <a:ext cx="9372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答辩话术主线：不是单独展示页面，而是演示“异常如何被系统发现、解释、定位和呈现”。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59436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1018520" y="6537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234440"/>
            <a:ext cx="3840480" cy="3840480"/>
          </a:xfrm>
          <a:prstGeom prst="arc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212080"/>
            <a:ext cx="2926080" cy="2926080"/>
          </a:xfrm>
          <a:prstGeom prst="arc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CBD5E1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73152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3840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5852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创新点总结：算法、系统、展示三位一体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80960" y="640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Innovation Summary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1280160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1280160"/>
            <a:ext cx="14630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508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算法创新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34640" y="15087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四套原创检测算法，覆盖统计异常、行为异常、拓扑扩散和因果解释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2331720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2331720"/>
            <a:ext cx="14630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5880" y="2560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系统创新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34640" y="2560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秒级采集 + 动态基线 + 规则算法双引擎，形成完整安全闭环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0120" y="3383280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10B981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3383280"/>
            <a:ext cx="14630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3611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交互创新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34640" y="36118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类Wireshark筛选与6级下钻，让安全分析从宏观态势落到单IP证据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4434840"/>
            <a:ext cx="101955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" y="4434840"/>
            <a:ext cx="146304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展示创新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834640" y="46634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WebGL 3D攻击态势与公网演示部署，增强答辩展示和运维可读性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5486400"/>
            <a:ext cx="914400" cy="502920"/>
          </a:xfrm>
          <a:prstGeom prst="hexagon">
            <a:avLst/>
          </a:prstGeom>
          <a:solidFill>
            <a:srgbClr val="EF4444">
              <a:alpha val="9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5650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 · 可解释 · 可演示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4360" y="6565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无敌暴龙战队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1018520" y="6537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2F"/>
          </a:solidFill>
          <a:ln w="12700">
            <a:solidFill>
              <a:srgbClr val="061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280160"/>
            <a:ext cx="5212080" cy="5212080"/>
          </a:xfrm>
          <a:prstGeom prst="arc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841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1444752"/>
            <a:ext cx="1234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84832"/>
            <a:ext cx="82296" cy="822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02996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已完成：公网部署、实时流量监控、异常检测、IP画像、3D溯源闭环。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270662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65176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核心价值：让校园网安全从被动排查变成主动感知和快速定位。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332841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4712" y="327355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后续方向：接入真实校园网镜像流量，扩展模型训练与联动处置能力。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感谢各位老师批评指正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96112" y="5715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 无敌暴龙战队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苏州大学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面向智慧校园的细粒度网络流量监控与安全态势感知系统</dc:title>
  <dc:subject>计算机设计大赛答辩</dc:subject>
  <dc:creator>苏州大学 无敌暴龙战队</dc:creator>
  <cp:lastModifiedBy>苏州大学 无敌暴龙战队</cp:lastModifiedBy>
  <cp:revision>1</cp:revision>
  <dcterms:created xsi:type="dcterms:W3CDTF">2026-05-13T01:37:50Z</dcterms:created>
  <dcterms:modified xsi:type="dcterms:W3CDTF">2026-05-13T01:37:50Z</dcterms:modified>
</cp:coreProperties>
</file>