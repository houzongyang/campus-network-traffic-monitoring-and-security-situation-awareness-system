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2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tags" Target="../tags/tag15.xml"/><Relationship Id="rId16" Type="http://schemas.openxmlformats.org/officeDocument/2006/relationships/tags" Target="../tags/tag16.xml"/><Relationship Id="rId17" Type="http://schemas.openxmlformats.org/officeDocument/2006/relationships/tags" Target="../tags/tag17.xml"/><Relationship Id="rId18" Type="http://schemas.openxmlformats.org/officeDocument/2006/relationships/tags" Target="../tags/tag18.xml"/><Relationship Id="rId19" Type="http://schemas.openxmlformats.org/officeDocument/2006/relationships/tags" Target="../tags/tag19.xml"/><Relationship Id="rId20" Type="http://schemas.openxmlformats.org/officeDocument/2006/relationships/tags" Target="../tags/tag20.xml"/><Relationship Id="rId21" Type="http://schemas.openxmlformats.org/officeDocument/2006/relationships/image" Target="../media/image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371600"/>
            <a:ext cx="109728" cy="228600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457200"/>
            <a:ext cx="2194560" cy="411480"/>
          </a:xfrm>
          <a:prstGeom prst="rect">
            <a:avLst/>
          </a:prstGeom>
          <a:solidFill>
            <a:srgbClr val="1B9AAA"/>
          </a:solidFill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457200"/>
            <a:ext cx="2194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计算机设计大赛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面向智慧校园的细粒度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网络流量监控与安全态势感知系统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2743200" cy="36576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320040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2026年中国大学生计算机设计大赛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0" y="2560320"/>
            <a:ext cx="2560320" cy="2560320"/>
          </a:xfrm>
          <a:prstGeom prst="ellipse">
            <a:avLst/>
          </a:prstGeom>
          <a:solidFill>
            <a:srgbClr val="0F4C75">
              <a:alpha val="70000"/>
            </a:srgbClr>
          </a:solidFill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498080" y="3200400"/>
            <a:ext cx="1645920" cy="1645920"/>
          </a:xfrm>
          <a:prstGeom prst="ellipse">
            <a:avLst/>
          </a:prstGeom>
          <a:solidFill>
            <a:srgbClr val="1B9AAA">
              <a:alpha val="60000"/>
            </a:srgbClr>
          </a:solidFill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D1B2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答辩提纲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13716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463040"/>
            <a:ext cx="73152" cy="137160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60020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项目背景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高校网络运维的挑战与机遇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651760" cy="13716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291840" y="1463040"/>
            <a:ext cx="73152" cy="137160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474720" y="160020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20574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痛点分析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23774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三大核心问题深度剖析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651760" cy="13716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26480" y="1463040"/>
            <a:ext cx="73152" cy="137160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309360" y="160020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09360" y="20574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解决方案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23774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四层架构全栈解决方案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2651760" cy="13716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57200" y="3108960"/>
            <a:ext cx="73152" cy="137160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" y="324612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40080" y="37033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核心功能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" y="40233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全景大屏 / 威胁感知 / 流检索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3108960"/>
            <a:ext cx="2651760" cy="13716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3291840" y="3108960"/>
            <a:ext cx="73152" cy="137160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474720" y="324612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474720" y="37033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算法创新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474720" y="40233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四套原创算法技术突破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3108960"/>
            <a:ext cx="2651760" cy="13716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126480" y="3108960"/>
            <a:ext cx="73152" cy="137160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309360" y="324612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309360" y="37033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总结展望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309360" y="40233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应用价值与未来发展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2743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项目背景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347472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1B9AA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554480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教育信息化2.0时代，高校校园网已成为教学、科研与管理的核心基础设施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2194560"/>
            <a:ext cx="1280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[ 01 ]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高并发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23774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万人同时在线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教学科研并行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23360" y="2194560"/>
            <a:ext cx="1280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[ 02 ]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26517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高突发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74720" y="3200400"/>
            <a:ext cx="23774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考试/活动期间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流量瞬时激增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66560" y="2194560"/>
            <a:ext cx="1280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[ 03 ]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26517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应用复杂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17920" y="3200400"/>
            <a:ext cx="23774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HTTP/DNS/SSH等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27+种协议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solidFill>
            <a:srgbClr val="1B9AAA">
              <a:alpha val="30000"/>
            </a:srgbClr>
          </a:solidFill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传统监控手段已无法满足精细化运维需求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 痛点分析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35661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9144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463040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[ 01 ]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看不清流量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2103120" cy="365760"/>
          </a:xfrm>
          <a:prstGeom prst="rect">
            <a:avLst/>
          </a:prstGeom>
          <a:solidFill>
            <a:srgbClr val="E74C3C">
              <a:alpha val="15000"/>
            </a:srgbClr>
          </a:solidFill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31520" y="246888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74C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 SNMP 5分钟级采样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78DA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&gt;&gt;&gt;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246120"/>
            <a:ext cx="2103120" cy="365760"/>
          </a:xfrm>
          <a:prstGeom prst="rect">
            <a:avLst/>
          </a:prstGeom>
          <a:solidFill>
            <a:srgbClr val="2ECC71">
              <a:alpha val="15000"/>
            </a:srgbClr>
          </a:solidFill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324612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CC7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 秒级高频采样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2103120" cy="822960"/>
          </a:xfrm>
          <a:prstGeom prst="rect">
            <a:avLst/>
          </a:prstGeom>
          <a:solidFill>
            <a:srgbClr val="00B4D8">
              <a:alpha val="10000"/>
            </a:srgbClr>
          </a:solidFill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31520" y="3794760"/>
            <a:ext cx="21031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4C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精度提升 300 倍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91840" y="1280160"/>
            <a:ext cx="2651760" cy="35661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291840" y="1280160"/>
            <a:ext cx="2651760" cy="9144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291840" y="1463040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[ 02 ]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187452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查不到根因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566160" y="2468880"/>
            <a:ext cx="2103120" cy="365760"/>
          </a:xfrm>
          <a:prstGeom prst="rect">
            <a:avLst/>
          </a:prstGeom>
          <a:solidFill>
            <a:srgbClr val="E74C3C">
              <a:alpha val="15000"/>
            </a:srgbClr>
          </a:solidFill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566160" y="246888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74C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 缺乏流级检索能力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91840" y="2926080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78DA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&gt;&gt;&gt;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566160" y="3246120"/>
            <a:ext cx="2103120" cy="365760"/>
          </a:xfrm>
          <a:prstGeom prst="rect">
            <a:avLst/>
          </a:prstGeom>
          <a:solidFill>
            <a:srgbClr val="2ECC71">
              <a:alpha val="15000"/>
            </a:srgbClr>
          </a:solidFill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566160" y="324612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CC7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 类Wireshark Web引擎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66160" y="3794760"/>
            <a:ext cx="2103120" cy="822960"/>
          </a:xfrm>
          <a:prstGeom prst="rect">
            <a:avLst/>
          </a:prstGeom>
          <a:solidFill>
            <a:srgbClr val="00B4D8">
              <a:alpha val="10000"/>
            </a:srgbClr>
          </a:solidFill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566160" y="3794760"/>
            <a:ext cx="21031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4C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多维精确查询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26480" y="1280160"/>
            <a:ext cx="2651760" cy="35661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126480" y="1280160"/>
            <a:ext cx="2651760" cy="9144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126480" y="1463040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[ 03 ]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126480" y="187452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防不住威胁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400800" y="2468880"/>
            <a:ext cx="2103120" cy="365760"/>
          </a:xfrm>
          <a:prstGeom prst="rect">
            <a:avLst/>
          </a:prstGeom>
          <a:solidFill>
            <a:srgbClr val="E74C3C">
              <a:alpha val="15000"/>
            </a:srgbClr>
          </a:solidFill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400800" y="246888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74C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 规则匹配误报率高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26480" y="2926080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78DA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&gt;&gt;&gt;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0" y="3246120"/>
            <a:ext cx="2103120" cy="365760"/>
          </a:xfrm>
          <a:prstGeom prst="rect">
            <a:avLst/>
          </a:prstGeom>
          <a:solidFill>
            <a:srgbClr val="2ECC71">
              <a:alpha val="15000"/>
            </a:srgbClr>
          </a:solidFill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400800" y="324612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CC7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 规则+算法双层检测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0" y="3794760"/>
            <a:ext cx="2103120" cy="822960"/>
          </a:xfrm>
          <a:prstGeom prst="rect">
            <a:avLst/>
          </a:prstGeom>
          <a:solidFill>
            <a:srgbClr val="00B4D8">
              <a:alpha val="10000"/>
            </a:srgbClr>
          </a:solidFill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400800" y="3794760"/>
            <a:ext cx="21031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4C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误报率降低 60%+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2743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解决方案 — 四层架构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88720" y="2148840"/>
            <a:ext cx="36576" cy="182880"/>
          </a:xfrm>
          <a:prstGeom prst="rect">
            <a:avLst/>
          </a:prstGeom>
          <a:solidFill>
            <a:srgbClr val="778DA9"/>
          </a:solidFill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463040"/>
            <a:ext cx="2011680" cy="685800"/>
          </a:xfrm>
          <a:prstGeom prst="rect">
            <a:avLst/>
          </a:prstGeom>
          <a:solidFill>
            <a:srgbClr val="1B9AAA"/>
          </a:solidFill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463040"/>
            <a:ext cx="20116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采集层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651760" y="1737360"/>
            <a:ext cx="457200" cy="137160"/>
          </a:xfrm>
          <a:prstGeom prst="rect">
            <a:avLst/>
          </a:prstGeom>
          <a:solidFill>
            <a:srgbClr val="778DA9"/>
          </a:solidFill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291840" y="1463040"/>
            <a:ext cx="27432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NetFlow 秒级采集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88720" y="3017520"/>
            <a:ext cx="36576" cy="182880"/>
          </a:xfrm>
          <a:prstGeom prst="rect">
            <a:avLst/>
          </a:prstGeom>
          <a:solidFill>
            <a:srgbClr val="778DA9"/>
          </a:solidFill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7200" y="2331720"/>
            <a:ext cx="2011680" cy="685800"/>
          </a:xfrm>
          <a:prstGeom prst="rect">
            <a:avLst/>
          </a:prstGeom>
          <a:solidFill>
            <a:srgbClr val="00B4D8"/>
          </a:solidFill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7200" y="2331720"/>
            <a:ext cx="20116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分析层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651760" y="2606040"/>
            <a:ext cx="457200" cy="137160"/>
          </a:xfrm>
          <a:prstGeom prst="rect">
            <a:avLst/>
          </a:prstGeom>
          <a:solidFill>
            <a:srgbClr val="778DA9"/>
          </a:solidFill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291840" y="2331720"/>
            <a:ext cx="27432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内存缓冲 + 聚合计算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88720" y="3886200"/>
            <a:ext cx="36576" cy="182880"/>
          </a:xfrm>
          <a:prstGeom prst="rect">
            <a:avLst/>
          </a:prstGeom>
          <a:solidFill>
            <a:srgbClr val="778DA9"/>
          </a:solidFill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57200" y="3200400"/>
            <a:ext cx="2011680" cy="685800"/>
          </a:xfrm>
          <a:prstGeom prst="rect">
            <a:avLst/>
          </a:prstGeom>
          <a:solidFill>
            <a:srgbClr val="0F4C75"/>
          </a:solidFill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7200" y="3200400"/>
            <a:ext cx="20116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检测层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651760" y="3474720"/>
            <a:ext cx="457200" cy="137160"/>
          </a:xfrm>
          <a:prstGeom prst="rect">
            <a:avLst/>
          </a:prstGeom>
          <a:solidFill>
            <a:srgbClr val="778DA9"/>
          </a:solidFill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291840" y="3200400"/>
            <a:ext cx="27432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规则匹配 + 算法分析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4069080"/>
            <a:ext cx="2011680" cy="685800"/>
          </a:xfrm>
          <a:prstGeom prst="rect">
            <a:avLst/>
          </a:prstGeom>
          <a:solidFill>
            <a:srgbClr val="1B9AAA"/>
          </a:solidFill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57200" y="4069080"/>
            <a:ext cx="20116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展示层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651760" y="4343400"/>
            <a:ext cx="457200" cy="137160"/>
          </a:xfrm>
          <a:prstGeom prst="rect">
            <a:avLst/>
          </a:prstGeom>
          <a:solidFill>
            <a:srgbClr val="778DA9"/>
          </a:solidFill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291840" y="4069080"/>
            <a:ext cx="27432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WebSocket 全双工推送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0" y="1280160"/>
            <a:ext cx="2377440" cy="356616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1B9AA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400800" y="141732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数据流向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83680" y="1993392"/>
            <a:ext cx="164592" cy="164592"/>
          </a:xfrm>
          <a:prstGeom prst="ellipse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858000" y="192024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高吞吐链路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47688" y="2157984"/>
            <a:ext cx="36576" cy="219456"/>
          </a:xfrm>
          <a:prstGeom prst="rect">
            <a:avLst/>
          </a:prstGeom>
          <a:solidFill>
            <a:srgbClr val="778DA9"/>
          </a:solidFill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583680" y="2450592"/>
            <a:ext cx="164592" cy="164592"/>
          </a:xfrm>
          <a:prstGeom prst="ellipse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858000" y="237744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秒级NetFlow采集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647688" y="2615184"/>
            <a:ext cx="36576" cy="219456"/>
          </a:xfrm>
          <a:prstGeom prst="rect">
            <a:avLst/>
          </a:prstGeom>
          <a:solidFill>
            <a:srgbClr val="778DA9"/>
          </a:solidFill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583680" y="2907792"/>
            <a:ext cx="164592" cy="164592"/>
          </a:xfrm>
          <a:prstGeom prst="ellipse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858000" y="283464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内存缓冲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647688" y="3072384"/>
            <a:ext cx="36576" cy="219456"/>
          </a:xfrm>
          <a:prstGeom prst="rect">
            <a:avLst/>
          </a:prstGeom>
          <a:solidFill>
            <a:srgbClr val="778DA9"/>
          </a:solidFill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583680" y="3364992"/>
            <a:ext cx="164592" cy="164592"/>
          </a:xfrm>
          <a:prstGeom prst="ellipse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858000" y="329184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实时聚合计算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647688" y="3529584"/>
            <a:ext cx="36576" cy="219456"/>
          </a:xfrm>
          <a:prstGeom prst="rect">
            <a:avLst/>
          </a:prstGeom>
          <a:solidFill>
            <a:srgbClr val="778DA9"/>
          </a:solidFill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6583680" y="3822192"/>
            <a:ext cx="164592" cy="164592"/>
          </a:xfrm>
          <a:prstGeom prst="ellipse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858000" y="374904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WebSocket推送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647688" y="3986784"/>
            <a:ext cx="36576" cy="219456"/>
          </a:xfrm>
          <a:prstGeom prst="rect">
            <a:avLst/>
          </a:prstGeom>
          <a:solidFill>
            <a:srgbClr val="778DA9"/>
          </a:solidFill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6583680" y="4279392"/>
            <a:ext cx="164592" cy="164592"/>
          </a:xfrm>
          <a:prstGeom prst="ellipse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858000" y="420624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PostgreSQL持久化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 核心功能 — 实时全景大屏</a:t>
            </a:r>
            <a:endParaRPr lang="en-US" sz="28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4445" y="1280160"/>
            <a:ext cx="3931920" cy="6400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4445" y="1280160"/>
            <a:ext cx="54864" cy="64008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187325" y="137160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核心指标卡片</a:t>
            </a:r>
            <a:endParaRPr lang="en-US" sz="140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187325" y="1627632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实时吞吐量、PPS、活跃IP数、告警总数</a:t>
            </a:r>
            <a:endParaRPr lang="en-US" sz="1100" dirty="0"/>
          </a:p>
        </p:txBody>
      </p:sp>
      <p:sp>
        <p:nvSpPr>
          <p:cNvPr id="8" name="Shape 6"/>
          <p:cNvSpPr/>
          <p:nvPr>
            <p:custDataLst>
              <p:tags r:id="rId5"/>
            </p:custDataLst>
          </p:nvPr>
        </p:nvSpPr>
        <p:spPr>
          <a:xfrm>
            <a:off x="4445" y="1993392"/>
            <a:ext cx="3931920" cy="6400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>
            <p:custDataLst>
              <p:tags r:id="rId6"/>
            </p:custDataLst>
          </p:nvPr>
        </p:nvSpPr>
        <p:spPr>
          <a:xfrm>
            <a:off x="4445" y="1993392"/>
            <a:ext cx="54864" cy="64008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10" name="Text 8"/>
          <p:cNvSpPr/>
          <p:nvPr>
            <p:custDataLst>
              <p:tags r:id="rId7"/>
            </p:custDataLst>
          </p:nvPr>
        </p:nvSpPr>
        <p:spPr>
          <a:xfrm>
            <a:off x="187325" y="2084832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吞吐趋势图</a:t>
            </a:r>
            <a:endParaRPr lang="en-US" sz="1400" dirty="0"/>
          </a:p>
        </p:txBody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187325" y="234086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时间桶对齐折线图，60fps流畅刷新</a:t>
            </a:r>
            <a:endParaRPr lang="en-US" sz="1100" dirty="0"/>
          </a:p>
        </p:txBody>
      </p:sp>
      <p:sp>
        <p:nvSpPr>
          <p:cNvPr id="12" name="Shape 10"/>
          <p:cNvSpPr/>
          <p:nvPr>
            <p:custDataLst>
              <p:tags r:id="rId9"/>
            </p:custDataLst>
          </p:nvPr>
        </p:nvSpPr>
        <p:spPr>
          <a:xfrm>
            <a:off x="4445" y="2706624"/>
            <a:ext cx="3931920" cy="6400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>
            <p:custDataLst>
              <p:tags r:id="rId10"/>
            </p:custDataLst>
          </p:nvPr>
        </p:nvSpPr>
        <p:spPr>
          <a:xfrm>
            <a:off x="4445" y="2706624"/>
            <a:ext cx="54864" cy="64008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14" name="Text 12"/>
          <p:cNvSpPr/>
          <p:nvPr>
            <p:custDataLst>
              <p:tags r:id="rId11"/>
            </p:custDataLst>
          </p:nvPr>
        </p:nvSpPr>
        <p:spPr>
          <a:xfrm>
            <a:off x="187325" y="2798064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协议分布饼图</a:t>
            </a:r>
            <a:endParaRPr lang="en-US" sz="1400" dirty="0"/>
          </a:p>
        </p:txBody>
      </p:sp>
      <p:sp>
        <p:nvSpPr>
          <p:cNvPr id="15" name="Text 13"/>
          <p:cNvSpPr/>
          <p:nvPr>
            <p:custDataLst>
              <p:tags r:id="rId12"/>
            </p:custDataLst>
          </p:nvPr>
        </p:nvSpPr>
        <p:spPr>
          <a:xfrm>
            <a:off x="187325" y="3054096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HTTP/HTTPS/DNS等27种协议实时分析</a:t>
            </a:r>
            <a:endParaRPr lang="en-US" sz="1100" dirty="0"/>
          </a:p>
        </p:txBody>
      </p:sp>
      <p:sp>
        <p:nvSpPr>
          <p:cNvPr id="16" name="Shape 14"/>
          <p:cNvSpPr/>
          <p:nvPr>
            <p:custDataLst>
              <p:tags r:id="rId13"/>
            </p:custDataLst>
          </p:nvPr>
        </p:nvSpPr>
        <p:spPr>
          <a:xfrm>
            <a:off x="4445" y="3419856"/>
            <a:ext cx="3931920" cy="6400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>
            <p:custDataLst>
              <p:tags r:id="rId14"/>
            </p:custDataLst>
          </p:nvPr>
        </p:nvSpPr>
        <p:spPr>
          <a:xfrm>
            <a:off x="4445" y="3419856"/>
            <a:ext cx="54864" cy="64008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187325" y="3511296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Top-K突发大流</a:t>
            </a:r>
            <a:endParaRPr lang="en-US" sz="1400" dirty="0"/>
          </a:p>
        </p:txBody>
      </p:sp>
      <p:sp>
        <p:nvSpPr>
          <p:cNvPr id="19" name="Text 17"/>
          <p:cNvSpPr/>
          <p:nvPr>
            <p:custDataLst>
              <p:tags r:id="rId16"/>
            </p:custDataLst>
          </p:nvPr>
        </p:nvSpPr>
        <p:spPr>
          <a:xfrm>
            <a:off x="187325" y="376732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按流量排序Top-10，点击直接下钻</a:t>
            </a:r>
            <a:endParaRPr lang="en-US" sz="1100" dirty="0"/>
          </a:p>
        </p:txBody>
      </p:sp>
      <p:sp>
        <p:nvSpPr>
          <p:cNvPr id="20" name="Shape 18"/>
          <p:cNvSpPr/>
          <p:nvPr>
            <p:custDataLst>
              <p:tags r:id="rId17"/>
            </p:custDataLst>
          </p:nvPr>
        </p:nvSpPr>
        <p:spPr>
          <a:xfrm>
            <a:off x="4445" y="4133088"/>
            <a:ext cx="3931920" cy="6400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>
            <p:custDataLst>
              <p:tags r:id="rId18"/>
            </p:custDataLst>
          </p:nvPr>
        </p:nvSpPr>
        <p:spPr>
          <a:xfrm>
            <a:off x="4445" y="4133088"/>
            <a:ext cx="54864" cy="64008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22" name="Text 20"/>
          <p:cNvSpPr/>
          <p:nvPr>
            <p:custDataLst>
              <p:tags r:id="rId19"/>
            </p:custDataLst>
          </p:nvPr>
        </p:nvSpPr>
        <p:spPr>
          <a:xfrm>
            <a:off x="187325" y="422452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区域热力图</a:t>
            </a:r>
            <a:endParaRPr lang="en-US" sz="1400" dirty="0"/>
          </a:p>
        </p:txBody>
      </p:sp>
      <p:sp>
        <p:nvSpPr>
          <p:cNvPr id="23" name="Text 21"/>
          <p:cNvSpPr/>
          <p:nvPr>
            <p:custDataLst>
              <p:tags r:id="rId20"/>
            </p:custDataLst>
          </p:nvPr>
        </p:nvSpPr>
        <p:spPr>
          <a:xfrm>
            <a:off x="187325" y="4480560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宿舍区/教学区/行政区/科研区分布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1280160"/>
            <a:ext cx="4023360" cy="35661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663440" y="1280160"/>
            <a:ext cx="4023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Dashboard 实时预览</a:t>
            </a:r>
            <a:endParaRPr lang="en-US" sz="1400" dirty="0"/>
          </a:p>
        </p:txBody>
      </p:sp>
      <p:pic>
        <p:nvPicPr>
          <p:cNvPr id="48" name="图片 47" descr="真实全景大屏截图_全页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218940" y="1005205"/>
            <a:ext cx="4925060" cy="41382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 核心功能 — 安全威胁感知中心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35661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41732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4C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双层威胁检测体系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566160" cy="32004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92024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规则驱动层 — 6种典型威胁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450592"/>
            <a:ext cx="164592" cy="164592"/>
          </a:xfrm>
          <a:prstGeom prst="ellipse">
            <a:avLst/>
          </a:prstGeom>
          <a:solidFill>
            <a:srgbClr val="E74C3C"/>
          </a:solidFill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60120" y="237744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DDoS攻击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68880" y="2450592"/>
            <a:ext cx="164592" cy="164592"/>
          </a:xfrm>
          <a:prstGeom prst="ellipse">
            <a:avLst/>
          </a:prstGeom>
          <a:solidFill>
            <a:srgbClr val="E74C3C"/>
          </a:solidFill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697480" y="237744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端口扫描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862072"/>
            <a:ext cx="164592" cy="164592"/>
          </a:xfrm>
          <a:prstGeom prst="ellipse">
            <a:avLst/>
          </a:prstGeom>
          <a:solidFill>
            <a:srgbClr val="E74C3C"/>
          </a:solidFill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60120" y="278892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慢速扫描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68880" y="2862072"/>
            <a:ext cx="164592" cy="164592"/>
          </a:xfrm>
          <a:prstGeom prst="ellipse">
            <a:avLst/>
          </a:prstGeom>
          <a:solidFill>
            <a:srgbClr val="E74C3C"/>
          </a:solidFill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697480" y="278892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蠕虫传播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273552"/>
            <a:ext cx="164592" cy="164592"/>
          </a:xfrm>
          <a:prstGeom prst="ellipse">
            <a:avLst/>
          </a:prstGeom>
          <a:solidFill>
            <a:srgbClr val="E74C3C"/>
          </a:solidFill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60120" y="320040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钓鱼攻击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468880" y="3273552"/>
            <a:ext cx="164592" cy="164592"/>
          </a:xfrm>
          <a:prstGeom prst="ellipse">
            <a:avLst/>
          </a:prstGeom>
          <a:solidFill>
            <a:srgbClr val="E74C3C"/>
          </a:solidFill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697480" y="320040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数据外泄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657600"/>
            <a:ext cx="3566160" cy="320040"/>
          </a:xfrm>
          <a:prstGeom prst="rect">
            <a:avLst/>
          </a:prstGeom>
          <a:solidFill>
            <a:srgbClr val="00B4D8"/>
          </a:solidFill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" y="365760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算法增强层 — 4套原创算法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069080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4C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EWMA-EAD | MDTCE | NBF-RS | TPM-PA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1280160"/>
            <a:ext cx="4023360" cy="35661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4663440" y="1280160"/>
            <a:ext cx="4023360" cy="411480"/>
          </a:xfrm>
          <a:prstGeom prst="rect">
            <a:avLst/>
          </a:prstGeom>
          <a:solidFill>
            <a:srgbClr val="0F4C75"/>
          </a:solidFill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663440" y="1280160"/>
            <a:ext cx="4023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3D地球攻击溯源地图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46320" y="420624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WebGL渲染 | Bloom泛光特效 | Jitter坐标抖动</a:t>
            </a:r>
            <a:endParaRPr lang="en-US" sz="1000" dirty="0"/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4270" y="1703070"/>
            <a:ext cx="3442335" cy="24911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 核心功能 — 微观流级检索引擎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114800" cy="35661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463040"/>
            <a:ext cx="4114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 检索 ]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4C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类Wireshark Web检索引擎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606040"/>
            <a:ext cx="137160" cy="137160"/>
          </a:xfrm>
          <a:prstGeom prst="ellipse">
            <a:avLst/>
          </a:prstGeom>
          <a:solidFill>
            <a:srgbClr val="2ECC71"/>
          </a:solidFill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120" y="2560320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源/目IP精确 + CIDR通配检索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953512"/>
            <a:ext cx="137160" cy="137160"/>
          </a:xfrm>
          <a:prstGeom prst="ellipse">
            <a:avLst/>
          </a:prstGeom>
          <a:solidFill>
            <a:srgbClr val="2ECC71"/>
          </a:solidFill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60120" y="2907792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端口范围、协议类型筛选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300984"/>
            <a:ext cx="137160" cy="137160"/>
          </a:xfrm>
          <a:prstGeom prst="ellipse">
            <a:avLst/>
          </a:prstGeom>
          <a:solidFill>
            <a:srgbClr val="2ECC71"/>
          </a:solidFill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60120" y="3255264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应用协议、时间范围联合查询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648456"/>
            <a:ext cx="137160" cy="137160"/>
          </a:xfrm>
          <a:prstGeom prst="ellipse">
            <a:avLst/>
          </a:prstGeom>
          <a:solidFill>
            <a:srgbClr val="2ECC71"/>
          </a:solidFill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60120" y="3602736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分页展示完整五元组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995928"/>
            <a:ext cx="137160" cy="137160"/>
          </a:xfrm>
          <a:prstGeom prst="ellipse">
            <a:avLst/>
          </a:prstGeom>
          <a:solidFill>
            <a:srgbClr val="2ECC71"/>
          </a:solidFill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60120" y="3950208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CSV一键导出取证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343400"/>
            <a:ext cx="137160" cy="137160"/>
          </a:xfrm>
          <a:prstGeom prst="ellipse">
            <a:avLst/>
          </a:prstGeom>
          <a:solidFill>
            <a:srgbClr val="2ECC71"/>
          </a:solidFill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60120" y="4297680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任意IP点击下钻画像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1280160"/>
            <a:ext cx="3931920" cy="35661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754880" y="1280160"/>
            <a:ext cx="3931920" cy="41148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754880" y="1280160"/>
            <a:ext cx="3931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单IP详情画像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937760" y="406908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六层下钻路径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37760" y="4389120"/>
            <a:ext cx="502920" cy="320040"/>
          </a:xfrm>
          <a:prstGeom prst="rect">
            <a:avLst/>
          </a:prstGeom>
          <a:solidFill>
            <a:srgbClr val="0F4C75"/>
          </a:solidFill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937760" y="4389120"/>
            <a:ext cx="502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全网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40680" y="4389120"/>
            <a:ext cx="91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8DA9"/>
                </a:solidFill>
              </a:rPr>
              <a:t>&gt;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532120" y="4389120"/>
            <a:ext cx="502920" cy="320040"/>
          </a:xfrm>
          <a:prstGeom prst="rect">
            <a:avLst/>
          </a:prstGeom>
          <a:solidFill>
            <a:srgbClr val="0F4C75"/>
          </a:solidFill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532120" y="4389120"/>
            <a:ext cx="502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区域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035040" y="4389120"/>
            <a:ext cx="91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8DA9"/>
                </a:solidFill>
              </a:rPr>
              <a:t>&gt;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26480" y="4389120"/>
            <a:ext cx="502920" cy="320040"/>
          </a:xfrm>
          <a:prstGeom prst="rect">
            <a:avLst/>
          </a:prstGeom>
          <a:solidFill>
            <a:srgbClr val="0F4C75"/>
          </a:solidFill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126480" y="4389120"/>
            <a:ext cx="502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楼宇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629400" y="4389120"/>
            <a:ext cx="91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8DA9"/>
                </a:solidFill>
              </a:rPr>
              <a:t>&gt;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720840" y="4389120"/>
            <a:ext cx="502920" cy="320040"/>
          </a:xfrm>
          <a:prstGeom prst="rect">
            <a:avLst/>
          </a:prstGeom>
          <a:solidFill>
            <a:srgbClr val="0F4C75"/>
          </a:solidFill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720840" y="4389120"/>
            <a:ext cx="502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交换机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223760" y="4389120"/>
            <a:ext cx="91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8DA9"/>
                </a:solidFill>
              </a:rPr>
              <a:t>&gt;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315200" y="4389120"/>
            <a:ext cx="502920" cy="320040"/>
          </a:xfrm>
          <a:prstGeom prst="rect">
            <a:avLst/>
          </a:prstGeom>
          <a:solidFill>
            <a:srgbClr val="0F4C75"/>
          </a:solidFill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7315200" y="4389120"/>
            <a:ext cx="502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端口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818120" y="4389120"/>
            <a:ext cx="91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8DA9"/>
                </a:solidFill>
              </a:rPr>
              <a:t>&gt;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909560" y="4389120"/>
            <a:ext cx="502920" cy="320040"/>
          </a:xfrm>
          <a:prstGeom prst="rect">
            <a:avLst/>
          </a:prstGeom>
          <a:solidFill>
            <a:srgbClr val="00B4D8"/>
          </a:solidFill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7909560" y="4389120"/>
            <a:ext cx="502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IP</a:t>
            </a:r>
            <a:endParaRPr lang="en-US" sz="900" dirty="0"/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245" y="1694180"/>
            <a:ext cx="3932555" cy="22561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2743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算法创新 — 四套原创算法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16002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1B9AA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371600"/>
            <a:ext cx="91440" cy="1600200"/>
          </a:xfrm>
          <a:prstGeom prst="rect">
            <a:avLst/>
          </a:prstGeom>
          <a:solidFill>
            <a:srgbClr val="00B4D8"/>
          </a:solidFill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85800" y="150876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EWMA-EAD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19202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指数加权熵异常检测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2402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融合流量统计与协议Shannon熵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2560320"/>
            <a:ext cx="2011680" cy="320040"/>
          </a:xfrm>
          <a:prstGeom prst="rect">
            <a:avLst/>
          </a:prstGeom>
          <a:solidFill>
            <a:srgbClr val="2ECC71">
              <a:alpha val="30000"/>
            </a:srgbClr>
          </a:solidFill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85800" y="256032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7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 误报率降低60%+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4023360" cy="16002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1B9AAA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91440" cy="1600200"/>
          </a:xfrm>
          <a:prstGeom prst="rect">
            <a:avLst/>
          </a:prstGeom>
          <a:solidFill>
            <a:srgbClr val="00B4D8"/>
          </a:solidFill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983480" y="150876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MDTCE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983480" y="19202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多维威胁关联引擎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83480" y="22402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基于Kill Chain攻击阶段图建模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83480" y="2560320"/>
            <a:ext cx="2011680" cy="320040"/>
          </a:xfrm>
          <a:prstGeom prst="rect">
            <a:avLst/>
          </a:prstGeom>
          <a:solidFill>
            <a:srgbClr val="2ECC71">
              <a:alpha val="30000"/>
            </a:srgbClr>
          </a:solidFill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983480" y="256032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7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 识别完整攻击链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4023360" cy="16002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1B9AAA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57200" y="3154680"/>
            <a:ext cx="91440" cy="1600200"/>
          </a:xfrm>
          <a:prstGeom prst="rect">
            <a:avLst/>
          </a:prstGeom>
          <a:solidFill>
            <a:srgbClr val="00B4D8"/>
          </a:solidFill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85800" y="329184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NBF-RS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5800" y="370332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7维行为指纹评分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" y="40233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协议熵、对端多样性等7维特征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343400"/>
            <a:ext cx="2011680" cy="320040"/>
          </a:xfrm>
          <a:prstGeom prst="rect">
            <a:avLst/>
          </a:prstGeom>
          <a:solidFill>
            <a:srgbClr val="2ECC71">
              <a:alpha val="30000"/>
            </a:srgbClr>
          </a:solidFill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85800" y="434340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7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 综合风险评估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154680"/>
            <a:ext cx="4023360" cy="16002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1B9AAA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754880" y="3154680"/>
            <a:ext cx="91440" cy="1600200"/>
          </a:xfrm>
          <a:prstGeom prst="rect">
            <a:avLst/>
          </a:prstGeom>
          <a:solidFill>
            <a:srgbClr val="00B4D8"/>
          </a:solidFill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983480" y="329184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TPM-PA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983480" y="370332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时序预测预警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983480" y="40233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Pearson跨信号相关+趋势预测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83480" y="4343400"/>
            <a:ext cx="2011680" cy="320040"/>
          </a:xfrm>
          <a:prstGeom prst="rect">
            <a:avLst/>
          </a:prstGeom>
          <a:solidFill>
            <a:srgbClr val="2ECC71">
              <a:alpha val="30000"/>
            </a:srgbClr>
          </a:solidFill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983480" y="434340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7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 预防性告警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 技术亮点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16459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1463040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 G 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50876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3D地球可视化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2148840"/>
            <a:ext cx="109728" cy="109728"/>
          </a:xfrm>
          <a:prstGeom prst="ellipse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2084832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Canvas内存纹理生成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404872"/>
            <a:ext cx="109728" cy="109728"/>
          </a:xfrm>
          <a:prstGeom prst="ellipse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68680" y="2340864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Jitter坐标抖动算法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660904"/>
            <a:ext cx="109728" cy="109728"/>
          </a:xfrm>
          <a:prstGeom prst="ellipse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68680" y="2596896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WebGL Bloom泛光特效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280160"/>
            <a:ext cx="4023360" cy="16459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892040" y="1463040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 D ]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0" y="150876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12Gbps智能演示数据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83480" y="2148840"/>
            <a:ext cx="109728" cy="109728"/>
          </a:xfrm>
          <a:prstGeom prst="ellipse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166360" y="2084832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启动自检自动补充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83480" y="2404872"/>
            <a:ext cx="109728" cy="109728"/>
          </a:xfrm>
          <a:prstGeom prst="ellipse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166360" y="2340864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每分钟持续注入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83480" y="2660904"/>
            <a:ext cx="109728" cy="109728"/>
          </a:xfrm>
          <a:prstGeom prst="ellipse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166360" y="2596896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5分钟过期自动重建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108960"/>
            <a:ext cx="4023360" cy="16459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94360" y="3291840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 R ]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88720" y="333756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高性能实时处理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85800" y="3977640"/>
            <a:ext cx="109728" cy="109728"/>
          </a:xfrm>
          <a:prstGeom prst="ellipse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68680" y="3913632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CompletableFuture并行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5800" y="4233672"/>
            <a:ext cx="109728" cy="109728"/>
          </a:xfrm>
          <a:prstGeom prst="ellipse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68680" y="4169664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WebSocket全双工推送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5800" y="4489704"/>
            <a:ext cx="109728" cy="109728"/>
          </a:xfrm>
          <a:prstGeom prst="ellipse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68680" y="4425696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JSONB威胁上下文存储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3108960"/>
            <a:ext cx="4023360" cy="16459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892040" y="3291840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 C ]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486400" y="333756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Docker一键部署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983480" y="3977640"/>
            <a:ext cx="109728" cy="109728"/>
          </a:xfrm>
          <a:prstGeom prst="ellipse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166360" y="3913632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容器化环境隔离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983480" y="4233672"/>
            <a:ext cx="109728" cy="109728"/>
          </a:xfrm>
          <a:prstGeom prst="ellipse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166360" y="4169664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一键启动完整系统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983480" y="4489704"/>
            <a:ext cx="109728" cy="109728"/>
          </a:xfrm>
          <a:prstGeom prst="ellipse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166360" y="4425696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评审可完整复现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solidFill>
            <a:srgbClr val="FFFFFF">
              <a:alpha val="5000"/>
            </a:srgbClr>
          </a:solidFill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65760" y="1005840"/>
            <a:ext cx="1188720" cy="45720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65760" y="1005840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前端框架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91640" y="100584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React 18 + Vite 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23360" y="100584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组件化开发，极速构建HMR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508760"/>
            <a:ext cx="8412480" cy="457200"/>
          </a:xfrm>
          <a:prstGeom prst="rect">
            <a:avLst/>
          </a:prstGeom>
          <a:solidFill>
            <a:srgbClr val="FFFFFF">
              <a:alpha val="8000"/>
            </a:srgbClr>
          </a:solidFill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65760" y="1508760"/>
            <a:ext cx="1188720" cy="45720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65760" y="1508760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状态管理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91640" y="150876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Zustand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23360" y="150876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轻量无样板，跨组件共享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011680"/>
            <a:ext cx="8412480" cy="457200"/>
          </a:xfrm>
          <a:prstGeom prst="rect">
            <a:avLst/>
          </a:prstGeom>
          <a:solidFill>
            <a:srgbClr val="FFFFFF">
              <a:alpha val="5000"/>
            </a:srgbClr>
          </a:solidFill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65760" y="2011680"/>
            <a:ext cx="1188720" cy="45720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65760" y="2011680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可视化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91640" y="201168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ECharts 5 + ECharts-GL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23360" y="201168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WebGL 3D地球渲染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solidFill>
            <a:srgbClr val="FFFFFF">
              <a:alpha val="8000"/>
            </a:srgbClr>
          </a:solidFill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365760" y="2514600"/>
            <a:ext cx="1188720" cy="45720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65760" y="2514600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后端框架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91640" y="251460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Spring Boot 3.x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023360" y="251460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生产级Java框架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017520"/>
            <a:ext cx="8412480" cy="457200"/>
          </a:xfrm>
          <a:prstGeom prst="rect">
            <a:avLst/>
          </a:prstGeom>
          <a:solidFill>
            <a:srgbClr val="FFFFFF">
              <a:alpha val="5000"/>
            </a:srgbClr>
          </a:solidFill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365760" y="3017520"/>
            <a:ext cx="1188720" cy="45720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65760" y="3017520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数据访问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691640" y="301752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Spring Data JPA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023360" y="301752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Actuator监控开箱即用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520440"/>
            <a:ext cx="8412480" cy="457200"/>
          </a:xfrm>
          <a:prstGeom prst="rect">
            <a:avLst/>
          </a:prstGeom>
          <a:solidFill>
            <a:srgbClr val="FFFFFF">
              <a:alpha val="8000"/>
            </a:srgbClr>
          </a:solidFill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365760" y="3520440"/>
            <a:ext cx="1188720" cy="45720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65760" y="3520440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691640" y="352044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PostgreSQL 15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023360" y="352044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JSONB列存储威胁上下文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023360"/>
            <a:ext cx="8412480" cy="457200"/>
          </a:xfrm>
          <a:prstGeom prst="rect">
            <a:avLst/>
          </a:prstGeom>
          <a:solidFill>
            <a:srgbClr val="FFFFFF">
              <a:alpha val="5000"/>
            </a:srgbClr>
          </a:solidFill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365760" y="4023360"/>
            <a:ext cx="1188720" cy="45720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365760" y="4023360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实时通信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691640" y="402336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Spring WebSocket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023360" y="402336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原生低延迟全双工推送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solidFill>
            <a:srgbClr val="FFFFFF">
              <a:alpha val="8000"/>
            </a:srgbClr>
          </a:solidFill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365760" y="4526280"/>
            <a:ext cx="1188720" cy="45720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365760" y="4526280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容器化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691640" y="452628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Docker + Docker Compose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023360" y="452628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一键部署，环境隔离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部署与运行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35661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41732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4C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系统服务架构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3474720" cy="731520"/>
          </a:xfrm>
          <a:prstGeom prst="rect">
            <a:avLst/>
          </a:prstGeom>
          <a:solidFill>
            <a:srgbClr val="1B9AAA"/>
          </a:solidFill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210312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Nginx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反向代理 + 静态托管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926080"/>
            <a:ext cx="3474720" cy="731520"/>
          </a:xfrm>
          <a:prstGeom prst="rect">
            <a:avLst/>
          </a:prstGeom>
          <a:solidFill>
            <a:srgbClr val="0F4C75"/>
          </a:solidFill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301752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Spring Boot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33756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REST API + WebSocket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3474720" cy="731520"/>
          </a:xfrm>
          <a:prstGeom prst="rect">
            <a:avLst/>
          </a:prstGeom>
          <a:solidFill>
            <a:srgbClr val="00B4D8"/>
          </a:solidFill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93192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25196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流量与告警存储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280160"/>
            <a:ext cx="3931920" cy="1463040"/>
          </a:xfrm>
          <a:prstGeom prst="rect">
            <a:avLst/>
          </a:prstGeom>
          <a:solidFill>
            <a:srgbClr val="0D1B2A"/>
          </a:solidFill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754880" y="137160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部署架构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73736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CC7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宝塔面板 + Nginx + JDK 17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210312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Windows Server 2022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3931920" cy="19202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754880" y="306324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4C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公网访问地址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3474720"/>
            <a:ext cx="1097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前端大屏: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35040" y="347472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http://8.146.228.64:3000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931920"/>
            <a:ext cx="1097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>
              <a:defRPr sz="1200">
                <a:latin typeface="微软雅黑"/>
              </a:defRPr>
            </a:pPr>
            <a:r>
              <a:t>API文档:</a:t>
            </a:r>
          </a:p>
          <a:p>
            <a:pPr>
              <a:defRPr sz="1200">
                <a:latin typeface="微软雅黑"/>
              </a:defRPr>
            </a:pPr>
            <a:r>
              <a:t>http://8.146.228.64:8080/swagger-ui</a:t>
            </a:r>
          </a:p>
          <a:p>
            <a:pPr>
              <a:defRPr sz="1200">
                <a:latin typeface="微软雅黑"/>
              </a:defRPr>
            </a:pPr>
          </a:p>
          <a:p>
            <a:pPr>
              <a:defRPr sz="1200">
                <a:latin typeface="微软雅黑"/>
              </a:defRPr>
            </a:pPr>
            <a:r>
              <a:t>后端API:</a:t>
            </a:r>
          </a:p>
        </p:txBody>
      </p:sp>
      <p:sp>
        <p:nvSpPr>
          <p:cNvPr id="24" name="Text 22"/>
          <p:cNvSpPr/>
          <p:nvPr/>
        </p:nvSpPr>
        <p:spPr>
          <a:xfrm>
            <a:off x="6035040" y="393192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http://8.146.228.64:8080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4389120"/>
            <a:ext cx="1097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API文档: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35040" y="438912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http://8.146.228.64:8080/swagger-ui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457200"/>
            <a:ext cx="137160" cy="411480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2743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总结与展望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项目核心价值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73152" cy="50292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技术创新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011680" y="1828800"/>
            <a:ext cx="6675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四套原创算法实现从「被动响应」到「主动预防」的能力跃升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73152" cy="50292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2468880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工程实践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11680" y="2468880"/>
            <a:ext cx="6675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Docker Compose一键部署，智能演示数据自维护确保高可用性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73152" cy="50292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3108960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用户体验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11680" y="3108960"/>
            <a:ext cx="6675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对标企业级NetFlow Analyzer产品，兼顾专业性与易用性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1B9AA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39776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应用前景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系统架构具有良好的通用性与可扩展性，可推广至高校、企业园区网、政务专网、数据中心等场景，具有显著的应用价值与行业示范意义。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F4C75">
              <a:alpha val="40000"/>
            </a:srgbClr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1B9AAA">
              <a:alpha val="30000"/>
            </a:srgbClr>
          </a:solidFill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0" y="1645920"/>
            <a:ext cx="9144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感谢聆听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0" y="246888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kern="0" spc="800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0" y="3200400"/>
            <a:ext cx="2743200" cy="27432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2026年中国大学生计算机设计大赛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团队介绍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931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4C75"/>
                </a:solidFill>
                <a:latin typeface="微软雅黑"/>
              </a:defRPr>
            </a:pPr>
            <a:r>
              <a:t>侯宗阳  |  队长 / 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566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333"/>
                </a:solidFill>
                <a:latin typeface="微软雅黑"/>
              </a:defRPr>
            </a:pPr>
            <a:r>
              <a:t>系统架构设计与核心算法实现</a:t>
            </a:r>
          </a:p>
          <a:p>
            <a:r>
              <a:t>Java / Spring Boot / 数据库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097280"/>
            <a:ext cx="3931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207008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4C75"/>
                </a:solidFill>
                <a:latin typeface="微软雅黑"/>
              </a:defRPr>
            </a:pPr>
            <a:r>
              <a:t>王晨溪  |  前端开发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554480"/>
            <a:ext cx="3566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333"/>
                </a:solidFill>
                <a:latin typeface="微软雅黑"/>
              </a:defRPr>
            </a:pPr>
            <a:r>
              <a:t>React组件开发与可视化实现</a:t>
            </a:r>
          </a:p>
          <a:p>
            <a:r>
              <a:t>React / ECharts / WebSocket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51760"/>
            <a:ext cx="3931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61488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4C75"/>
                </a:solidFill>
                <a:latin typeface="微软雅黑"/>
              </a:defRPr>
            </a:pPr>
            <a:r>
              <a:t>徐永佳  |  算法工程师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3566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333"/>
                </a:solidFill>
                <a:latin typeface="微软雅黑"/>
              </a:defRPr>
            </a:pPr>
            <a:r>
              <a:t>威胁检测算法设计与优化</a:t>
            </a:r>
          </a:p>
          <a:p>
            <a:r>
              <a:t>Python / 数据分析 / 机器学习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2651760"/>
            <a:ext cx="3931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761488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4C75"/>
                </a:solidFill>
                <a:latin typeface="微软雅黑"/>
              </a:defRPr>
            </a:pPr>
            <a:r>
              <a:t>徐慧芳  |  测试运维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108960"/>
            <a:ext cx="3566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333"/>
                </a:solidFill>
                <a:latin typeface="微软雅黑"/>
              </a:defRPr>
            </a:pPr>
            <a:r>
              <a:t>Docker部署与系统测试</a:t>
            </a:r>
          </a:p>
          <a:p>
            <a:r>
              <a:t>Docker / Linux / 性能调优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06040" y="4206240"/>
            <a:ext cx="3931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8920" y="4315968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4C75"/>
                </a:solidFill>
                <a:latin typeface="微软雅黑"/>
              </a:defRPr>
            </a:pPr>
            <a:r>
              <a:t>王昭烨  |  后端开发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4663440"/>
            <a:ext cx="3566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333"/>
                </a:solidFill>
                <a:latin typeface="微软雅黑"/>
              </a:defRPr>
            </a:pPr>
            <a:r>
              <a:t>后端服务开发与数据处理</a:t>
            </a:r>
          </a:p>
          <a:p>
            <a:r>
              <a:t>Java / MySQL / RESTful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669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微软雅黑"/>
              </a:defRPr>
            </a:pPr>
            <a:r>
              <a:t>无敌暴龙战队  |  参赛编号：T2601487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2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3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4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5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6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7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8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9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10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11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12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13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14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15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16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17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18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19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20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2078</Words>
  <Application>WPS 演示</Application>
  <PresentationFormat>On-screen Show (16:9)</PresentationFormat>
  <Paragraphs>433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微软雅黑</vt:lpstr>
      <vt:lpstr>Arial</vt:lpstr>
      <vt:lpstr>Arial</vt:lpstr>
      <vt:lpstr>Consolas</vt:lpstr>
      <vt:lpstr>Consolas</vt:lpstr>
      <vt:lpstr>Consolas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面向智慧校园的细粒度网络流量监控与安全态势感知系统</dc:title>
  <dc:creator>苏州大学 无敌暴龙战队</dc:creator>
  <dc:subject>计算机设计大赛答辩演示</dc:subject>
  <cp:lastModifiedBy>侯宗阳</cp:lastModifiedBy>
  <cp:revision>2</cp:revision>
  <dcterms:created xsi:type="dcterms:W3CDTF">2026-04-18T09:22:00Z</dcterms:created>
  <dcterms:modified xsi:type="dcterms:W3CDTF">2026-04-18T11:31:37Z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196288E9769B443F94EAE89D15F26966_12</vt:lpwstr>
  </property>
</Properties>
</file>