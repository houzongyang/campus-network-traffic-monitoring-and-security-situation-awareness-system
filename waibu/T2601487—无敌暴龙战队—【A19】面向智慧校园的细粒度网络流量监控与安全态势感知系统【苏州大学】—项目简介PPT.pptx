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6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6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赛题编号：A19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面向智慧校园的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</a:rPr>
              <a:t>细粒度网络流量监控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与安全态势感知系统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6576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0"/>
                </a:solidFill>
              </a:rPr>
              <a:t>参赛队伍：</a:t>
            </a:r>
            <a:r>
              <a:rPr lang="en-US" sz="1600" b="1" dirty="0">
                <a:solidFill>
                  <a:srgbClr val="FFFFFF"/>
                </a:solidFill>
              </a:rPr>
              <a:t>无敌暴龙战队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0"/>
                </a:solidFill>
              </a:rPr>
              <a:t>参赛编号：</a:t>
            </a:r>
            <a:r>
              <a:rPr lang="en-US" sz="1400" dirty="0">
                <a:solidFill>
                  <a:srgbClr val="4ECDC4"/>
                </a:solidFill>
              </a:rPr>
              <a:t>T2601487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0"/>
                </a:solidFill>
              </a:rPr>
              <a:t>命题单位：</a:t>
            </a:r>
            <a:r>
              <a:rPr lang="en-US" sz="1400" dirty="0">
                <a:solidFill>
                  <a:srgbClr val="FFFFFF"/>
                </a:solidFill>
              </a:rPr>
              <a:t>苏州大学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B8C5D0"/>
                </a:solidFill>
              </a:rPr>
              <a:t>项目简介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>
            <p:custDataLst>
              <p:tags r:id="rId1"/>
            </p:custDataLst>
          </p:nvPr>
        </p:nvSpPr>
        <p:spPr>
          <a:xfrm>
            <a:off x="457200" y="14630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背景与问题分析</a:t>
            </a:r>
            <a:endParaRPr lang="en-US" sz="1800" dirty="0"/>
          </a:p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188720" y="196596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457200" y="22860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188720" y="2377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解决方案概览</a:t>
            </a:r>
            <a:endParaRPr lang="en-US" sz="18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1188720" y="278892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57200" y="3108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188720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系统架构设计</a:t>
            </a:r>
            <a:endParaRPr lang="en-US" sz="18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1188720" y="361188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57200" y="39319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188720" y="4023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核心功能模块</a:t>
            </a:r>
            <a:endParaRPr lang="en-US" sz="1800" dirty="0"/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1188720" y="443484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4846320" y="14630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核心算法设计</a:t>
            </a:r>
            <a:endParaRPr lang="en-US" sz="1800" dirty="0"/>
          </a:p>
        </p:txBody>
      </p: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5577840" y="196596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4846320" y="22860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5577840" y="2377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技术路线</a:t>
            </a:r>
            <a:endParaRPr lang="en-US" sz="1800" dirty="0"/>
          </a:p>
        </p:txBody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5577840" y="278892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4846320" y="3108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07</a:t>
            </a:r>
            <a:endParaRPr lang="en-US" sz="28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5577840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业务模式与可行性</a:t>
            </a:r>
            <a:endParaRPr lang="en-US" sz="180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5577840" y="361188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4846320" y="39319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5577840" y="4023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团队介绍</a:t>
            </a:r>
            <a:endParaRPr lang="en-US" sz="1800" dirty="0"/>
          </a:p>
        </p:txBody>
      </p:sp>
      <p:sp>
        <p:nvSpPr>
          <p:cNvPr id="28" name="Shape 26"/>
          <p:cNvSpPr/>
          <p:nvPr>
            <p:custDataLst>
              <p:tags r:id="rId24"/>
            </p:custDataLst>
          </p:nvPr>
        </p:nvSpPr>
        <p:spPr>
          <a:xfrm>
            <a:off x="5577840" y="443484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2 / 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背景与问题分析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D0"/>
                </a:solidFill>
              </a:rPr>
              <a:t>随着教育信息化2.0深入推进，高校校园网已成为教学、科研与管理的核心基础设施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看不清流量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731520" y="25146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SNMP 5分钟级采样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无法感知秒级波动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731520" y="3291840"/>
            <a:ext cx="2286000" cy="457200"/>
          </a:xfrm>
          <a:prstGeom prst="rect">
            <a:avLst/>
          </a:prstGeom>
          <a:solidFill>
            <a:srgbClr val="E74C3C">
              <a:alpha val="20000"/>
            </a:srgbClr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731520" y="3337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</a:rPr>
              <a:t>精度提升300倍</a:t>
            </a:r>
            <a:endParaRPr lang="en-US" sz="12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338328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383280" y="1463040"/>
            <a:ext cx="2651760" cy="73152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14" name="Text 12"/>
          <p:cNvSpPr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查不到根因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566160" y="25146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缺乏流级检索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故障定位靠经验猜测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3566160" y="3291840"/>
            <a:ext cx="2286000" cy="457200"/>
          </a:xfrm>
          <a:prstGeom prst="rect">
            <a:avLst/>
          </a:prstGeom>
          <a:solidFill>
            <a:srgbClr val="F39C12">
              <a:alpha val="20000"/>
            </a:srgbClr>
          </a:solidFill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类Wireshark检索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6217920" y="1463040"/>
            <a:ext cx="2651760" cy="731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1" name="Text 19"/>
          <p:cNvSpPr/>
          <p:nvPr/>
        </p:nvSpPr>
        <p:spPr>
          <a:xfrm>
            <a:off x="6217920" y="16002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防不住威胁</a:t>
            </a:r>
            <a:endParaRPr lang="en-US" sz="18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400800" y="25146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蠕虫/慢速扫描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隐蔽在正常流量中</a:t>
            </a:r>
            <a:endParaRPr lang="en-US" sz="1200" dirty="0"/>
          </a:p>
        </p:txBody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400800" y="3291840"/>
            <a:ext cx="2286000" cy="457200"/>
          </a:xfrm>
          <a:prstGeom prst="rect">
            <a:avLst/>
          </a:prstGeom>
          <a:solidFill>
            <a:srgbClr val="00D4AA">
              <a:alpha val="20000"/>
            </a:srgbClr>
          </a:solidFill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400800" y="3337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误报率降低60%+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00D4AA">
              <a:alpha val="1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AA"/>
                </a:solidFill>
              </a:rPr>
              <a:t>本项目针对高校校园网「看不清、查不到、防不住」三大运维痛点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3 / 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解决方案概览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AA"/>
                </a:solidFill>
              </a:rPr>
              <a:t>系统采用「采集 → 分析 → 检测 → 展示」四层架构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</a:rPr>
              <a:t>高吞吐链路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A4A"/>
                </a:solidFill>
              </a:rPr>
              <a:t>NetFlow采集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54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</a:rPr>
              <a:t>秒级采样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A4A"/>
                </a:solidFill>
              </a:rPr>
              <a:t>精度1秒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</a:rPr>
              <a:t>内存缓冲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A4A"/>
                </a:solidFill>
              </a:rPr>
              <a:t>实时聚合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</a:rPr>
              <a:t>WebSocket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A4A"/>
                </a:solidFill>
              </a:rPr>
              <a:t>全双工推送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18288" cy="457200"/>
          </a:xfrm>
          <a:prstGeom prst="rect">
            <a:avLst/>
          </a:prstGeom>
          <a:solidFill>
            <a:srgbClr val="B8C5D0">
              <a:alpha val="5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548640" y="31089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2" name="Shape 20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3" name="Text 21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2004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实时全景大屏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20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四维KPI + 趋势图 + 协议分布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7" name="Shape 25"/>
          <p:cNvSpPr/>
          <p:nvPr/>
        </p:nvSpPr>
        <p:spPr>
          <a:xfrm>
            <a:off x="3383280" y="3108960"/>
            <a:ext cx="54864" cy="7772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8" name="Text 26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31920" y="32004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安全威胁感知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3520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6种规则 + 4套</a:t>
            </a:r>
            <a:r>
              <a:rPr lang="zh-CN" altLang="en-US" sz="1000" dirty="0">
                <a:solidFill>
                  <a:srgbClr val="B8C5D0"/>
                </a:solidFill>
              </a:rPr>
              <a:t>创新</a:t>
            </a:r>
            <a:r>
              <a:rPr lang="en-US" sz="1000" dirty="0">
                <a:solidFill>
                  <a:srgbClr val="B8C5D0"/>
                </a:solidFill>
              </a:rPr>
              <a:t>算法双重检测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2" name="Shape 30"/>
          <p:cNvSpPr/>
          <p:nvPr/>
        </p:nvSpPr>
        <p:spPr>
          <a:xfrm>
            <a:off x="6217920" y="3108960"/>
            <a:ext cx="54864" cy="7772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3" name="Text 31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766560" y="32004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流级检索引擎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3520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类Wireshark Web版精确检索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7" name="Shape 35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8" name="Text 36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97280" y="4114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IP详情画像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4434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单IP行为分析与威胁评估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0233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42" name="Shape 40"/>
          <p:cNvSpPr/>
          <p:nvPr/>
        </p:nvSpPr>
        <p:spPr>
          <a:xfrm>
            <a:off x="3383280" y="4023360"/>
            <a:ext cx="54864" cy="7772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43" name="Text 41"/>
          <p:cNvSpPr/>
          <p:nvPr/>
        </p:nvSpPr>
        <p:spPr>
          <a:xfrm>
            <a:off x="3520440" y="4160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🔽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931920" y="4114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六层下钻交互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31920" y="4434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全景→区域→楼宇→端口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4 / 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系统架构设计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11887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731520" y="1143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</a:rPr>
              <a:t>前端展示层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React 18 + Vite 5 + ECharts 5 + ECharts-GL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Dashboard | SecurityCenter | FlowSearch | IpDetails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1945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</a:rPr>
              <a:t>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37160" cy="1188720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2" name="Text 10"/>
          <p:cNvSpPr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DC4"/>
                </a:solidFill>
              </a:rPr>
              <a:t>后端服务层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Spring Boot 3.x + Spring Data JPA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流量分析 | 威胁检测 | 算法引擎 | WebSocket推送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CDC4"/>
                </a:solidFill>
              </a:rPr>
              <a:t>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137160" cy="1188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73152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数据存储层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流量记录 + 安全告警 + 地理信息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1005840"/>
            <a:ext cx="3017520" cy="11887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2" name="Text 20"/>
          <p:cNvSpPr/>
          <p:nvPr/>
        </p:nvSpPr>
        <p:spPr>
          <a:xfrm>
            <a:off x="5852160" y="1188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HTTP REST + WebSocket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1508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实时全双工推送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≤1秒数据刷新延迟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377440"/>
            <a:ext cx="3017520" cy="11887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5" name="Text 23"/>
          <p:cNvSpPr/>
          <p:nvPr/>
        </p:nvSpPr>
        <p:spPr>
          <a:xfrm>
            <a:off x="5852160" y="2560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JPA / 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8803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JSONB威胁上下文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GIN索引加速检索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5 / 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核心功能：实时全景大屏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AA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777240"/>
            <a:ext cx="1920240" cy="1143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6" name="Shape 24"/>
          <p:cNvSpPr/>
          <p:nvPr/>
        </p:nvSpPr>
        <p:spPr>
          <a:xfrm>
            <a:off x="0" y="777240"/>
            <a:ext cx="73152" cy="11430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7" name="Text 25"/>
          <p:cNvSpPr/>
          <p:nvPr/>
        </p:nvSpPr>
        <p:spPr>
          <a:xfrm>
            <a:off x="182880" y="868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吞吐趋势图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" y="12344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时间桶对齐折线图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支持Bytes/Packets双维切换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60fps流畅刷新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09510" y="662940"/>
            <a:ext cx="1629410" cy="1143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0" name="Shape 28"/>
          <p:cNvSpPr/>
          <p:nvPr/>
        </p:nvSpPr>
        <p:spPr>
          <a:xfrm>
            <a:off x="9065895" y="662940"/>
            <a:ext cx="73152" cy="11430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1" name="Text 29"/>
          <p:cNvSpPr/>
          <p:nvPr/>
        </p:nvSpPr>
        <p:spPr>
          <a:xfrm>
            <a:off x="7692390" y="7543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协议分布饼图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92390" y="11201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覆盖27种应用协议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实时占比分析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支持维度切换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3337560"/>
            <a:ext cx="1920240" cy="1143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4" name="Shape 32"/>
          <p:cNvSpPr/>
          <p:nvPr/>
        </p:nvSpPr>
        <p:spPr>
          <a:xfrm>
            <a:off x="0" y="3337560"/>
            <a:ext cx="73152" cy="11430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5" name="Text 33"/>
          <p:cNvSpPr/>
          <p:nvPr/>
        </p:nvSpPr>
        <p:spPr>
          <a:xfrm>
            <a:off x="182880" y="3429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Top-K突发大流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82880" y="37947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按流量排序Top-10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点击直接下钻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至单IP详情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09510" y="3337560"/>
            <a:ext cx="1628775" cy="1143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8" name="Shape 36"/>
          <p:cNvSpPr/>
          <p:nvPr/>
        </p:nvSpPr>
        <p:spPr>
          <a:xfrm>
            <a:off x="9065260" y="3291840"/>
            <a:ext cx="73152" cy="11430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9" name="Text 37"/>
          <p:cNvSpPr/>
          <p:nvPr/>
        </p:nvSpPr>
        <p:spPr>
          <a:xfrm>
            <a:off x="7692390" y="3429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区域热力图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692390" y="37947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按宿舍区/教学区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行政区/科研区展示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流量差异分布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6 / 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  <p:pic>
        <p:nvPicPr>
          <p:cNvPr id="48" name="图片 47" descr="真实全景大屏截图_全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470" y="0"/>
            <a:ext cx="4925060" cy="5143500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 flipH="1">
            <a:off x="4292600" y="914400"/>
            <a:ext cx="3348355" cy="27432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H="1" flipV="1">
            <a:off x="3716655" y="2785110"/>
            <a:ext cx="3975735" cy="80391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1314450" y="3589020"/>
            <a:ext cx="916305" cy="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1138555" y="1005840"/>
            <a:ext cx="1092200" cy="18288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核心功能：安全威胁感知中心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AA"/>
                </a:solidFill>
              </a:rPr>
              <a:t>SecurityCenter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</a:rPr>
              <a:t>双层威胁检测体系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规则驱动层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40080" y="1828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DDoS攻击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874520" y="1828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端口扫描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3108960" y="1828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慢速扫描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40080" y="2331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蠕虫传播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874520" y="2331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钓鱼攻击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3108960" y="2331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数据外泄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31920" cy="9144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2" name="Shape 20"/>
          <p:cNvSpPr/>
          <p:nvPr/>
        </p:nvSpPr>
        <p:spPr>
          <a:xfrm>
            <a:off x="457200" y="3063240"/>
            <a:ext cx="3931920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3" name="Text 21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</a:rPr>
              <a:t>算法增强层（4套原创算法）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EWMA-EAD | MDTCE | NBF-RS | TPM-PA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280160"/>
            <a:ext cx="4114800" cy="16459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6" name="Text 24"/>
          <p:cNvSpPr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🌍  3D地球攻击溯源地图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WebGL渲染全球攻击源分布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支持旋转/缩放/点击查看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Jitter坐标抖动防重叠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Bloom泛光特效科技感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063240"/>
            <a:ext cx="4114800" cy="9144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9" name="Text 27"/>
          <p:cNvSpPr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📋  告警列表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566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多维筛选 | CSV导出取证 | IP下钻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7 / 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3845" y="1325880"/>
            <a:ext cx="2084070" cy="150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核心功能：流级检索引擎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AA"/>
                </a:solidFill>
              </a:rPr>
              <a:t>FlowSearch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AA"/>
                </a:solidFill>
              </a:rPr>
              <a:t>类Wireshark Web版检索，精准故障取证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219456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多维组合检索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4114800" cy="219456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4" name="Text 22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分页展示与导出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</a:rPr>
              <a:t>📤 CSV导出  |  🔍 IP下钻  |  📄 分页浏览（默认20条/页）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45" name="Text 43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💡 任意IP字段均可点击跳转至 IpDetails 单IP详情页，实现无缝下钻分析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8 / 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36725"/>
            <a:ext cx="4119880" cy="18161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76755"/>
            <a:ext cx="3931920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核心功能：六层下钻交互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AA"/>
                </a:solidFill>
              </a:rPr>
              <a:t>IpDetails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D0"/>
                </a:solidFill>
              </a:rPr>
              <a:t>对标企业级NetFlow Analyzer产品，实现从宏观到微观的无缝逐级下钻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8" name="Text 6"/>
          <p:cNvSpPr/>
          <p:nvPr/>
        </p:nvSpPr>
        <p:spPr>
          <a:xfrm>
            <a:off x="96012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全网全景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0"/>
                </a:solidFill>
              </a:rPr>
              <a:t>全网总览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6596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645920"/>
            <a:ext cx="457200" cy="457200"/>
          </a:xfrm>
          <a:prstGeom prst="ellipse">
            <a:avLst/>
          </a:prstGeom>
          <a:solidFill>
            <a:srgbClr val="4ECDC4"/>
          </a:solidFill>
        </p:spPr>
      </p:sp>
      <p:sp>
        <p:nvSpPr>
          <p:cNvPr id="15" name="Text 13"/>
          <p:cNvSpPr/>
          <p:nvPr/>
        </p:nvSpPr>
        <p:spPr>
          <a:xfrm>
            <a:off x="237744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2194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6596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网络区域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971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0"/>
                </a:solidFill>
              </a:rPr>
              <a:t>宿舍区/教学区/行政区/科研区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228600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94760" y="1645920"/>
            <a:ext cx="457200" cy="45720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2" name="Text 20"/>
          <p:cNvSpPr/>
          <p:nvPr/>
        </p:nvSpPr>
        <p:spPr>
          <a:xfrm>
            <a:off x="379476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194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8328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楼宇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971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0"/>
                </a:solidFill>
              </a:rPr>
              <a:t>宿舍A栋/教学楼/行政楼...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0060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1645920"/>
            <a:ext cx="457200" cy="457200"/>
          </a:xfrm>
          <a:prstGeom prst="ellipse">
            <a:avLst/>
          </a:prstGeom>
          <a:solidFill>
            <a:srgbClr val="9B59B6"/>
          </a:solidFill>
        </p:spPr>
      </p:sp>
      <p:sp>
        <p:nvSpPr>
          <p:cNvPr id="29" name="Text 27"/>
          <p:cNvSpPr/>
          <p:nvPr/>
        </p:nvSpPr>
        <p:spPr>
          <a:xfrm>
            <a:off x="521208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2194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0060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交换机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971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0"/>
                </a:solidFill>
              </a:rPr>
              <a:t>SW-001 / SW-002 ...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228600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59B6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36" name="Text 34"/>
          <p:cNvSpPr/>
          <p:nvPr/>
        </p:nvSpPr>
        <p:spPr>
          <a:xfrm>
            <a:off x="662940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0" y="2194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21792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端口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2971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0"/>
                </a:solidFill>
              </a:rPr>
              <a:t>GE0/0/1 ~ GE0/0/48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228600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3524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1645920"/>
            <a:ext cx="457200" cy="457200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43" name="Text 41"/>
          <p:cNvSpPr/>
          <p:nvPr/>
        </p:nvSpPr>
        <p:spPr>
          <a:xfrm>
            <a:off x="804672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35240" y="2194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63524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单IP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80960" y="2971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0"/>
                </a:solidFill>
              </a:rPr>
              <a:t>IP详情画像分析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48" name="Text 46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单IP详情画像功能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50" name="Text 48"/>
          <p:cNvSpPr/>
          <p:nvPr/>
        </p:nvSpPr>
        <p:spPr>
          <a:xfrm>
            <a:off x="960120" y="4160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入/出流量趋势时序图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51760" y="4206240"/>
            <a:ext cx="228600" cy="22860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52" name="Text 50"/>
          <p:cNvSpPr/>
          <p:nvPr/>
        </p:nvSpPr>
        <p:spPr>
          <a:xfrm>
            <a:off x="2971800" y="4160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通信对端TOP-10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4206240"/>
            <a:ext cx="228600" cy="22860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54" name="Text 52"/>
          <p:cNvSpPr/>
          <p:nvPr/>
        </p:nvSpPr>
        <p:spPr>
          <a:xfrm>
            <a:off x="4983480" y="4160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协议分布饼图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75120" y="4206240"/>
            <a:ext cx="228600" cy="22860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56" name="Text 54"/>
          <p:cNvSpPr/>
          <p:nvPr/>
        </p:nvSpPr>
        <p:spPr>
          <a:xfrm>
            <a:off x="6995160" y="4160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端口使用分析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9 / 18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  <p:pic>
        <p:nvPicPr>
          <p:cNvPr id="60" name="QQ2026417-142354-HD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46395" y="64770"/>
            <a:ext cx="2823210" cy="1409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核心算法设计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AA"/>
                </a:solidFill>
              </a:rPr>
              <a:t>四套原创算法，超越规则驱动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914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7" name="Text 5"/>
          <p:cNvSpPr/>
          <p:nvPr/>
        </p:nvSpPr>
        <p:spPr>
          <a:xfrm>
            <a:off x="640080" y="15544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</a:rPr>
              <a:t>EWMA-EAD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指数加权熵异常检测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融合流量统计与协议熵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区分正常突发与攻击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749040" cy="274320"/>
          </a:xfrm>
          <a:prstGeom prst="rect">
            <a:avLst/>
          </a:prstGeom>
          <a:solidFill>
            <a:srgbClr val="00D4AA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731520" y="25786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</a:rPr>
              <a:t>✨ 误报率降低60%+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3" name="Shape 11"/>
          <p:cNvSpPr/>
          <p:nvPr/>
        </p:nvSpPr>
        <p:spPr>
          <a:xfrm>
            <a:off x="4754880" y="1371600"/>
            <a:ext cx="4114800" cy="91440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4" name="Text 12"/>
          <p:cNvSpPr/>
          <p:nvPr/>
        </p:nvSpPr>
        <p:spPr>
          <a:xfrm>
            <a:off x="4937760" y="15544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DC4"/>
                </a:solidFill>
              </a:rPr>
              <a:t>MDTCE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多维威胁关联引擎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基于Kill Chain建模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识别完整攻击链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749040" cy="274320"/>
          </a:xfrm>
          <a:prstGeom prst="rect">
            <a:avLst/>
          </a:prstGeom>
          <a:solidFill>
            <a:srgbClr val="4ECDC4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029200" y="25786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DC4"/>
                </a:solidFill>
              </a:rPr>
              <a:t>✨ 填补校园网安全空白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411480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0" name="Shape 18"/>
          <p:cNvSpPr/>
          <p:nvPr/>
        </p:nvSpPr>
        <p:spPr>
          <a:xfrm>
            <a:off x="457200" y="3063240"/>
            <a:ext cx="4114800" cy="9144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1" name="Text 19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NBF-RS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32918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7维行为指纹评分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协议熵/对端多样性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流量非对称性等综合评估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3749040" cy="274320"/>
          </a:xfrm>
          <a:prstGeom prst="rect">
            <a:avLst/>
          </a:prstGeom>
          <a:solidFill>
            <a:srgbClr val="3498DB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731520" y="42702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</a:rPr>
              <a:t>✨ 7维特征向量画像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7" name="Shape 25"/>
          <p:cNvSpPr/>
          <p:nvPr/>
        </p:nvSpPr>
        <p:spPr>
          <a:xfrm>
            <a:off x="4754880" y="3063240"/>
            <a:ext cx="4114800" cy="91440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28" name="Text 26"/>
          <p:cNvSpPr/>
          <p:nvPr/>
        </p:nvSpPr>
        <p:spPr>
          <a:xfrm>
            <a:off x="493776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</a:rPr>
              <a:t>TPM-PA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2918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0"/>
                </a:solidFill>
              </a:rPr>
              <a:t>时序预测预警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703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Pearson跨信号相关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+趋势预测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251960"/>
            <a:ext cx="3749040" cy="274320"/>
          </a:xfrm>
          <a:prstGeom prst="rect">
            <a:avLst/>
          </a:prstGeom>
          <a:solidFill>
            <a:srgbClr val="9B59B6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5029200" y="42702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</a:rPr>
              <a:t>✨ 预防性告警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0D4AA">
              <a:alpha val="15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AA"/>
                </a:solidFill>
              </a:rPr>
              <a:t>从「被动响应」到「主动预防」的能力跃升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10 / 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算法详解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21031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EWMA-EAD 指数加权熵异常检测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1. EWMA平滑：抑制流量噪声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   S_t = α×X_t + (1-α)×S_{t-1}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2. Shannon熵：协议分布分析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   H = -Σ p_i × log₂(p_i)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3. 融合判断：流量超3σ 且 熵低于阈值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</a:rPr>
              <a:t>优势：融合熵分析后可区分正常突发</a:t>
            </a:r>
            <a:r>
              <a:rPr lang="en-US" sz="1000" dirty="0">
                <a:solidFill>
                  <a:srgbClr val="B8C5D0"/>
                </a:solidFill>
              </a:rPr>
              <a:t>（协议多样）与攻击（协议单一）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21031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9" name="Shape 7"/>
          <p:cNvSpPr/>
          <p:nvPr/>
        </p:nvSpPr>
        <p:spPr>
          <a:xfrm>
            <a:off x="4572000" y="914400"/>
            <a:ext cx="91440" cy="2103120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0" name="Text 8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MDTCE 多维威胁关联引擎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基于网络杀伤链（Kill Chain）模型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攻击阶段：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侦察 → 武器化 → 投递 → 利用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→ 持久化 → 横向移动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关联规则：同源IP在时间窗内出现≥2个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不同攻击阶段事件，触发高威胁关联告警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3" name="Shape 11"/>
          <p:cNvSpPr/>
          <p:nvPr/>
        </p:nvSpPr>
        <p:spPr>
          <a:xfrm>
            <a:off x="457200" y="3200400"/>
            <a:ext cx="91440" cy="15544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</a:rPr>
              <a:t>NBF-RS 7维行为指纹评分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7个维度：</a:t>
            </a:r>
            <a:r>
              <a:rPr lang="en-US" sz="1000" dirty="0">
                <a:solidFill>
                  <a:srgbClr val="B8C5D0"/>
                </a:solidFill>
              </a:rPr>
              <a:t>协议熵 | 对端多样性 | 流量非对称性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端口分散度 | 时序集中度 | 连接强度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包大小偏差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综合评分：7维度加权求和，超过阈值触发风险告警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411480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7" name="Shape 15"/>
          <p:cNvSpPr/>
          <p:nvPr/>
        </p:nvSpPr>
        <p:spPr>
          <a:xfrm>
            <a:off x="4572000" y="3200400"/>
            <a:ext cx="91440" cy="1554480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18" name="Text 16"/>
          <p:cNvSpPr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TPM-PA 时序预测预警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1. 线性趋势分解：提取异常残差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2. Pearson跨信号相关分析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   r = Σ(X_i-X̄)(Y_i-Ȳ) /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3. 多区域异常相关+残差超阈值，提前预警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实现「预防性告警」而非事后发现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11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技术路线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5" name="Text 3"/>
          <p:cNvSpPr/>
          <p:nvPr/>
        </p:nvSpPr>
        <p:spPr>
          <a:xfrm>
            <a:off x="548640" y="9601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层次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技术选型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960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选型理由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9" name="Text 7"/>
          <p:cNvSpPr/>
          <p:nvPr/>
        </p:nvSpPr>
        <p:spPr>
          <a:xfrm>
            <a:off x="548640" y="1399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前端框架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3990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React 18 + Vite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3990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组件化开发，Vite极速HMR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3" name="Text 11"/>
          <p:cNvSpPr/>
          <p:nvPr/>
        </p:nvSpPr>
        <p:spPr>
          <a:xfrm>
            <a:off x="548640" y="1810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状态管理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8105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Zustand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10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轻量无样板，跨组件共享状态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7" name="Text 15"/>
          <p:cNvSpPr/>
          <p:nvPr/>
        </p:nvSpPr>
        <p:spPr>
          <a:xfrm>
            <a:off x="548640" y="2221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可视化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2219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ECharts 5 + ECharts-GL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2219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WebGL 3D地球渲染，Bloom特效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21" name="Text 19"/>
          <p:cNvSpPr/>
          <p:nvPr/>
        </p:nvSpPr>
        <p:spPr>
          <a:xfrm>
            <a:off x="548640" y="2633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后端框架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26334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Boot 3.x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6334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生产级Java框架，Actuator监控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5" name="Text 23"/>
          <p:cNvSpPr/>
          <p:nvPr/>
        </p:nvSpPr>
        <p:spPr>
          <a:xfrm>
            <a:off x="548640" y="3044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044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Data JPA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044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简化数据访问，支持复杂动态查询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29" name="Text 27"/>
          <p:cNvSpPr/>
          <p:nvPr/>
        </p:nvSpPr>
        <p:spPr>
          <a:xfrm>
            <a:off x="54864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数据库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34564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4564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强类型、JSONB列、GIN索引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3" name="Text 31"/>
          <p:cNvSpPr/>
          <p:nvPr/>
        </p:nvSpPr>
        <p:spPr>
          <a:xfrm>
            <a:off x="548640" y="38679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实时通信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3867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WebSocket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38679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原生集成STOMP，低延迟推送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7" name="Text 35"/>
          <p:cNvSpPr/>
          <p:nvPr/>
        </p:nvSpPr>
        <p:spPr>
          <a:xfrm>
            <a:off x="548640" y="4279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容器化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45920" y="42793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+ Docker Compose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42793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一键部署，环境隔离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0D4AA">
              <a:alpha val="15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跨平台支持：Linux / Windows | API文档：springdoc-openapi (Swagger UI)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12 / 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业务模式与可行性分析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应用对象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5486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7" name="Text 5"/>
          <p:cNvSpPr/>
          <p:nvPr/>
        </p:nvSpPr>
        <p:spPr>
          <a:xfrm>
            <a:off x="640080" y="13258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网络运维工程师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0"/>
                </a:solidFill>
              </a:rPr>
              <a:t>实时监控、快速定位故障根因、处理安全告警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5486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0" name="Shape 8"/>
          <p:cNvSpPr/>
          <p:nvPr/>
        </p:nvSpPr>
        <p:spPr>
          <a:xfrm>
            <a:off x="4754880" y="1280160"/>
            <a:ext cx="73152" cy="5486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1" name="Text 9"/>
          <p:cNvSpPr/>
          <p:nvPr/>
        </p:nvSpPr>
        <p:spPr>
          <a:xfrm>
            <a:off x="4937760" y="13258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网络安全管理员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0"/>
                </a:solidFill>
              </a:rPr>
              <a:t>威胁态势感知、攻击溯源分析、应急响应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4114800" cy="5486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4" name="Shape 12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5" name="Text 13"/>
          <p:cNvSpPr/>
          <p:nvPr/>
        </p:nvSpPr>
        <p:spPr>
          <a:xfrm>
            <a:off x="640080" y="19659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信息化管理部门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0"/>
                </a:solidFill>
              </a:rPr>
              <a:t>全校网络运行态势总览、辅助决策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可推广场景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3" name="Text 21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企业园区网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5" name="Text 23"/>
          <p:cNvSpPr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政务专网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7" name="Text 25"/>
          <p:cNvSpPr/>
          <p:nvPr/>
        </p:nvSpPr>
        <p:spPr>
          <a:xfrm>
            <a:off x="612648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数据中心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可行性分析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0" name="Text 28"/>
          <p:cNvSpPr/>
          <p:nvPr/>
        </p:nvSpPr>
        <p:spPr>
          <a:xfrm>
            <a:off x="548640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技术可行性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434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主流技术栈，组件成熟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40233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4" name="Text 32"/>
          <p:cNvSpPr/>
          <p:nvPr/>
        </p:nvSpPr>
        <p:spPr>
          <a:xfrm>
            <a:off x="3383280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4904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经济可行性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4434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开源组件，低部署成本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023360"/>
            <a:ext cx="2651760" cy="7772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8" name="Text 36"/>
          <p:cNvSpPr/>
          <p:nvPr/>
        </p:nvSpPr>
        <p:spPr>
          <a:xfrm>
            <a:off x="6217920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操作可行性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4434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Docker一键部署，即开即用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13 / 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团队介绍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137160" cy="10972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</a:rPr>
              <a:t>无敌暴龙战队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0"/>
                </a:solidFill>
              </a:rPr>
              <a:t>参赛编号：T2601487 </a:t>
            </a:r>
            <a:endParaRPr lang="zh-CN" altLang="en-US" sz="1400" dirty="0">
              <a:solidFill>
                <a:srgbClr val="B8C5D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核心成员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8686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594360" y="286207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43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队长 / 开发  侯宗阳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34440" y="30175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系统架构设计与核心算法实现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DC4"/>
                </a:solidFill>
              </a:rPr>
              <a:t>Java / Spring Boot / 数据库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4114800" cy="8686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6" name="Shape 14"/>
          <p:cNvSpPr/>
          <p:nvPr/>
        </p:nvSpPr>
        <p:spPr>
          <a:xfrm>
            <a:off x="4892040" y="278892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892040" y="286207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743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前端开发  王晨溪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32120" y="30175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React组件开发与可视化实现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324612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DC4"/>
                </a:solidFill>
              </a:rPr>
              <a:t>React / ECharts / WebSocket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114800" cy="8686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2" name="Shape 20"/>
          <p:cNvSpPr/>
          <p:nvPr/>
        </p:nvSpPr>
        <p:spPr>
          <a:xfrm>
            <a:off x="594360" y="379476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94360" y="386791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算法工程师  徐永佳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34440" y="40233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威胁检测算法设计与优化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2519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DC4"/>
                </a:solidFill>
              </a:rPr>
              <a:t>Python / 数据分析 / 机器学习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114800" cy="8686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8" name="Shape 26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892040" y="386791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3749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测试运维  徐慧芳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32120" y="40233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Docker部署与系统测试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42519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DC4"/>
                </a:solidFill>
              </a:rPr>
              <a:t>Docker / Linux / 性能调优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14 /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部署方案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</a:rPr>
              <a:t>🏠 部署服务器: 8.146.228.64  |  📡 测试流量源: 60.205.56.61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194560" cy="11887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7" name="Shape 5"/>
          <p:cNvSpPr/>
          <p:nvPr/>
        </p:nvSpPr>
        <p:spPr>
          <a:xfrm>
            <a:off x="731520" y="1463040"/>
            <a:ext cx="2194560" cy="73152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8" name="Text 6"/>
          <p:cNvSpPr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📡 测试流量源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60.205.56.61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C5D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194560" cy="11887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2" name="Shape 10"/>
          <p:cNvSpPr/>
          <p:nvPr/>
        </p:nvSpPr>
        <p:spPr>
          <a:xfrm>
            <a:off x="3474720" y="1463040"/>
            <a:ext cx="2194560" cy="731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3" name="Text 11"/>
          <p:cNvSpPr/>
          <p:nvPr/>
        </p:nvSpPr>
        <p:spPr>
          <a:xfrm>
            <a:off x="347472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🖥️ 前端大屏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8.146.228.64:3000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C5D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194560" cy="11887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7" name="Shape 15"/>
          <p:cNvSpPr/>
          <p:nvPr/>
        </p:nvSpPr>
        <p:spPr>
          <a:xfrm>
            <a:off x="6217920" y="1463040"/>
            <a:ext cx="2194560" cy="73152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8" name="Text 16"/>
          <p:cNvSpPr/>
          <p:nvPr/>
        </p:nvSpPr>
        <p:spPr>
          <a:xfrm>
            <a:off x="621792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</a:rPr>
              <a:t>⚙️ 后端服务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8.146.228.64:8080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6974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</a:rPr>
              <a:t>↓ 模拟真实网络流量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6974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</a:rPr>
              <a:t>↑ HTTP/WebSocket 数据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AA"/>
                </a:solidFill>
              </a:rPr>
              <a:t>🌐 在线访问地址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2651760" cy="6400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4" name="Text 22"/>
          <p:cNvSpPr/>
          <p:nvPr/>
        </p:nvSpPr>
        <p:spPr>
          <a:xfrm>
            <a:off x="548640" y="34747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前端大屏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http://8.146.228.64:3000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429000"/>
            <a:ext cx="2651760" cy="6400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7" name="Text 25"/>
          <p:cNvSpPr/>
          <p:nvPr/>
        </p:nvSpPr>
        <p:spPr>
          <a:xfrm>
            <a:off x="3383280" y="34747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后端API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http://8.146.228.64:8080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429000"/>
            <a:ext cx="2651760" cy="6400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0" name="Text 28"/>
          <p:cNvSpPr/>
          <p:nvPr/>
        </p:nvSpPr>
        <p:spPr>
          <a:xfrm>
            <a:off x="6217920" y="34747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Swagger文档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7490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http://8.146.228.64:8080/swagger-ui.html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5D0"/>
                </a:solidFill>
              </a:rPr>
              <a:t>Docker Compose 一键容器化部署 · PostgreSQL 15 数据库 · 前后端分离架构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15 /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</a:t>
            </a:r>
            <a:r>
              <a:rPr lang="en-US" sz="900" dirty="0">
                <a:solidFill>
                  <a:srgbClr val="B8C5D0"/>
                </a:solidFill>
                <a:sym typeface="+mn-ea"/>
              </a:rPr>
              <a:t>T2601487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创新亮点总结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8288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" name="Text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四套原创算法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874520"/>
            <a:ext cx="1188720" cy="1828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8" name="Text 6"/>
          <p:cNvSpPr/>
          <p:nvPr/>
        </p:nvSpPr>
        <p:spPr>
          <a:xfrm>
            <a:off x="548640" y="19659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EWMA-EAD、MDTCE、NBF-RS、TPM-PA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实现从「被动响应」到「主动预防」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8288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0" name="Text 8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6级下钻交互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874520"/>
            <a:ext cx="1188720" cy="18288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3" name="Text 11"/>
          <p:cNvSpPr/>
          <p:nvPr/>
        </p:nvSpPr>
        <p:spPr>
          <a:xfrm>
            <a:off x="3383280" y="19659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全景→区域→楼宇→交换机→端口→单IP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对标企业级NetFlow Analyzer产品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5" name="Text 13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3D地球攻击溯源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874520"/>
            <a:ext cx="1188720" cy="1828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6217920" y="19659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纯前端WebGL渲染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Canvas纹理+Jitter+Bloom特效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8288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0" name="Text 18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9B6"/>
                </a:solidFill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类Wireshark检索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3886200"/>
            <a:ext cx="1188720" cy="18288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23" name="Text 21"/>
          <p:cNvSpPr/>
          <p:nvPr/>
        </p:nvSpPr>
        <p:spPr>
          <a:xfrm>
            <a:off x="548640" y="397764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CIDR通配+端口范围+协议组合检索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CSV导出精准取证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8288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5" name="Text 23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演示数据智能自维护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3886200"/>
            <a:ext cx="1188720" cy="1828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8" name="Text 26"/>
          <p:cNvSpPr/>
          <p:nvPr/>
        </p:nvSpPr>
        <p:spPr>
          <a:xfrm>
            <a:off x="3383280" y="397764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12Gbps吞吐量自动续流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评审全程即开即用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0" name="Text 28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高性能实时架构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3886200"/>
            <a:ext cx="1188720" cy="1828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33" name="Text 31"/>
          <p:cNvSpPr/>
          <p:nvPr/>
        </p:nvSpPr>
        <p:spPr>
          <a:xfrm>
            <a:off x="6217920" y="397764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CompletableFuture并行查询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5D0"/>
                </a:solidFill>
              </a:rPr>
              <a:t>WebSocket≤1秒推送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16 / 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AA"/>
                </a:solidFill>
              </a:rPr>
              <a:t>算法深化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引入深度学习模型提升检测精度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基于时序网络的异常检测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用户行为分析(UEBA)集成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25603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73152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2" name="Text 10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CDC4"/>
                </a:solidFill>
              </a:rPr>
              <a:t>场景拓展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支持5G/IoT流量监控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多校区集中管控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云原生架构升级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25603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7315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98DB"/>
                </a:solidFill>
              </a:rPr>
              <a:t>生态建设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开放API供第三方集成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威胁情报共享联盟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0"/>
                </a:solidFill>
              </a:rPr>
              <a:t>• 行业标准化输出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0D4AA">
              <a:alpha val="1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愿景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为高校网络安全治理提供可复制、可推广的标准化参考范式，成为智慧校园网络运维的标杆解决方案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17 / 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3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4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5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6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7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8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9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0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1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2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3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4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5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6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7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8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19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0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1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2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3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4.xml><?xml version="1.0" encoding="utf-8"?>
<p:tagLst xmlns:p="http://schemas.openxmlformats.org/presentationml/2006/main">
  <p:tag name="KSO_WM_DIAGRAM_VIRTUALLY_FRAME" val="{&quot;height&quot;:237.6,&quot;left&quot;:36,&quot;top&quot;:115.2,&quot;width&quot;:655.2}"/>
</p:tagLst>
</file>

<file path=ppt/tags/tag25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26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27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28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29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0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1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2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3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4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5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6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7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8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39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40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41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ags/tag42.xml><?xml version="1.0" encoding="utf-8"?>
<p:tagLst xmlns:p="http://schemas.openxmlformats.org/presentationml/2006/main">
  <p:tag name="KSO_WM_DIAGRAM_VIRTUALLY_FRAME" val="{&quot;height&quot;:201.6,&quot;left&quot;:43.2,&quot;top&quot;:115.2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4081</Words>
  <Application>WPS 演示</Application>
  <PresentationFormat>On-screen Show (16:9)</PresentationFormat>
  <Paragraphs>731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项目简介PPT - A19</dc:title>
  <dc:creator>无敌暴龙战队</dc:creator>
  <dc:subject>面向智慧校园的细粒度网络流量监控与安全态势感知系统</dc:subject>
  <cp:lastModifiedBy>侯宗阳</cp:lastModifiedBy>
  <cp:revision>12</cp:revision>
  <dcterms:created xsi:type="dcterms:W3CDTF">2026-04-16T23:29:00Z</dcterms:created>
  <dcterms:modified xsi:type="dcterms:W3CDTF">2026-04-17T08:44:18Z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4CBE4DF7862341088EFEF72AA0D85463_12</vt:lpwstr>
  </property>
</Properties>
</file>