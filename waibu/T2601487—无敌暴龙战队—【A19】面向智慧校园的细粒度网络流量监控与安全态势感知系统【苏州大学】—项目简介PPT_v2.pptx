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赛题编号：A19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面向智慧校园的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A"/>
                </a:solidFill>
              </a:rPr>
              <a:t>细粒度网络流量监控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与安全态势感知系统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36576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0"/>
                </a:solidFill>
              </a:rPr>
              <a:t>参赛队伍：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无敌暴龙战队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0"/>
                </a:solidFill>
              </a:rPr>
              <a:t>参赛编号：</a:t>
            </a:r>
            <a:pPr indent="0" marL="0">
              <a:buNone/>
            </a:pPr>
            <a:r>
              <a:rPr lang="en-US" sz="1400" dirty="0">
                <a:solidFill>
                  <a:srgbClr val="4ECDC4"/>
                </a:solidFill>
              </a:rPr>
              <a:t>T2601487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0"/>
                </a:solidFill>
              </a:rPr>
              <a:t>命题单位：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苏州大学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C5D0"/>
                </a:solidFill>
              </a:rPr>
              <a:t>项目简介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背景与问题分析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解决方案概览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278892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08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系统架构设计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361188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8872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核心功能模块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88720" y="443484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核心算法设计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196596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778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技术路线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77840" y="278892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08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07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778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业务模式与可行性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577840" y="361188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7784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团队介绍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77840" y="443484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2 / 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背景与问题分析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0"/>
                </a:solidFill>
              </a:rPr>
              <a:t>随着教育信息化2.0深入推进，高校校园网已成为教学、科研与管理的核心基础设施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2560320"/>
          </a:xfrm>
          <a:prstGeom prst="rect">
            <a:avLst/>
          </a:prstGeom>
          <a:solidFill>
            <a:srgbClr val="1A3A5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265176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看不清流量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SNMP 5分钟级采样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无法感知秒级波动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solidFill>
            <a:srgbClr val="E74C3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精度提升300倍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651760" cy="2560320"/>
          </a:xfrm>
          <a:prstGeom prst="rect">
            <a:avLst/>
          </a:prstGeom>
          <a:solidFill>
            <a:srgbClr val="1A3A5C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463040"/>
            <a:ext cx="265176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查不到根因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缺乏流级检索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故障定位靠经验猜测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3291840"/>
            <a:ext cx="2286000" cy="45720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类Wireshark检索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651760" cy="2560320"/>
          </a:xfrm>
          <a:prstGeom prst="rect">
            <a:avLst/>
          </a:prstGeom>
          <a:solidFill>
            <a:srgbClr val="1A3A5C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463040"/>
            <a:ext cx="26517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防不住威胁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蠕虫/慢速扫描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隐蔽在正常流量中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291840"/>
            <a:ext cx="2286000" cy="457200"/>
          </a:xfrm>
          <a:prstGeom prst="rect">
            <a:avLst/>
          </a:prstGeom>
          <a:solidFill>
            <a:srgbClr val="00D4AA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误报率降低60%+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本项目针对高校校园网「看不清、查不到、防不住」三大运维痛点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3 / 18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解决方案概览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系统采用「采集 → 分析 → 检测 → 展示」四层架构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高吞吐链路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4A"/>
                </a:solidFill>
              </a:rPr>
              <a:t>NetFlow采集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秒级采样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4A"/>
                </a:solidFill>
              </a:rPr>
              <a:t>精度1秒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内存缓冲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4A"/>
                </a:solidFill>
              </a:rPr>
              <a:t>实时聚合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WebSocket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4A"/>
                </a:solidFill>
              </a:rPr>
              <a:t>全双工推送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468880"/>
            <a:ext cx="18288" cy="457200"/>
          </a:xfrm>
          <a:prstGeom prst="rect">
            <a:avLst/>
          </a:prstGeom>
          <a:solidFill>
            <a:srgbClr val="B8C5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1089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实时全景大屏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四维KPI + 趋势图 + 协议分布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1089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31089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319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安全威胁感知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6种规则 + 4套算法双重检测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1089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31089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7665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流级检索引擎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类Wireshark Web版精确检索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0233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9728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IP详情画像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单IP行为分析与威胁评估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2" name="Shape 40"/>
          <p:cNvSpPr/>
          <p:nvPr/>
        </p:nvSpPr>
        <p:spPr>
          <a:xfrm>
            <a:off x="3383280" y="40233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3" name="Text 41"/>
          <p:cNvSpPr/>
          <p:nvPr/>
        </p:nvSpPr>
        <p:spPr>
          <a:xfrm>
            <a:off x="35204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🔽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93192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六层下钻交互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9319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全景→区域→楼宇→端口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4 / 18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系统架构设计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" cy="1188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前端展示层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18 + Vite 5 + ECharts 5 + ECharts-GL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Dashboard | SecurityCenter | FlowSearch | IpDetails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137160" cy="1188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</a:rPr>
              <a:t>后端服务层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Spring Boot 3.x + Spring Data JPA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流量分析 | 威胁检测 | 算法引擎 | WebSocket推送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49040"/>
            <a:ext cx="137160" cy="1188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数据存储层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 15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流量记录 + 安全告警 + 地理信息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1005840"/>
            <a:ext cx="3017520" cy="1188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HTTP REST + WebSocket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实时全双工推送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≤1秒数据刷新延迟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377440"/>
            <a:ext cx="3017520" cy="1188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</a:rPr>
              <a:t>JPA / 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JSONB威胁上下文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GIN索引加速检索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5 / 18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核心功能：实时全景大屏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3.2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Gbps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实时吞吐量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201168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6324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892K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7764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PPS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每秒包数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201168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15,623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个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活跃IP数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914400"/>
            <a:ext cx="201168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47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7532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告警总数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103120"/>
            <a:ext cx="4114800" cy="1143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10312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吞吐趋势图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时间桶对齐折线图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支持Bytes/Packets双维切换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60fps流畅刷新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103120"/>
            <a:ext cx="4114800" cy="1143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210312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协议分布饼图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覆盖27种应用协议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实时占比分析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支持维度切换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4114800" cy="1143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38328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Top-K突发大流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按流量排序Top-10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点击直接下钻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至单IP详情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4114800" cy="1143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338328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区域热力图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3776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按宿舍区/教学区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行政区/科研区展示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流量差异分布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6 / 18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核心功能：安全威胁感知中心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365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SecurityCenter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双层威胁检测体系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规则驱动层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DDoS攻击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178308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端口扫描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78308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慢速扫描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28600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蠕虫传播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228600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钓鱼攻击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228600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数据外泄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93192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063240"/>
            <a:ext cx="3931920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算法增强层（4套原创算法）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EWMA-EAD | MDTCE | NBF-RS | TPM-PA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280160"/>
            <a:ext cx="411480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🌍  3D地球攻击溯源地图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WebGL渲染全球攻击源分布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支持旋转/缩放/点击查看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Jitter坐标抖动防重叠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Bloom泛光特效科技感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063240"/>
            <a:ext cx="411480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📋  告警列表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多维筛选 | CSV导出取证 | IP下钻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7 / 18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核心功能：流级检索引擎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365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FlowSearch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类Wireshark Web版检索，精准故障取证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21945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多维组合检索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源/目IP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精确IP 或 CIDR通配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192.168.1.1 / 10.0.0.0/8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端口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精确端口 或 范围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80 / 1024-65535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协议类型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TCP / UDP / ICMP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TCP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应用协议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27种协议覆盖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HTTPS / DNS / HTTP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时间范围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起止时间 或 最近N分钟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minutesAgo=30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4114800" cy="21945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分页展示与导出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1920240"/>
            <a:ext cx="3749040" cy="1463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1920240"/>
            <a:ext cx="3749040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源IP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目的IP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端口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协议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192.168.1.105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8.8.8.8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443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980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TCP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10.0.2.15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114.114.114.114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836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53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980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UDP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48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172.16.0.50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92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139.xxx.xx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836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445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80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TCP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</a:rPr>
              <a:t>📤 CSV导出  |  🔍 IP下钻  |  📄 分页浏览（默认20条/页）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任意IP字段均可点击跳转至 IpDetails 单IP详情页，实现无缝下钻分析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8 / 18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核心功能：六层下钻交互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365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IpDetails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0"/>
                </a:solidFill>
              </a:rPr>
              <a:t>对标企业级NetFlow Analyzer产品，实现从宏观到微观的无缝逐级下钻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459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全网全景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全网总览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6596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164592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6596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网络区域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宿舍区/教学区/行政区/科研区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4612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8328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94760" y="164592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38328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楼宇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宿舍A栋/教学楼/行政楼...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0060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164592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80060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交换机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SW-001 / SW-002 ...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8076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59B6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792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1792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21792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端口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GE0/0/1 ~ GE0/0/48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9808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7E22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3524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16459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3524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6352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单IP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8096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IP详情画像分析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单IP详情画像功能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" y="420624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入/出流量趋势时序图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651760" y="420624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2" name="Text 50"/>
          <p:cNvSpPr/>
          <p:nvPr/>
        </p:nvSpPr>
        <p:spPr>
          <a:xfrm>
            <a:off x="29718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通信对端TOP-10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420624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协议分布饼图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675120" y="420624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6" name="Text 54"/>
          <p:cNvSpPr/>
          <p:nvPr/>
        </p:nvSpPr>
        <p:spPr>
          <a:xfrm>
            <a:off x="699516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端口使用分析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9 / 18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核心算法设计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四套原创算法，超越规则驱动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EWMA-EAD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指数加权熵异常检测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融合流量统计与协议熵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区分正常突发与攻击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3749040" cy="274320"/>
          </a:xfrm>
          <a:prstGeom prst="rect">
            <a:avLst/>
          </a:prstGeom>
          <a:solidFill>
            <a:srgbClr val="00D4A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✨ 误报率降低60%+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371600"/>
            <a:ext cx="4114800" cy="91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MDTCE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多维威胁关联引擎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基于Kill Chain建模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识别完整攻击链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3749040" cy="27432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✨ 填补校园网安全空白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063240"/>
            <a:ext cx="4114800" cy="914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</a:rPr>
              <a:t>NBF-RS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116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7维行为指纹评分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协议熵/对端多样性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流量非对称性等综合评估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3749040" cy="274320"/>
          </a:xfrm>
          <a:prstGeom prst="rect">
            <a:avLst/>
          </a:prstGeom>
          <a:solidFill>
            <a:srgbClr val="3498DB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98DB"/>
                </a:solidFill>
              </a:rPr>
              <a:t>✨ 7维特征向量画像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063240"/>
            <a:ext cx="4114800" cy="914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</a:rPr>
              <a:t>TPM-PA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时序预测预警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Pearson跨信号相关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+趋势预测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4251960"/>
            <a:ext cx="3749040" cy="274320"/>
          </a:xfrm>
          <a:prstGeom prst="rect">
            <a:avLst/>
          </a:prstGeom>
          <a:solidFill>
            <a:srgbClr val="9B59B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59B6"/>
                </a:solidFill>
              </a:rPr>
              <a:t>✨ 预防性告警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从「被动响应」到「主动预防」的能力跃升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10 / 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算法详解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2103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EWMA-EAD 指数加权熵异常检测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1. EWMA平滑：抑制流量噪声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   S_t = α×X_t + (1-α)×S_{t-1}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2. Shannon熵：协议分布分析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   H = -Σ p_i × log₂(p_i)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3. 融合判断：流量超3σ 且 熵低于阈值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优势：融合熵分析后可区分正常突发</a:t>
            </a:r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（协议多样）与攻击（协议单一）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2103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914400"/>
            <a:ext cx="91440" cy="21031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</a:rPr>
              <a:t>MDTCE 多维威胁关联引擎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基于网络杀伤链（Kill Chain）模型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攻击阶段：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侦察 → 武器化 → 投递 → 利用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→ 持久化 → 横向移动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关联规则：同源IP在时间窗内出现≥2个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不同攻击阶段事件，触发高威胁关联告警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00400"/>
            <a:ext cx="91440" cy="1554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NBF-RS 7维行为指纹评分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7个维度：</a:t>
            </a:r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协议熵 | 对端多样性 | 流量非对称性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端口分散度 | 时序集中度 | 连接强度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包大小偏差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综合评分：7维度加权求和，超过阈值触发风险告警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20040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3200400"/>
            <a:ext cx="91440" cy="15544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TPM-PA 时序预测预警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1. 线性趋势分解：提取异常残差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2. Pearson跨信号相关分析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   r = Σ(X_i-X̄)(Y_i-Ȳ) 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3. 多区域异常相关+残差超阈值，提前预警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实现「预防性告警」而非事后发现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11 / 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技术路线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</a:rPr>
              <a:t>层次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</a:rPr>
              <a:t>技术选型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</a:rPr>
              <a:t>选型理由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99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前端框架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399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18 + Vite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399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组件化开发，Vite极速HMR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状态管理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Zustand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轻量无样板，跨组件共享状态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21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可视化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ECharts 5 + ECharts-GL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221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WebGL 3D地球渲染，Bloom特效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后端框架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Boot 3.x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生产级Java框架，Actuator监控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044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Data JPA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3044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简化数据访问，支持复杂动态查询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数据库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4592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 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强类型、JSONB列、GIN索引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867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实时通信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45920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WebSocket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3867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原生集成STOMP，低延迟推送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279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容器化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4592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+ Docker Compose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0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一键部署，环境隔离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跨平台支持：Linux / Windows | API文档：springdoc-openapi (Swagger UI)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12 / 18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业务模式与可行性分析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应用对象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网络运维工程师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实时监控、快速定位故障根因、处理安全告警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网络安全管理员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威胁态势感知、攻击溯源分析、应急响应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41148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信息化管理部门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全校网络运行态势总览、辅助决策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41148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92024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竞赛评审专家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一键部署快速复现、体验完整功能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可推广场景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企业园区网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政务专网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5603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数据中心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可行性分析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技术可行性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主流技术栈，组件成熟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4904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经济可行性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开源组件，低部署成本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368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操作可行性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Docker一键部署，即开即用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13 / 18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团队介绍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37160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无敌暴龙战队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0"/>
                </a:solidFill>
              </a:rPr>
              <a:t>参赛编号：T2601487  |  命题单位：苏州大学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核心成员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1148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78892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62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队长 / 开发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系统架构设计与核心算法实现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3246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Java / Spring Boot / 数据库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606040"/>
            <a:ext cx="41148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278892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62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前端开发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React组件开发与可视化实现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3246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React / ECharts / WebSocket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1148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79476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67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算法工程师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威胁检测算法设计与优化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4251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Python / 数据分析 / 机器学习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41148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379476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867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测试运维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3212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Docker部署与系统测试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4251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Docker / Linux / 性能调优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14 / 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部署方案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🏠 部署服务器: 8.146.228.64  |  📡 测试流量源: 60.205.56.61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194560" cy="1188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63040"/>
            <a:ext cx="219456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📡 测试流量源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60.205.56.61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C5D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194560" cy="1188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463040"/>
            <a:ext cx="21945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🖥️ 前端大屏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8.146.228.64:3000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C5D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194560" cy="1188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463040"/>
            <a:ext cx="219456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</a:rPr>
              <a:t>⚙️ 后端服务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8.146.228.64:8080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</a:rPr>
              <a:t>↓ 模拟真实网络流量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↑ HTTP/WebSocket 数据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🌐 在线访问地址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265176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74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前端大屏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http://8.146.228.64:3000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429000"/>
            <a:ext cx="265176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474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后端API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http://8.146.228.64:8080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429000"/>
            <a:ext cx="265176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474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Swagger文档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http://8.146.228.64:8080/swagger-ui.html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Docker Compose 一键容器化部署 · PostgreSQL 15 数据库 · 前后端分离架构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15 / 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创新亮点总结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四套原创算法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874520"/>
            <a:ext cx="1188720" cy="182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EWMA-EAD、MDTCE、NBF-RS、TPM-PA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实现从「被动响应」到「主动预防」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6级下钻交互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874520"/>
            <a:ext cx="1188720" cy="1828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全景→区域→楼宇→交换机→端口→单IP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对标企业级NetFlow Analyzer产品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3D地球攻击溯源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1874520"/>
            <a:ext cx="1188720" cy="1828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纯前端WebGL渲染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Canvas纹理+Jitter+Bloom特效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9B6"/>
                </a:solidFill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类Wireshark检索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3886200"/>
            <a:ext cx="1188720" cy="1828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77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CIDR通配+端口范围+协议组合检索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CSV导出精准取证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演示数据智能自维护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23360" y="3886200"/>
            <a:ext cx="1188720" cy="182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3977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12Gbps吞吐量自动续流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评审全程即开即用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06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21792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高性能实时架构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3886200"/>
            <a:ext cx="1188720" cy="182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977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CompletableFuture并行查询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WebSocket≤1秒推送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16 / 18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未来展望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算法深化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引入深度学习模型提升检测精度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基于时序网络的异常检测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用户行为分析(UEBA)集成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CDC4"/>
                </a:solidFill>
              </a:rPr>
              <a:t>场景拓展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支持5G/IoT流量监控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多校区集中管控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云原生架构升级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5176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914400"/>
            <a:ext cx="265176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98DB"/>
                </a:solidFill>
              </a:rPr>
              <a:t>生态建设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开放API供第三方集成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威胁情报共享联盟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行业标准化输出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愿景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为高校网络安全治理提供可复制、可推广的标准化参考范式，成为智慧校园网络运维的标杆解决方案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17 / 18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" cy="1828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感谢聆听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00D4AA"/>
                </a:solidFill>
              </a:rPr>
              <a:t>THANK YOU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36576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0"/>
                </a:solidFill>
              </a:rPr>
              <a:t>面向智慧校园的细粒度网络流量监控与安全态势感知系统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无敌暴龙战队</a:t>
            </a:r>
            <a:pPr indent="0" marL="0">
              <a:buNone/>
            </a:pPr>
            <a:r>
              <a:rPr lang="en-US" sz="1300" dirty="0">
                <a:solidFill>
                  <a:srgbClr val="B8C5D0"/>
                </a:solidFill>
              </a:rPr>
              <a:t>  |  T2601487</a:t>
            </a:r>
            <a:pPr indent="0" marL="0">
              <a:buNone/>
            </a:pPr>
            <a:r>
              <a:rPr lang="en-US" sz="1300" dirty="0">
                <a:solidFill>
                  <a:srgbClr val="B8C5D0"/>
                </a:solidFill>
              </a:rPr>
              <a:t>  |  苏州大学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</a:rPr>
              <a:t>赛题编号：A19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智慧校园 · 安全先行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项目简介PPT - A19</dc:title>
  <dc:subject>面向智慧校园的细粒度网络流量监控与安全态势感知系统</dc:subject>
  <dc:creator>无敌暴龙战队</dc:creator>
  <cp:lastModifiedBy>无敌暴龙战队</cp:lastModifiedBy>
  <cp:revision>1</cp:revision>
  <dcterms:created xsi:type="dcterms:W3CDTF">2026-04-17T08:32:24Z</dcterms:created>
  <dcterms:modified xsi:type="dcterms:W3CDTF">2026-04-17T08:32:24Z</dcterms:modified>
</cp:coreProperties>
</file>